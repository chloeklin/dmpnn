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run 1</c:v>
                </c:pt>
              </c:strCache>
            </c:strRef>
          </c:tx>
          <c:spPr>
            <a:solidFill>
              <a:srgbClr val="6D2E46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EA fold 0</c:v>
                </c:pt>
                <c:pt idx="1">
                  <c:v>EA fold 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0.962</c:v>
                </c:pt>
                <c:pt idx="1">
                  <c:v>0.79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run 2</c:v>
                </c:pt>
              </c:strCache>
            </c:strRef>
          </c:tx>
          <c:spPr>
            <a:solidFill>
              <a:srgbClr val="A26769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EA fold 0</c:v>
                </c:pt>
                <c:pt idx="1">
                  <c:v>EA fold 1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0.982</c:v>
                </c:pt>
                <c:pt idx="1">
                  <c:v>0.45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run 3</c:v>
                </c:pt>
              </c:strCache>
            </c:strRef>
          </c:tx>
          <c:spPr>
            <a:solidFill>
              <a:srgbClr val="1C7293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EA fold 0</c:v>
                </c:pt>
                <c:pt idx="1">
                  <c:v>EA fold 1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0.986</c:v>
                </c:pt>
                <c:pt idx="1">
                  <c:v>0.978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000" b="1">
                  <a:solidFill>
                    <a:srgbClr val="2B1219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CFC8"/>
            </a:solidFill>
          </a:ln>
        </c:spPr>
        <c:txPr>
          <a:bodyPr/>
          <a:lstStyle/>
          <a:p>
            <a:pPr>
              <a:defRPr sz="1100">
                <a:solidFill>
                  <a:srgbClr val="2B1219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 w="6350">
              <a:solidFill>
                <a:srgbClr val="D8CFC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6B6B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6B6B6B"/>
              </a:solidFill>
            </a:defRPr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monomer A identity  (9 monomers)</c:v>
                </c:pt>
              </c:strCache>
            </c:strRef>
          </c:tx>
          <c:spPr>
            <a:solidFill>
              <a:srgbClr val="6D2E46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EA</c:v>
                </c:pt>
                <c:pt idx="1">
                  <c:v>IP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0.418</c:v>
                </c:pt>
                <c:pt idx="1">
                  <c:v>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monomer B identity  (682 monomers)</c:v>
                </c:pt>
              </c:strCache>
            </c:strRef>
          </c:tx>
          <c:spPr>
            <a:solidFill>
              <a:srgbClr val="1C7293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EA</c:v>
                </c:pt>
                <c:pt idx="1">
                  <c:v>IP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0.457</c:v>
                </c:pt>
                <c:pt idx="1">
                  <c:v>0.329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000" b="1">
                  <a:solidFill>
                    <a:srgbClr val="2B1219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CFC8"/>
            </a:solidFill>
          </a:ln>
        </c:spPr>
        <c:txPr>
          <a:bodyPr/>
          <a:lstStyle/>
          <a:p>
            <a:pPr>
              <a:defRPr sz="1100">
                <a:solidFill>
                  <a:srgbClr val="2B1219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6"/>
          <c:min val="0.0"/>
        </c:scaling>
        <c:delete val="0"/>
        <c:axPos val="l"/>
        <c:majorGridlines>
          <c:spPr>
            <a:ln w="6350">
              <a:solidFill>
                <a:srgbClr val="D8CFC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6B6B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6B6B6B"/>
              </a:solidFill>
            </a:defRPr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members</c:v>
                </c:pt>
              </c:strCache>
            </c:strRef>
          </c:tx>
          <c:spPr>
            <a:solidFill>
              <a:srgbClr val="6D2E46"/>
            </a:solidFill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1st</c:v>
                </c:pt>
                <c:pt idx="1">
                  <c:v>2nd</c:v>
                </c:pt>
                <c:pt idx="2">
                  <c:v>3rd</c:v>
                </c:pt>
                <c:pt idx="3">
                  <c:v>4th</c:v>
                </c:pt>
                <c:pt idx="4">
                  <c:v>5th</c:v>
                </c:pt>
                <c:pt idx="5">
                  <c:v>6th</c:v>
                </c:pt>
                <c:pt idx="6">
                  <c:v>7th</c:v>
                </c:pt>
                <c:pt idx="7">
                  <c:v>8th</c:v>
                </c:pt>
                <c:pt idx="8">
                  <c:v>9th</c:v>
                </c:pt>
                <c:pt idx="9">
                  <c:v>10th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317</c:v>
                </c:pt>
                <c:pt idx="1">
                  <c:v>109</c:v>
                </c:pt>
                <c:pt idx="2">
                  <c:v>17</c:v>
                </c:pt>
                <c:pt idx="3">
                  <c:v>13</c:v>
                </c:pt>
                <c:pt idx="4">
                  <c:v>12</c:v>
                </c:pt>
                <c:pt idx="5">
                  <c:v>11</c:v>
                </c:pt>
                <c:pt idx="6">
                  <c:v>10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 b="1">
                  <a:solidFill>
                    <a:srgbClr val="2B1219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CFC8"/>
            </a:solidFill>
          </a:ln>
        </c:spPr>
        <c:txPr>
          <a:bodyPr/>
          <a:lstStyle/>
          <a:p>
            <a:pPr>
              <a:defRPr sz="1100">
                <a:solidFill>
                  <a:srgbClr val="2B1219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8CFC8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6B6B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Headline: a reproduction check failed, which uncovered a bug in every runner and a variance problem. Results withdrawn and re-measuring. The week's constructive output is the monomer-B split plus two methodological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 early: this is a correction week, not a results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A26769"/>
                </a:solidFill>
                <a:latin typeface="Calibri"/>
              </a:rPr>
              <a:t>WEEKLY REVIEW  ·  22 – 29 JULY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Cambria"/>
              </a:rPr>
              <a:t>Re-measuring the diagnostic,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Cambria"/>
              </a:rPr>
              <a:t>and a second chemical axis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03320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3EDE7"/>
                </a:solidFill>
                <a:latin typeface="Calibri"/>
              </a:rPr>
              <a:t>Why last week's results are being withdrawn, and the monomer-B split built in their 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0916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A26769"/>
                </a:solidFill>
                <a:latin typeface="Cambria"/>
              </a:rPr>
              <a:t>+0.048 eV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85232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3EDE7"/>
                </a:solidFill>
                <a:latin typeface="Calibri"/>
              </a:rPr>
              <a:t>cost of a model-selection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3EDE7"/>
                </a:solidFill>
                <a:latin typeface="Calibri"/>
              </a:rPr>
              <a:t>bug, present since commit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470916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A26769"/>
                </a:solidFill>
                <a:latin typeface="Cambria"/>
              </a:rPr>
              <a:t>0.45 → 0.98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5285232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3EDE7"/>
                </a:solidFill>
                <a:latin typeface="Calibri"/>
              </a:rPr>
              <a:t>group-mean R² across three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3EDE7"/>
                </a:solidFill>
                <a:latin typeface="Calibri"/>
              </a:rPr>
              <a:t>identical runs of one fold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9" y="470916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A26769"/>
                </a:solidFill>
                <a:latin typeface="Cambria"/>
              </a:rPr>
              <a:t>9 → 682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9" y="5285232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3EDE7"/>
                </a:solidFill>
                <a:latin typeface="Calibri"/>
              </a:rPr>
              <a:t>monomers on the new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F3EDE7"/>
                </a:solidFill>
                <a:latin typeface="Calibri"/>
              </a:rPr>
              <a:t>evaluation axis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72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3EDE7"/>
                </a:solidFill>
                <a:latin typeface="Calibri"/>
              </a:rPr>
              <a:t>Chloe Lin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A26769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0664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2B1219"/>
                </a:solidFill>
                <a:latin typeface="Cambria"/>
              </a:rPr>
              <a:t>Three things happened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27048"/>
            <a:ext cx="10881360" cy="1115568"/>
          </a:xfrm>
          <a:prstGeom prst="roundRect">
            <a:avLst>
              <a:gd name="adj" fmla="val 6000"/>
            </a:avLst>
          </a:prstGeom>
          <a:solidFill>
            <a:srgbClr val="F3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856231"/>
            <a:ext cx="457200" cy="4572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709928"/>
            <a:ext cx="9692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6D2E46"/>
                </a:solidFill>
                <a:latin typeface="Cambria"/>
              </a:rPr>
              <a:t>A reproduction check failed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09397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 i="0">
                <a:solidFill>
                  <a:srgbClr val="2B1219"/>
                </a:solidFill>
                <a:latin typeface="Calibri"/>
              </a:rPr>
              <a:t>Rerunning one stored result did not reproduce it. Tracing that uncovered a model-selection bug in all five training runners, present in each one's first commit.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25496"/>
            <a:ext cx="10881360" cy="1115568"/>
          </a:xfrm>
          <a:prstGeom prst="roundRect">
            <a:avLst>
              <a:gd name="adj" fmla="val 6000"/>
            </a:avLst>
          </a:prstGeom>
          <a:solidFill>
            <a:srgbClr val="F3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154679"/>
            <a:ext cx="457200" cy="4572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008376"/>
            <a:ext cx="9692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6D2E46"/>
                </a:solidFill>
                <a:latin typeface="Cambria"/>
              </a:rPr>
              <a:t>Training is far noisier than assumed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392424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 i="0">
                <a:solidFill>
                  <a:srgbClr val="2B1219"/>
                </a:solidFill>
                <a:latin typeface="Calibri"/>
              </a:rPr>
              <a:t>Three identical runs of EA fold 1 gave group-mean R² of 0.450, 0.790 and 0.978. Most differences we have reported are smaller than that spread.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123944"/>
            <a:ext cx="10881360" cy="1115568"/>
          </a:xfrm>
          <a:prstGeom prst="roundRect">
            <a:avLst>
              <a:gd name="adj" fmla="val 6000"/>
            </a:avLst>
          </a:prstGeom>
          <a:solidFill>
            <a:srgbClr val="F3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4453128"/>
            <a:ext cx="457200" cy="4572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306824"/>
            <a:ext cx="9692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6D2E46"/>
                </a:solidFill>
                <a:latin typeface="Cambria"/>
              </a:rPr>
              <a:t>Built the monomer-B 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690872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 i="0">
                <a:solidFill>
                  <a:srgbClr val="2B1219"/>
                </a:solidFill>
                <a:latin typeface="Calibri"/>
              </a:rPr>
              <a:t>The A axis has only 9 monomers. The B axis has 682. Along the way: the B-monomer space turns out to be dominated by two scaffold families.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568696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6D2E46"/>
                </a:solidFill>
                <a:latin typeface="Calibri"/>
              </a:rPr>
              <a:t>Net position:  </a:t>
            </a:r>
            <a:r>
              <a:rPr sz="1400" b="0" i="0">
                <a:solidFill>
                  <a:srgbClr val="2B1219"/>
                </a:solidFill>
                <a:latin typeface="Calibri"/>
              </a:rPr>
              <a:t>the 22 July model results cannot be defended and are being re-measured. The methodological contribution is larger than it was a week ago.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A26769"/>
                </a:solidFill>
                <a:latin typeface="Calibri"/>
              </a:rPr>
              <a:t>FINDING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0664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2B1219"/>
                </a:solidFill>
                <a:latin typeface="Cambria"/>
              </a:rPr>
              <a:t>The bug: we tested the wrong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27048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2B1219"/>
                </a:solidFill>
                <a:latin typeface="Calibri"/>
              </a:rPr>
              <a:t>Training tracked validation loss and saved the best checkpoint — then prediction ignored it and used the final model left in memory after early-stopping patience expired.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78608"/>
            <a:ext cx="64008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 b="1">
                <a:solidFill>
                  <a:srgbClr val="A26769"/>
                </a:solidFill>
                <a:latin typeface="Calibri"/>
              </a:rPr>
              <a:t>— </a:t>
            </a:r>
            <a:r>
              <a:rPr sz="1300" b="1" i="0">
                <a:solidFill>
                  <a:srgbClr val="2B1219"/>
                </a:solidFill>
                <a:latin typeface="Calibri"/>
              </a:rPr>
              <a:t>Present in all five runners</a:t>
            </a:r>
            <a:r>
              <a:rPr sz="1300" b="0" i="0">
                <a:solidFill>
                  <a:srgbClr val="2B1219"/>
                </a:solidFill>
                <a:latin typeface="Calibri"/>
              </a:rPr>
              <a:t> — hpg_hier, wdmpnn, and the stage2d path for ChemArch / GlobalArch / frac.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 b="1">
                <a:solidFill>
                  <a:srgbClr val="A26769"/>
                </a:solidFill>
                <a:latin typeface="Calibri"/>
              </a:rPr>
              <a:t>— </a:t>
            </a:r>
            <a:r>
              <a:rPr sz="1300" b="1" i="0">
                <a:solidFill>
                  <a:srgbClr val="2B1219"/>
                </a:solidFill>
                <a:latin typeface="Calibri"/>
              </a:rPr>
              <a:t>From each runner's first commit</a:t>
            </a:r>
            <a:r>
              <a:rPr sz="1300" b="0" i="0">
                <a:solidFill>
                  <a:srgbClr val="2B1219"/>
                </a:solidFill>
                <a:latin typeface="Calibri"/>
              </a:rPr>
              <a:t> — confirmed by git blame, so no stored prediction predates it.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 b="1">
                <a:solidFill>
                  <a:srgbClr val="A26769"/>
                </a:solidFill>
                <a:latin typeface="Calibri"/>
              </a:rPr>
              <a:t>— </a:t>
            </a:r>
            <a:r>
              <a:rPr sz="1300" b="1" i="0">
                <a:solidFill>
                  <a:srgbClr val="2B1219"/>
                </a:solidFill>
                <a:latin typeface="Calibri"/>
              </a:rPr>
              <a:t>The model used was, by construction, worse</a:t>
            </a:r>
            <a:r>
              <a:rPr sz="1300" b="0" i="0">
                <a:solidFill>
                  <a:srgbClr val="2B1219"/>
                </a:solidFill>
                <a:latin typeface="Calibri"/>
              </a:rPr>
              <a:t> than the one training had already selected — and worse by a random amount.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 b="1">
                <a:solidFill>
                  <a:srgbClr val="A26769"/>
                </a:solidFill>
                <a:latin typeface="Calibri"/>
              </a:rPr>
              <a:t>— </a:t>
            </a:r>
            <a:r>
              <a:rPr sz="1300" b="1" i="0">
                <a:solidFill>
                  <a:srgbClr val="2B1219"/>
                </a:solidFill>
                <a:latin typeface="Calibri"/>
              </a:rPr>
              <a:t>Explains a puzzle:</a:t>
            </a:r>
            <a:r>
              <a:rPr sz="1300" b="0" i="0">
                <a:solidFill>
                  <a:srgbClr val="2B1219"/>
                </a:solidFill>
                <a:latin typeface="Calibri"/>
              </a:rPr>
              <a:t> validation loss did not predict test performance, because the model being tested was not the one the validation loss described.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527048"/>
            <a:ext cx="4069080" cy="3520440"/>
          </a:xfrm>
          <a:prstGeom prst="roundRect">
            <a:avLst>
              <a:gd name="adj" fmla="val 6000"/>
            </a:avLst>
          </a:prstGeom>
          <a:solidFill>
            <a:srgbClr val="2B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1819656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A26769"/>
                </a:solidFill>
                <a:latin typeface="Calibri"/>
              </a:rPr>
              <a:t>WHAT IT ACTUALLY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185415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erratic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2916936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F3EDE7"/>
                </a:solidFill>
                <a:latin typeface="Calibri"/>
              </a:rPr>
              <a:t>Measured on all 266 regenerated runs: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F3EDE7"/>
                </a:solidFill>
                <a:latin typeface="Calibri"/>
              </a:rPr>
              <a:t>mean −0.003 to −0.022 eV by model,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F3EDE7"/>
                </a:solidFill>
                <a:latin typeface="Calibri"/>
              </a:rPr>
              <a:t>median −0.003 eV, worst case +0.144.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4041648"/>
            <a:ext cx="35661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 i="0">
                <a:solidFill>
                  <a:srgbClr val="A26769"/>
                </a:solidFill>
                <a:latin typeface="Calibri"/>
              </a:rPr>
              <a:t>Not a systematic penalty — a random one.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 i="0">
                <a:solidFill>
                  <a:srgbClr val="A26769"/>
                </a:solidFill>
                <a:latin typeface="Calibri"/>
              </a:rPr>
              <a:t>The +0.048 eV from six pilot runs was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 i="0">
                <a:solidFill>
                  <a:srgbClr val="A26769"/>
                </a:solidFill>
                <a:latin typeface="Calibri"/>
              </a:rPr>
              <a:t>not representative.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2180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 i="0">
                <a:solidFill>
                  <a:srgbClr val="2B1219"/>
                </a:solidFill>
                <a:latin typeface="Calibri"/>
              </a:rPr>
              <a:t>Fixed in all five runners. Best-checkpoint prediction is now the default, and both predictions are stored so the cost can be measured per model family.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1">
                <a:solidFill>
                  <a:srgbClr val="6B6B6B"/>
                </a:solidFill>
                <a:latin typeface="Calibri"/>
              </a:rPr>
              <a:t>Predicting from the selected checkpoint is still correct practice — but the bug's damage was random, not one-directional.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A26769"/>
                </a:solidFill>
                <a:latin typeface="Calibri"/>
              </a:rPr>
              <a:t>FINDING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0664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2B1219"/>
                </a:solidFill>
                <a:latin typeface="Cambria"/>
              </a:rPr>
              <a:t>The same run, three times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27048"/>
            <a:ext cx="1088136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 i="0">
                <a:solidFill>
                  <a:srgbClr val="6B6B6B"/>
                </a:solidFill>
                <a:latin typeface="Calibri"/>
              </a:rPr>
              <a:t>HPG-hier, EA, monomer-heldout. Same seed, same split, same code, same GPU model. Only the process differs.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2148839"/>
          <a:ext cx="65836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635240" y="2148839"/>
            <a:ext cx="3886200" cy="1417320"/>
          </a:xfrm>
          <a:prstGeom prst="roundRect">
            <a:avLst>
              <a:gd name="adj" fmla="val 6000"/>
            </a:avLst>
          </a:prstGeom>
          <a:solidFill>
            <a:srgbClr val="F3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235915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D2E46"/>
                </a:solidFill>
                <a:latin typeface="Calibri"/>
              </a:rPr>
              <a:t>GROUP-MEAN R² SD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706624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2B1219"/>
                </a:solidFill>
                <a:latin typeface="Cambria"/>
              </a:rPr>
              <a:t>0.018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2706624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6D2E46"/>
                </a:solidFill>
                <a:latin typeface="Cambria"/>
              </a:rPr>
              <a:t>0.091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3182111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6B6B"/>
                </a:solidFill>
                <a:latin typeface="Calibri"/>
              </a:rPr>
              <a:t>fold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3182111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6B6B"/>
                </a:solidFill>
                <a:latin typeface="Calibri"/>
              </a:rPr>
              <a:t>fold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749039"/>
            <a:ext cx="3886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250" b="1">
                <a:solidFill>
                  <a:srgbClr val="A26769"/>
                </a:solidFill>
                <a:latin typeface="Calibri"/>
              </a:rPr>
              <a:t>— </a:t>
            </a:r>
            <a:r>
              <a:rPr sz="1250" b="0" i="0">
                <a:solidFill>
                  <a:srgbClr val="2B1219"/>
                </a:solidFill>
                <a:latin typeface="Calibri"/>
              </a:rPr>
              <a:t>Fold 1's spread covers the entire quality range we have been reporting.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250" b="1">
                <a:solidFill>
                  <a:srgbClr val="A26769"/>
                </a:solidFill>
                <a:latin typeface="Calibri"/>
              </a:rPr>
              <a:t>— </a:t>
            </a:r>
            <a:r>
              <a:rPr sz="1250" b="0" i="0">
                <a:solidFill>
                  <a:srgbClr val="2B1219"/>
                </a:solidFill>
                <a:latin typeface="Calibri"/>
              </a:rPr>
              <a:t>Noise is fold-dependent — fold 1's SD is five times fold 0's.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250" b="1">
                <a:solidFill>
                  <a:srgbClr val="A26769"/>
                </a:solidFill>
                <a:latin typeface="Calibri"/>
              </a:rPr>
              <a:t>— </a:t>
            </a:r>
            <a:r>
              <a:rPr sz="1250" b="1" i="0">
                <a:solidFill>
                  <a:srgbClr val="2B1219"/>
                </a:solidFill>
                <a:latin typeface="Calibri"/>
              </a:rPr>
              <a:t>The "pathological folds"</a:t>
            </a:r>
            <a:r>
              <a:rPr sz="1250" b="0" i="0">
                <a:solidFill>
                  <a:srgbClr val="2B1219"/>
                </a:solidFill>
                <a:latin typeface="Calibri"/>
              </a:rPr>
              <a:t> (EA 1, EA 6, IP 5, IP 2) are now suspected to be simply the high-variance folds.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250" b="1">
                <a:solidFill>
                  <a:srgbClr val="A26769"/>
                </a:solidFill>
                <a:latin typeface="Calibri"/>
              </a:rPr>
              <a:t>— </a:t>
            </a:r>
            <a:r>
              <a:rPr sz="1250" b="1" i="0">
                <a:solidFill>
                  <a:srgbClr val="6D2E46"/>
                </a:solidFill>
                <a:latin typeface="Calibri"/>
              </a:rPr>
              <a:t>Fold 1 was recorded at 0.575</a:t>
            </a:r>
            <a:r>
              <a:rPr sz="1250" b="0" i="0">
                <a:solidFill>
                  <a:srgbClr val="2B1219"/>
                </a:solidFill>
                <a:latin typeface="Calibri"/>
              </a:rPr>
              <a:t> — one draw from this distribution. The unmodified model reaches 0.978 on it about one run in three, so per-fold conclusions from single runs are withdrawn.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1">
                <a:solidFill>
                  <a:srgbClr val="6B6B6B"/>
                </a:solidFill>
                <a:latin typeface="Calibri"/>
              </a:rPr>
              <a:t>Six V100 runs. Wall times 2,237–13,464 s — runs terminate at very different points.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A26769"/>
                </a:solidFill>
                <a:latin typeface="Calibri"/>
              </a:rPr>
              <a:t>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0664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2B1219"/>
                </a:solidFill>
                <a:latin typeface="Cambria"/>
              </a:rPr>
              <a:t>The fix, and what we rejected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2704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1C7293"/>
                </a:solidFill>
                <a:latin typeface="Calibri"/>
              </a:rPr>
              <a:t>FROZEN PROTOCOL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11095"/>
            <a:ext cx="5212080" cy="731520"/>
          </a:xfrm>
          <a:prstGeom prst="roundRect">
            <a:avLst>
              <a:gd name="adj" fmla="val 6000"/>
            </a:avLst>
          </a:prstGeom>
          <a:solidFill>
            <a:srgbClr val="F3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11679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6B6B6B"/>
                </a:solidFill>
                <a:latin typeface="Calibri"/>
              </a:rPr>
              <a:t>VALIDATION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240279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C7293"/>
                </a:solidFill>
                <a:latin typeface="Cambria"/>
              </a:rPr>
              <a:t>unchanged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276856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B1219"/>
                </a:solidFill>
                <a:latin typeface="Calibri"/>
              </a:rPr>
              <a:t>one held-out monomer, as designed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52344"/>
            <a:ext cx="5212080" cy="731520"/>
          </a:xfrm>
          <a:prstGeom prst="roundRect">
            <a:avLst>
              <a:gd name="adj" fmla="val 6000"/>
            </a:avLst>
          </a:prstGeom>
          <a:solidFill>
            <a:srgbClr val="F3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852927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6B6B6B"/>
                </a:solidFill>
                <a:latin typeface="Calibri"/>
              </a:rPr>
              <a:t>MODEL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081527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C7293"/>
                </a:solidFill>
                <a:latin typeface="Cambria"/>
              </a:rPr>
              <a:t>best checkpoint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118103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B1219"/>
                </a:solidFill>
                <a:latin typeface="Calibri"/>
              </a:rPr>
              <a:t>the bug fix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93591"/>
            <a:ext cx="5212080" cy="731520"/>
          </a:xfrm>
          <a:prstGeom prst="roundRect">
            <a:avLst>
              <a:gd name="adj" fmla="val 6000"/>
            </a:avLst>
          </a:prstGeom>
          <a:solidFill>
            <a:srgbClr val="F3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694176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6B6B6B"/>
                </a:solidFill>
                <a:latin typeface="Calibri"/>
              </a:rPr>
              <a:t>REPLICATES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392277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C7293"/>
                </a:solidFill>
                <a:latin typeface="Cambria"/>
              </a:rPr>
              <a:t>3 seeds, averaged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959352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B1219"/>
                </a:solidFill>
                <a:latin typeface="Calibri"/>
              </a:rPr>
              <a:t>42 / 43 / 44, mean prediction reported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52704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D2E46"/>
                </a:solidFill>
                <a:latin typeface="Calibri"/>
              </a:rPr>
              <a:t>TESTED AND REJECTED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911095"/>
            <a:ext cx="5029200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3408" y="2039112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6D2E46"/>
                </a:solidFill>
                <a:latin typeface="Cambria"/>
              </a:rPr>
              <a:t>Row-level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8" y="2350008"/>
            <a:ext cx="46177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2B1219"/>
                </a:solidFill>
                <a:latin typeface="Calibri"/>
              </a:rPr>
              <a:t>Stabilised fold 1 but destabilised fold 0 (SD 0.018 → 0.034), doubled wall time, and would mean selecting on familiar chemistry while testing on unfamiliar.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3172968"/>
            <a:ext cx="5029200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93408" y="3300984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6D2E46"/>
                </a:solidFill>
                <a:latin typeface="Cambria"/>
              </a:rPr>
              <a:t>Minimum-epoch floor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8" y="3611879"/>
            <a:ext cx="46177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2B1219"/>
                </a:solidFill>
                <a:latin typeface="Calibri"/>
              </a:rPr>
              <a:t>Aimed at a mechanism the data did not support — runs that trained longer were not better.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544568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2B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773168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Averaging predictions over repeats improved every metric in every cell tested — </a:t>
            </a:r>
            <a:r>
              <a:rPr sz="1400" b="1" i="0">
                <a:solidFill>
                  <a:srgbClr val="A26769"/>
                </a:solidFill>
                <a:latin typeface="Calibri"/>
              </a:rPr>
              <a:t>6/6 on MAE, 24/24 overall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.  We no longer depend on model selection behaving; we average over it.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1">
                <a:solidFill>
                  <a:srgbClr val="6B6B6B"/>
                </a:solidFill>
                <a:latin typeface="Calibri"/>
              </a:rPr>
              <a:t>Every model gets identical treatment — stated wherever results appear.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A26769"/>
                </a:solidFill>
                <a:latin typeface="Calibri"/>
              </a:rPr>
              <a:t>PART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06070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Two chemical axes, two different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9509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3EDE7"/>
                </a:solidFill>
                <a:latin typeface="Calibri"/>
              </a:rPr>
              <a:t>Why the monomer-A split cannot measure what we claimed, and what the monomer-B split can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A26769"/>
                </a:solidFill>
                <a:latin typeface="Calibri"/>
              </a:rPr>
              <a:t>THE EXISTING 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0664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2B1219"/>
                </a:solidFill>
                <a:latin typeface="Cambria"/>
              </a:rPr>
              <a:t>How the monomer-A split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27048"/>
            <a:ext cx="1088136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 i="0">
                <a:solidFill>
                  <a:srgbClr val="6B6B6B"/>
                </a:solidFill>
                <a:latin typeface="Calibri"/>
              </a:rPr>
              <a:t>The dataset is an exact factorial: 9 A monomers × 682 B monomers × 7 composition/architecture cells = 42,966 rows. Every A/B pair appears exactly 7 times.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68296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B6B6B"/>
                </a:solidFill>
                <a:latin typeface="Calibri"/>
              </a:rPr>
              <a:t>ONE FOLD OF THE A-HELDOUT SPLIT — 9 DONOR MONOMERS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52344"/>
            <a:ext cx="1078992" cy="777240"/>
          </a:xfrm>
          <a:prstGeom prst="roundRect">
            <a:avLst>
              <a:gd name="adj" fmla="val 6000"/>
            </a:avLst>
          </a:prstGeom>
          <a:solidFill>
            <a:srgbClr val="F3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898648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2B1219"/>
                </a:solidFill>
                <a:latin typeface="Calibri"/>
              </a:rPr>
              <a:t>A1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82111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2B1219"/>
                </a:solidFill>
                <a:latin typeface="Calibri"/>
              </a:rPr>
              <a:t>train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37943" y="2752344"/>
            <a:ext cx="1078992" cy="777240"/>
          </a:xfrm>
          <a:prstGeom prst="roundRect">
            <a:avLst>
              <a:gd name="adj" fmla="val 6000"/>
            </a:avLst>
          </a:prstGeom>
          <a:solidFill>
            <a:srgbClr val="F3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37943" y="2898648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2B1219"/>
                </a:solidFill>
                <a:latin typeface="Calibri"/>
              </a:rPr>
              <a:t>A2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37943" y="3182111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2B1219"/>
                </a:solidFill>
                <a:latin typeface="Calibri"/>
              </a:rPr>
              <a:t>train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35808" y="2752344"/>
            <a:ext cx="1078992" cy="777240"/>
          </a:xfrm>
          <a:prstGeom prst="roundRect">
            <a:avLst>
              <a:gd name="adj" fmla="val 6000"/>
            </a:avLst>
          </a:prstGeom>
          <a:solidFill>
            <a:srgbClr val="F3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5808" y="2898648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2B1219"/>
                </a:solidFill>
                <a:latin typeface="Calibri"/>
              </a:rPr>
              <a:t>A3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3182111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2B1219"/>
                </a:solidFill>
                <a:latin typeface="Calibri"/>
              </a:rPr>
              <a:t>train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33672" y="2752344"/>
            <a:ext cx="1078992" cy="777240"/>
          </a:xfrm>
          <a:prstGeom prst="roundRect">
            <a:avLst>
              <a:gd name="adj" fmla="val 6000"/>
            </a:avLst>
          </a:prstGeom>
          <a:solidFill>
            <a:srgbClr val="F3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33672" y="2898648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2B1219"/>
                </a:solidFill>
                <a:latin typeface="Calibri"/>
              </a:rPr>
              <a:t>A4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3672" y="3182111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2B1219"/>
                </a:solidFill>
                <a:latin typeface="Calibri"/>
              </a:rPr>
              <a:t>train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31536" y="2752344"/>
            <a:ext cx="1078992" cy="777240"/>
          </a:xfrm>
          <a:prstGeom prst="roundRect">
            <a:avLst>
              <a:gd name="adj" fmla="val 6000"/>
            </a:avLst>
          </a:prstGeom>
          <a:solidFill>
            <a:srgbClr val="F3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31536" y="2898648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2B1219"/>
                </a:solidFill>
                <a:latin typeface="Calibri"/>
              </a:rPr>
              <a:t>A5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1536" y="3182111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2B1219"/>
                </a:solidFill>
                <a:latin typeface="Calibri"/>
              </a:rPr>
              <a:t>train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2752344"/>
            <a:ext cx="1078992" cy="777240"/>
          </a:xfrm>
          <a:prstGeom prst="roundRect">
            <a:avLst>
              <a:gd name="adj" fmla="val 6000"/>
            </a:avLst>
          </a:prstGeom>
          <a:solidFill>
            <a:srgbClr val="F3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2898648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2B1219"/>
                </a:solidFill>
                <a:latin typeface="Calibri"/>
              </a:rPr>
              <a:t>A6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182111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2B1219"/>
                </a:solidFill>
                <a:latin typeface="Calibri"/>
              </a:rPr>
              <a:t>train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27264" y="2752344"/>
            <a:ext cx="1078992" cy="777240"/>
          </a:xfrm>
          <a:prstGeom prst="roundRect">
            <a:avLst>
              <a:gd name="adj" fmla="val 6000"/>
            </a:avLst>
          </a:prstGeom>
          <a:solidFill>
            <a:srgbClr val="F3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27264" y="2898648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2B1219"/>
                </a:solidFill>
                <a:latin typeface="Calibri"/>
              </a:rPr>
              <a:t>A7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7264" y="3182111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2B1219"/>
                </a:solidFill>
                <a:latin typeface="Calibri"/>
              </a:rPr>
              <a:t>train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25128" y="2752344"/>
            <a:ext cx="1078992" cy="777240"/>
          </a:xfrm>
          <a:prstGeom prst="roundRect">
            <a:avLst>
              <a:gd name="adj" fmla="val 6000"/>
            </a:avLst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25128" y="2898648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25128" y="3182111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val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22992" y="2752344"/>
            <a:ext cx="1078992" cy="777240"/>
          </a:xfrm>
          <a:prstGeom prst="roundRect">
            <a:avLst>
              <a:gd name="adj" fmla="val 6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22992" y="2898648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22992" y="3182111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685031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6B6B6B"/>
                </a:solidFill>
                <a:latin typeface="Calibri"/>
              </a:rPr>
              <a:t>4,774 rows per monomer  ·  33,418 train / 4,774 validation / 4,774 test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40080" y="4123944"/>
          <a:ext cx="10881360" cy="2029968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3017520"/>
                <a:gridCol w="786384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consequence</a:t>
                      </a:r>
                    </a:p>
                  </a:txBody>
                  <a:tcPr marL="73152" marR="54864" marT="18288" marB="18288" anchor="ctr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why it follows</a:t>
                      </a:r>
                    </a:p>
                  </a:txBody>
                  <a:tcPr marL="73152" marR="54864" marT="18288" marB="18288" anchor="ctr">
                    <a:solidFill>
                      <a:srgbClr val="6D2E4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B1219"/>
                          </a:solidFill>
                          <a:latin typeface="Calibri"/>
                        </a:rPr>
                        <a:t>Models train on 7 donors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B1219"/>
                          </a:solidFill>
                          <a:latin typeface="Calibri"/>
                        </a:rPr>
                        <a:t>The split removes the test monomer and a second one for validation. Our "unseen chemistry" results are 7-example extrapolations.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B1219"/>
                          </a:solidFill>
                          <a:latin typeface="Calibri"/>
                        </a:rPr>
                        <a:t>Within a fold, A is constant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B1219"/>
                          </a:solidFill>
                          <a:latin typeface="Calibri"/>
                        </a:rPr>
                        <a:t>All variation across groups comes from B, composition and architecture — all seen thousands of times. An error on the held-out A enters as a near-constant offset.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B1219"/>
                          </a:solidFill>
                          <a:latin typeface="Calibri"/>
                        </a:rPr>
                        <a:t>Novelty is one number per fold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B1219"/>
                          </a:solidFill>
                          <a:latin typeface="Calibri"/>
                        </a:rPr>
                        <a:t>A single held-out monomer means no within-fold similarity variation, so no performance-versus-novelty analysis is possible.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1">
                <a:solidFill>
                  <a:srgbClr val="6B6B6B"/>
                </a:solidFill>
                <a:latin typeface="Calibri"/>
              </a:rPr>
              <a:t>A identity carries 42% of EA variance and 50% of IP variance — across only 9 monomers.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A26769"/>
                </a:solidFill>
                <a:latin typeface="Calibri"/>
              </a:rPr>
              <a:t>EVALUATION FLOOR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0664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2B1219"/>
                </a:solidFill>
                <a:latin typeface="Cambria"/>
              </a:rPr>
              <a:t>The limitation, quantified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27048"/>
            <a:ext cx="1088136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 i="0">
                <a:solidFill>
                  <a:srgbClr val="6B6B6B"/>
                </a:solidFill>
                <a:latin typeface="Calibri"/>
              </a:rPr>
              <a:t>A null predictor that ignores the held-out monomer entirely: predict each test row from the training mean of its (partner monomer, composition, architecture) cell.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368296"/>
          <a:ext cx="6217919" cy="1316736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576374"/>
                <a:gridCol w="875763"/>
                <a:gridCol w="2452137"/>
                <a:gridCol w="1313645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 marL="73152" marR="54864" marT="18288" marB="18288" anchor="ctr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73152" marR="54864" marT="18288" marB="18288" anchor="ctr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null floor (median group-mean R²)</a:t>
                      </a:r>
                    </a:p>
                  </a:txBody>
                  <a:tcPr marL="73152" marR="54864" marT="18288" marB="18288" anchor="ctr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headroom to 1.0</a:t>
                      </a:r>
                    </a:p>
                  </a:txBody>
                  <a:tcPr marL="73152" marR="54864" marT="18288" marB="18288" anchor="ctr">
                    <a:solidFill>
                      <a:srgbClr val="6D2E4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B1219"/>
                          </a:solidFill>
                          <a:latin typeface="Calibri"/>
                        </a:rPr>
                        <a:t>A-heldout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1219"/>
                          </a:solidFill>
                          <a:latin typeface="Calibri"/>
                        </a:rPr>
                        <a:t>EA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6D2E46"/>
                          </a:solidFill>
                          <a:latin typeface="Calibri"/>
                        </a:rPr>
                        <a:t>0.676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6D2E46"/>
                          </a:solidFill>
                          <a:latin typeface="Calibri"/>
                        </a:rPr>
                        <a:t>0.324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B1219"/>
                          </a:solidFill>
                          <a:latin typeface="Calibri"/>
                        </a:rPr>
                        <a:t>A-heldout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1219"/>
                          </a:solidFill>
                          <a:latin typeface="Calibri"/>
                        </a:rPr>
                        <a:t>IP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B1219"/>
                          </a:solidFill>
                          <a:latin typeface="Calibri"/>
                        </a:rPr>
                        <a:t>−0.034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C7293"/>
                          </a:solidFill>
                          <a:latin typeface="Calibri"/>
                        </a:rPr>
                        <a:t>1.034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269480" y="2368296"/>
            <a:ext cx="4251960" cy="1874519"/>
          </a:xfrm>
          <a:prstGeom prst="roundRect">
            <a:avLst>
              <a:gd name="adj" fmla="val 6000"/>
            </a:avLst>
          </a:prstGeom>
          <a:solidFill>
            <a:srgbClr val="2B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16368" y="259689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A26769"/>
                </a:solidFill>
                <a:latin typeface="Calibri"/>
              </a:rPr>
              <a:t>ON EA FOLD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16368" y="2935224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mbria"/>
              </a:rPr>
              <a:t>0.961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2935224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A26769"/>
                </a:solidFill>
                <a:latin typeface="Cambria"/>
              </a:rPr>
              <a:t>0.922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16368" y="3447287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F3EDE7"/>
                </a:solidFill>
                <a:latin typeface="Calibri"/>
              </a:rPr>
              <a:t>the null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3447287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F3EDE7"/>
                </a:solidFill>
                <a:latin typeface="Calibri"/>
              </a:rPr>
              <a:t>HPG-hier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16368" y="377647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F3EDE7"/>
                </a:solidFill>
                <a:latin typeface="Calibri"/>
              </a:rPr>
              <a:t>A predictor with no knowledge of the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395935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F3EDE7"/>
                </a:solidFill>
                <a:latin typeface="Calibri"/>
              </a:rPr>
              <a:t>held-out monomer beats our model.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68496"/>
            <a:ext cx="62179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 i="0">
                <a:solidFill>
                  <a:srgbClr val="6D2E46"/>
                </a:solidFill>
                <a:latin typeface="Calibri"/>
              </a:rPr>
              <a:t>Why EA and IP diverge.  </a:t>
            </a:r>
            <a:r>
              <a:rPr sz="1300" b="0" i="0">
                <a:solidFill>
                  <a:srgbClr val="2B1219"/>
                </a:solidFill>
                <a:latin typeface="Calibri"/>
              </a:rPr>
              <a:t>The null's error is essentially the held-out donor's own offset. Whether that matters depends on its size relative to variation across groups within the fold, which comes from 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11496"/>
            <a:ext cx="108813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 b="1">
                <a:solidFill>
                  <a:srgbClr val="A26769"/>
                </a:solidFill>
                <a:latin typeface="Calibri"/>
              </a:rPr>
              <a:t>— </a:t>
            </a:r>
            <a:r>
              <a:rPr sz="1300" b="1" i="0">
                <a:solidFill>
                  <a:srgbClr val="6D2E46"/>
                </a:solidFill>
                <a:latin typeface="Calibri"/>
              </a:rPr>
              <a:t>EA</a:t>
            </a:r>
            <a:r>
              <a:rPr sz="1300" b="0" i="0">
                <a:solidFill>
                  <a:srgbClr val="2B1219"/>
                </a:solidFill>
                <a:latin typeface="Calibri"/>
              </a:rPr>
              <a:t> — B spread is large (2.93 eV), donor offsets are small, so the null reconstructs most of the signal. The metric is near-degenerate.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 b="1">
                <a:solidFill>
                  <a:srgbClr val="A26769"/>
                </a:solidFill>
                <a:latin typeface="Calibri"/>
              </a:rPr>
              <a:t>— </a:t>
            </a:r>
            <a:r>
              <a:rPr sz="1300" b="1" i="0">
                <a:solidFill>
                  <a:srgbClr val="1C7293"/>
                </a:solidFill>
                <a:latin typeface="Calibri"/>
              </a:rPr>
              <a:t>IP</a:t>
            </a:r>
            <a:r>
              <a:rPr sz="1300" b="0" i="0">
                <a:solidFill>
                  <a:srgbClr val="2B1219"/>
                </a:solidFill>
                <a:latin typeface="Calibri"/>
              </a:rPr>
              <a:t> — A carries more variance (0.500) and the B spread is smaller (1.76 eV), so the missing offset dominates and the null collapses. The metric is sound.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1">
                <a:solidFill>
                  <a:srgbClr val="6B6B6B"/>
                </a:solidFill>
                <a:latin typeface="Calibri"/>
              </a:rPr>
              <a:t>This also undermines the earlier claim that wDMPNN wins EA chemistry, 0.965 vs 0.925.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A26769"/>
                </a:solidFill>
                <a:latin typeface="Calibri"/>
              </a:rPr>
              <a:t>WHY A SECOND 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0664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2B1219"/>
                </a:solidFill>
                <a:latin typeface="Cambria"/>
              </a:rPr>
              <a:t>Which axis carries the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27048"/>
            <a:ext cx="1088136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 i="0">
                <a:solidFill>
                  <a:srgbClr val="6B6B6B"/>
                </a:solidFill>
                <a:latin typeface="Calibri"/>
              </a:rPr>
              <a:t>Both monomer roles carry comparable variance. What differs by two orders of magnitude is how many monomers carry it.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2103120"/>
          <a:ext cx="594360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903720" y="2103120"/>
          <a:ext cx="4617720" cy="263347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011680"/>
                <a:gridCol w="1280160"/>
                <a:gridCol w="132588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54864" marT="18288" marB="18288" anchor="ctr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monomer A</a:t>
                      </a:r>
                    </a:p>
                  </a:txBody>
                  <a:tcPr marL="73152" marR="54864" marT="18288" marB="18288" anchor="ctr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monomer B</a:t>
                      </a:r>
                    </a:p>
                  </a:txBody>
                  <a:tcPr marL="73152" marR="54864" marT="18288" marB="18288" anchor="ctr">
                    <a:solidFill>
                      <a:srgbClr val="6D2E4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B1219"/>
                          </a:solidFill>
                          <a:latin typeface="Calibri"/>
                        </a:rPr>
                        <a:t>distinct monomers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6D2E4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1C7293"/>
                          </a:solidFill>
                          <a:latin typeface="Calibri"/>
                        </a:rPr>
                        <a:t>682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B1219"/>
                          </a:solidFill>
                          <a:latin typeface="Calibri"/>
                        </a:rPr>
                        <a:t>rows per monomer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B1219"/>
                          </a:solidFill>
                          <a:latin typeface="Calibri"/>
                        </a:rPr>
                        <a:t>4,774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B1219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B1219"/>
                          </a:solidFill>
                          <a:latin typeface="Calibri"/>
                        </a:rPr>
                        <a:t>EA variance share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B1219"/>
                          </a:solidFill>
                          <a:latin typeface="Calibri"/>
                        </a:rPr>
                        <a:t>0.418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B1219"/>
                          </a:solidFill>
                          <a:latin typeface="Calibri"/>
                        </a:rPr>
                        <a:t>0.457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B1219"/>
                          </a:solidFill>
                          <a:latin typeface="Calibri"/>
                        </a:rPr>
                        <a:t>IP variance share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B1219"/>
                          </a:solidFill>
                          <a:latin typeface="Calibri"/>
                        </a:rPr>
                        <a:t>0.500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B1219"/>
                          </a:solidFill>
                          <a:latin typeface="Calibri"/>
                        </a:rPr>
                        <a:t>0.329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B1219"/>
                          </a:solidFill>
                          <a:latin typeface="Calibri"/>
                        </a:rPr>
                        <a:t>spread of means, EA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B1219"/>
                          </a:solidFill>
                          <a:latin typeface="Calibri"/>
                        </a:rPr>
                        <a:t>1.36 eV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B1219"/>
                          </a:solidFill>
                          <a:latin typeface="Calibri"/>
                        </a:rPr>
                        <a:t>2.93 eV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B1219"/>
                          </a:solidFill>
                          <a:latin typeface="Calibri"/>
                        </a:rPr>
                        <a:t>spread of means, IP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B1219"/>
                          </a:solidFill>
                          <a:latin typeface="Calibri"/>
                        </a:rPr>
                        <a:t>1.18 eV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B1219"/>
                          </a:solidFill>
                          <a:latin typeface="Calibri"/>
                        </a:rPr>
                        <a:t>1.76 eV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B1219"/>
                          </a:solidFill>
                          <a:latin typeface="Calibri"/>
                        </a:rPr>
                        <a:t>Murcko scaffolds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B1219"/>
                          </a:solidFill>
                          <a:latin typeface="Calibri"/>
                        </a:rPr>
                        <a:t>9, closely related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B1219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903720" y="4892040"/>
            <a:ext cx="4617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2B1219"/>
                </a:solidFill>
                <a:latin typeface="Calibri"/>
              </a:rPr>
              <a:t>Architecture — the signal we actually study — is 0.98% of EA variance and 1.46% of IP. Monomer identity is ~90%.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1">
                <a:solidFill>
                  <a:srgbClr val="6B6B6B"/>
                </a:solidFill>
                <a:latin typeface="Calibri"/>
              </a:rPr>
              <a:t>Conclusion: EA chemistry claims belong on a B split; IP chemistry claims belong on the A split.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A26769"/>
                </a:solidFill>
                <a:latin typeface="Calibri"/>
              </a:rPr>
              <a:t>THE NEW 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0664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2B1219"/>
                </a:solidFill>
                <a:latin typeface="Cambria"/>
              </a:rPr>
              <a:t>How the monomer-B split is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27048"/>
            <a:ext cx="1088136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 i="0">
                <a:solidFill>
                  <a:srgbClr val="6B6B6B"/>
                </a:solidFill>
                <a:latin typeface="Calibri"/>
              </a:rPr>
              <a:t>Nine folds over the 682 B monomers, grouped by Murcko scaffold so that chemically related monomers are held out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68296"/>
            <a:ext cx="59436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A26769"/>
                </a:solidFill>
                <a:latin typeface="Calibri"/>
              </a:rPr>
              <a:t>— </a:t>
            </a:r>
            <a:r>
              <a:rPr sz="1250" b="1" i="0">
                <a:solidFill>
                  <a:srgbClr val="2B1219"/>
                </a:solidFill>
                <a:latin typeface="Calibri"/>
              </a:rPr>
              <a:t>Group the 682 B monomers by Murcko scaffold.</a:t>
            </a:r>
            <a:r>
              <a:rPr sz="1250" b="0" i="0">
                <a:solidFill>
                  <a:srgbClr val="2B1219"/>
                </a:solidFill>
                <a:latin typeface="Calibri"/>
              </a:rPr>
              <a:t> Side chains are stripped; monomers sharing a ring system land in the same family. This gives 112 families.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A26769"/>
                </a:solidFill>
                <a:latin typeface="Calibri"/>
              </a:rPr>
              <a:t>— </a:t>
            </a:r>
            <a:r>
              <a:rPr sz="1250" b="1" i="0">
                <a:solidFill>
                  <a:srgbClr val="2B1219"/>
                </a:solidFill>
                <a:latin typeface="Calibri"/>
              </a:rPr>
              <a:t>Pack whole families into nine folds of 75–76.</a:t>
            </a:r>
            <a:r>
              <a:rPr sz="1250" b="0" i="0">
                <a:solidFill>
                  <a:srgbClr val="2B1219"/>
                </a:solidFill>
                <a:latin typeface="Calibri"/>
              </a:rPr>
              <a:t> Families are placed largest-first into the fold with the most room, so related chemistry is held out together rather than scattered across folds.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A26769"/>
                </a:solidFill>
                <a:latin typeface="Calibri"/>
              </a:rPr>
              <a:t>— </a:t>
            </a:r>
            <a:r>
              <a:rPr sz="1250" b="1" i="0">
                <a:solidFill>
                  <a:srgbClr val="2B1219"/>
                </a:solidFill>
                <a:latin typeface="Calibri"/>
              </a:rPr>
              <a:t>Test = fold k, validation = fold k+1, cyclically.</a:t>
            </a:r>
            <a:r>
              <a:rPr sz="1250" b="0" i="0">
                <a:solidFill>
                  <a:srgbClr val="2B1219"/>
                </a:solidFill>
                <a:latin typeface="Calibri"/>
              </a:rPr>
              <a:t> Validation monomers are B-disjoint from both train and test, so nothing in the stopping signal appears in the test set.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A26769"/>
                </a:solidFill>
                <a:latin typeface="Calibri"/>
              </a:rPr>
              <a:t>— </a:t>
            </a:r>
            <a:r>
              <a:rPr sz="1250" b="1" i="0">
                <a:solidFill>
                  <a:srgbClr val="2B1219"/>
                </a:solidFill>
                <a:latin typeface="Calibri"/>
              </a:rPr>
              <a:t>33,390 / 4,788 / 4,788 rows.</a:t>
            </a:r>
            <a:r>
              <a:rPr sz="1250" b="0" i="0">
                <a:solidFill>
                  <a:srgbClr val="2B1219"/>
                </a:solidFill>
                <a:latin typeface="Calibri"/>
              </a:rPr>
              <a:t> Test size deliberately matched to the A split's 4,774, so fold-level metrics from the two splits sit on comparable footing.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A26769"/>
                </a:solidFill>
                <a:latin typeface="Calibri"/>
              </a:rPr>
              <a:t>— </a:t>
            </a:r>
            <a:r>
              <a:rPr sz="1250" b="1" i="0">
                <a:solidFill>
                  <a:srgbClr val="2B1219"/>
                </a:solidFill>
                <a:latin typeface="Calibri"/>
              </a:rPr>
              <a:t>Frozen and asserted.</a:t>
            </a:r>
            <a:r>
              <a:rPr sz="1250" b="0" i="0">
                <a:solidFill>
                  <a:srgbClr val="2B1219"/>
                </a:solidFill>
                <a:latin typeface="Calibri"/>
              </a:rPr>
              <a:t> Split seed 42, independent of the model seed. Fold membership is written to JSON and re-checked at the start of every run, so folds cannot drift across seeds.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2350008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B6B6B"/>
                </a:solidFill>
                <a:latin typeface="Calibri"/>
              </a:rPr>
              <a:t>DIFFICULTY, AGAINST THE A SPLIT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720840" y="2697479"/>
          <a:ext cx="4800600" cy="1298448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011680"/>
                <a:gridCol w="1600200"/>
                <a:gridCol w="11887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 marL="73152" marR="54864" marT="18288" marB="18288" anchor="ctr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median NN Tanimoto</a:t>
                      </a:r>
                    </a:p>
                  </a:txBody>
                  <a:tcPr marL="73152" marR="54864" marT="18288" marB="18288" anchor="ctr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held out per fold</a:t>
                      </a:r>
                    </a:p>
                  </a:txBody>
                  <a:tcPr marL="73152" marR="54864" marT="18288" marB="18288" anchor="ctr">
                    <a:solidFill>
                      <a:srgbClr val="6D2E4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B1219"/>
                          </a:solidFill>
                          <a:latin typeface="Calibri"/>
                        </a:rPr>
                        <a:t>A-heldout (reference)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B1219"/>
                          </a:solidFill>
                          <a:latin typeface="Calibri"/>
                        </a:rPr>
                        <a:t>0.31 – 0.47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B1219"/>
                          </a:solidFill>
                          <a:latin typeface="Calibri"/>
                        </a:rPr>
                        <a:t>1 monomer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B1219"/>
                          </a:solidFill>
                          <a:latin typeface="Calibri"/>
                        </a:rPr>
                        <a:t>B-heldout, clustered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B1219"/>
                          </a:solidFill>
                          <a:latin typeface="Calibri"/>
                        </a:rPr>
                        <a:t>0.48 – 0.50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2B1219"/>
                          </a:solidFill>
                          <a:latin typeface="Calibri"/>
                        </a:rPr>
                        <a:t>75–76 monomers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720840" y="4059935"/>
            <a:ext cx="4800600" cy="1417320"/>
          </a:xfrm>
          <a:prstGeom prst="roundRect">
            <a:avLst>
              <a:gd name="adj" fmla="val 6000"/>
            </a:avLst>
          </a:prstGeom>
          <a:solidFill>
            <a:srgbClr val="F3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4233672"/>
            <a:ext cx="4389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00" b="0" i="0">
                <a:solidFill>
                  <a:srgbClr val="2B1219"/>
                </a:solidFill>
                <a:latin typeface="Calibri"/>
              </a:rPr>
              <a:t>Grouping by scaffold keeps close analogues out of the training set, which brings the B split's difficulty close to the A split's — near enough that the two can be read side by side, with the caveat that they are not identical.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1">
                <a:solidFill>
                  <a:srgbClr val="6B6B6B"/>
                </a:solidFill>
                <a:latin typeface="Calibri"/>
              </a:rPr>
              <a:t>All 9 A monomers appear in train, validation and test — only the B axis is held out.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A26769"/>
                </a:solidFill>
                <a:latin typeface="Calibri"/>
              </a:rPr>
              <a:t>CONSTRAINT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0664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2B1219"/>
                </a:solidFill>
                <a:latin typeface="Cambria"/>
              </a:rPr>
              <a:t>Why a scaffold-disjoint split is impossible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27048"/>
            <a:ext cx="1088136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 i="0">
                <a:solidFill>
                  <a:srgbClr val="6B6B6B"/>
                </a:solidFill>
                <a:latin typeface="Calibri"/>
              </a:rPr>
              <a:t>Murcko clustering of the 682 B monomers gives 112 scaffolds — but the size distribution is extreme.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2103120"/>
          <a:ext cx="612648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212079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6B6B6B"/>
                </a:solidFill>
                <a:latin typeface="Calibri"/>
              </a:rPr>
              <a:t>TEN LARGEST SCAFFOLD FAMILIES, BY MEMBER COUNT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0" y="2103120"/>
            <a:ext cx="4434840" cy="1371600"/>
          </a:xfrm>
          <a:prstGeom prst="roundRect">
            <a:avLst>
              <a:gd name="adj" fmla="val 6000"/>
            </a:avLst>
          </a:prstGeom>
          <a:solidFill>
            <a:srgbClr val="2B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33488" y="228600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A26769"/>
                </a:solidFill>
                <a:latin typeface="Calibri"/>
              </a:rPr>
              <a:t>TOP TWO FAMILIES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3488" y="2606039"/>
            <a:ext cx="3931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62.5%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3488" y="312724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F3EDE7"/>
                </a:solidFill>
                <a:latin typeface="Calibri"/>
              </a:rPr>
              <a:t>of all 682 B monomers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3703320"/>
            <a:ext cx="44348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26769"/>
                </a:solidFill>
                <a:latin typeface="Calibri"/>
              </a:rPr>
              <a:t>— </a:t>
            </a:r>
            <a:r>
              <a:rPr sz="1200" b="0" i="0">
                <a:solidFill>
                  <a:srgbClr val="2B1219"/>
                </a:solidFill>
                <a:latin typeface="Calibri"/>
              </a:rPr>
              <a:t>One family has 317 members (46%), a second has 109 (16%).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26769"/>
                </a:solidFill>
                <a:latin typeface="Calibri"/>
              </a:rPr>
              <a:t>— </a:t>
            </a:r>
            <a:r>
              <a:rPr sz="1200" b="0" i="0">
                <a:solidFill>
                  <a:srgbClr val="2B1219"/>
                </a:solidFill>
                <a:latin typeface="Calibri"/>
              </a:rPr>
              <a:t>64 scaffolds are singletons — but they cover only 9% of monomers.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26769"/>
                </a:solidFill>
                <a:latin typeface="Calibri"/>
              </a:rPr>
              <a:t>— </a:t>
            </a:r>
            <a:r>
              <a:rPr sz="1200" b="1" i="0">
                <a:solidFill>
                  <a:srgbClr val="2B1219"/>
                </a:solidFill>
                <a:latin typeface="Calibri"/>
              </a:rPr>
              <a:t>The largest family alone exceeds any balanced fold capacity</a:t>
            </a:r>
            <a:r>
              <a:rPr sz="1200" b="0" i="0">
                <a:solidFill>
                  <a:srgbClr val="2B1219"/>
                </a:solidFill>
                <a:latin typeface="Calibri"/>
              </a:rPr>
              <a:t>, so nine equal scaffold-disjoint folds cannot exist.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A26769"/>
                </a:solidFill>
                <a:latin typeface="Calibri"/>
              </a:rPr>
              <a:t>— </a:t>
            </a:r>
            <a:r>
              <a:rPr sz="1200" b="0" i="0">
                <a:solidFill>
                  <a:srgbClr val="2B1219"/>
                </a:solidFill>
                <a:latin typeface="Calibri"/>
              </a:rPr>
              <a:t>So the split is capacity-balanced scaffold packing — close to disjoint for the 110 small families, unavoidably not for the two large ones.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1">
                <a:solidFill>
                  <a:srgbClr val="6B6B6B"/>
                </a:solidFill>
                <a:latin typeface="Calibri"/>
              </a:rPr>
              <a:t>This is a property of the benchmark, not of our split: any random split of it is mostly substituent interpolation.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A26769"/>
                </a:solidFill>
                <a:latin typeface="Calibri"/>
              </a:rP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0664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2B1219"/>
                </a:solidFill>
                <a:latin typeface="Cambria"/>
              </a:rPr>
              <a:t>The consequence: two kinds of 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27048"/>
            <a:ext cx="1088136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 i="0">
                <a:solidFill>
                  <a:srgbClr val="6B6B6B"/>
                </a:solidFill>
                <a:latin typeface="Calibri"/>
              </a:rPr>
              <a:t>Because the two large families must be split across folds, the nine folds are not exchangeable. The grouping below is derived from the frozen split, not assumed.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368296"/>
          <a:ext cx="10881360" cy="246888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822960"/>
                <a:gridCol w="3108960"/>
                <a:gridCol w="3200400"/>
                <a:gridCol w="374904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folds</a:t>
                      </a:r>
                    </a:p>
                  </a:txBody>
                  <a:tcPr marL="73152" marR="54864" marT="18288" marB="18288" anchor="ctr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is held out</a:t>
                      </a:r>
                    </a:p>
                  </a:txBody>
                  <a:tcPr marL="73152" marR="54864" marT="18288" marB="18288" anchor="ctr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held-out monomers with a same-core relative in training</a:t>
                      </a:r>
                    </a:p>
                  </a:txBody>
                  <a:tcPr marL="73152" marR="54864" marT="18288" marB="18288" anchor="ctr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tests</a:t>
                      </a:r>
                    </a:p>
                  </a:txBody>
                  <a:tcPr marL="73152" marR="54864" marT="18288" marB="18288" anchor="ctr">
                    <a:solidFill>
                      <a:srgbClr val="6D2E4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B1219"/>
                          </a:solidFill>
                          <a:latin typeface="Calibri"/>
                        </a:rPr>
                        <a:t>0 – 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1219"/>
                          </a:solidFill>
                          <a:latin typeface="Calibri"/>
                        </a:rPr>
                        <a:t>76 members of the 317-family, each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6D2E46"/>
                          </a:solidFill>
                          <a:latin typeface="Calibri"/>
                        </a:rPr>
                        <a:t>76 of 76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1219"/>
                          </a:solidFill>
                          <a:latin typeface="Calibri"/>
                        </a:rPr>
                        <a:t>new substituents on a familiar core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B1219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1219"/>
                          </a:solidFill>
                          <a:latin typeface="Calibri"/>
                        </a:rPr>
                        <a:t>76 members of the 109-family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1219"/>
                          </a:solidFill>
                          <a:latin typeface="Calibri"/>
                        </a:rPr>
                        <a:t>0 of 76   (rest sit in validation)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1219"/>
                          </a:solidFill>
                          <a:latin typeface="Calibri"/>
                        </a:rPr>
                        <a:t>a genuinely new core — but only one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B1219"/>
                          </a:solidFill>
                          <a:latin typeface="Calibri"/>
                        </a:rPr>
                        <a:t>4, 6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1219"/>
                          </a:solidFill>
                          <a:latin typeface="Calibri"/>
                        </a:rPr>
                        <a:t>29 and 26 small families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1219"/>
                          </a:solidFill>
                          <a:latin typeface="Calibri"/>
                        </a:rPr>
                        <a:t>13 of 76  ·  33 of 76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1219"/>
                          </a:solidFill>
                          <a:latin typeface="Calibri"/>
                        </a:rPr>
                        <a:t>mixed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B1219"/>
                          </a:solidFill>
                          <a:latin typeface="Calibri"/>
                        </a:rPr>
                        <a:t>7, 8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1219"/>
                          </a:solidFill>
                          <a:latin typeface="Calibri"/>
                        </a:rPr>
                        <a:t>28 and 29 small families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C7293"/>
                          </a:solidFill>
                          <a:latin typeface="Calibri"/>
                        </a:rPr>
                        <a:t>0 of 75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1219"/>
                          </a:solidFill>
                          <a:latin typeface="Calibri"/>
                        </a:rPr>
                        <a:t>new cores — the cleanest tests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882896"/>
            <a:ext cx="5303520" cy="1371600"/>
          </a:xfrm>
          <a:prstGeom prst="roundRect">
            <a:avLst>
              <a:gd name="adj" fmla="val 6000"/>
            </a:avLst>
          </a:prstGeom>
          <a:solidFill>
            <a:srgbClr val="F3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038344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 i="0">
                <a:solidFill>
                  <a:srgbClr val="6D2E46"/>
                </a:solidFill>
                <a:latin typeface="Calibri"/>
              </a:rPr>
              <a:t>Paired tests run within group.</a:t>
            </a:r>
            <a:r>
              <a:rPr sz="1300" b="0" i="0">
                <a:solidFill>
                  <a:srgbClr val="2B1219"/>
                </a:solidFill>
                <a:latin typeface="Calibri"/>
              </a:rPr>
              <a:t> Pooling five folds that test substituent interpolation with four that test new scaffolds would mix two populations.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882896"/>
            <a:ext cx="53035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5038344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 i="0">
                <a:solidFill>
                  <a:srgbClr val="6D2E46"/>
                </a:solidFill>
                <a:latin typeface="Calibri"/>
              </a:rPr>
              <a:t>The cost: power.</a:t>
            </a:r>
            <a:r>
              <a:rPr sz="1300" b="0" i="0">
                <a:solidFill>
                  <a:srgbClr val="2B1219"/>
                </a:solidFill>
                <a:latin typeface="Calibri"/>
              </a:rPr>
              <a:t> Groups of five and four give minimum attainable two-sided p of 0.063 and 0.125. We accept that rather than a significant-looking pooled number.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A26769"/>
                </a:solidFill>
                <a:latin typeface="Calibri"/>
              </a:rP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0664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2B1219"/>
                </a:solidFill>
                <a:latin typeface="Cambria"/>
              </a:rPr>
              <a:t>So we read the two splits differently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27048"/>
          <a:ext cx="10881360" cy="3218688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3200400"/>
                <a:gridCol w="3840480"/>
                <a:gridCol w="384048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54864" marT="18288" marB="18288" anchor="ctr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A-heldout</a:t>
                      </a:r>
                    </a:p>
                  </a:txBody>
                  <a:tcPr marL="73152" marR="54864" marT="18288" marB="18288" anchor="ctr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B-heldout (clustered)</a:t>
                      </a:r>
                    </a:p>
                  </a:txBody>
                  <a:tcPr marL="73152" marR="54864" marT="18288" marB="18288" anchor="ctr">
                    <a:solidFill>
                      <a:srgbClr val="6D2E4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B1219"/>
                          </a:solidFill>
                          <a:latin typeface="Calibri"/>
                        </a:rPr>
                        <a:t>valid chemistry test for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C7293"/>
                          </a:solidFill>
                          <a:latin typeface="Calibri"/>
                        </a:rPr>
                        <a:t>IP  — floor ≈ 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C7293"/>
                          </a:solidFill>
                          <a:latin typeface="Calibri"/>
                        </a:rPr>
                        <a:t>EA  — floor 0.38, headroom 0.62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B1219"/>
                          </a:solidFill>
                          <a:latin typeface="Calibri"/>
                        </a:rPr>
                        <a:t>meaning of "unseen chemistry"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1219"/>
                          </a:solidFill>
                          <a:latin typeface="Calibri"/>
                        </a:rPr>
                        <a:t>extrapolation from 7 examples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1219"/>
                          </a:solidFill>
                          <a:latin typeface="Calibri"/>
                        </a:rPr>
                        <a:t>generalisation from ~530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B1219"/>
                          </a:solidFill>
                          <a:latin typeface="Calibri"/>
                        </a:rPr>
                        <a:t>held-out chemistries per fold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1219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1219"/>
                          </a:solidFill>
                          <a:latin typeface="Calibri"/>
                        </a:rPr>
                        <a:t>26–29  (or 1 in folds 0–3, 5)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B1219"/>
                          </a:solidFill>
                          <a:latin typeface="Calibri"/>
                        </a:rPr>
                        <a:t>folds exchangeable?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1219"/>
                          </a:solidFill>
                          <a:latin typeface="Calibri"/>
                        </a:rPr>
                        <a:t>broadly yes — 9 single donors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6D2E46"/>
                          </a:solidFill>
                          <a:latin typeface="Calibri"/>
                        </a:rPr>
                        <a:t>no — two structural groups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B1219"/>
                          </a:solidFill>
                          <a:latin typeface="Calibri"/>
                        </a:rPr>
                        <a:t>paired test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1219"/>
                          </a:solidFill>
                          <a:latin typeface="Calibri"/>
                        </a:rPr>
                        <a:t>one 9-fold test, min p = 0.0039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1219"/>
                          </a:solidFill>
                          <a:latin typeface="Calibri"/>
                        </a:rPr>
                        <a:t>within group, min p = 0.063 / 0.125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B1219"/>
                          </a:solidFill>
                          <a:latin typeface="Calibri"/>
                        </a:rPr>
                        <a:t>novelty analysis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1219"/>
                          </a:solidFill>
                          <a:latin typeface="Calibri"/>
                        </a:rPr>
                        <a:t>impossible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1219"/>
                          </a:solidFill>
                          <a:latin typeface="Calibri"/>
                        </a:rPr>
                        <a:t>curve across 76 monomers per fold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B1219"/>
                          </a:solidFill>
                          <a:latin typeface="Calibri"/>
                        </a:rPr>
                        <a:t>contamination handling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1219"/>
                          </a:solidFill>
                          <a:latin typeface="Calibri"/>
                        </a:rPr>
                        <a:t>none needed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2B1219"/>
                          </a:solidFill>
                          <a:latin typeface="Calibri"/>
                        </a:rPr>
                        <a:t>filtered and unfiltered reporting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95604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 i="0">
                <a:solidFill>
                  <a:srgbClr val="6D2E46"/>
                </a:solidFill>
                <a:latin typeface="Calibri"/>
              </a:rPr>
              <a:t>No single headline number per split.</a:t>
            </a:r>
            <a:r>
              <a:rPr sz="1400" b="0" i="0">
                <a:solidFill>
                  <a:srgbClr val="2B1219"/>
                </a:solidFill>
                <a:latin typeface="Calibri"/>
              </a:rPr>
              <a:t>  EA claims come from the B split, IP claims from the A split, and every group-mean R² is reported beside its fold-specific null floor and the fraction of available headroom it closes.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A26769"/>
                </a:solidFill>
                <a:latin typeface="Calibri"/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0664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2B1219"/>
                </a:solidFill>
                <a:latin typeface="Cambria"/>
              </a:rPr>
              <a:t>The architecture advantage holds on both chemical axes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27048"/>
            <a:ext cx="1088136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 i="0">
                <a:solidFill>
                  <a:srgbClr val="6B6B6B"/>
                </a:solidFill>
                <a:latin typeface="Calibri"/>
              </a:rPr>
              <a:t>ΔR² median across folds, mean of three seeds, error bars = per-fold seed SD. B folds are shown as their two groups, never pooled — they test different things.</a:t>
            </a:r>
          </a:p>
        </p:txBody>
      </p:sp>
      <p:pic>
        <p:nvPicPr>
          <p:cNvPr id="5" name="Picture 4" descr="fig_ab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496" y="2368296"/>
            <a:ext cx="7054526" cy="319125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5650992"/>
            <a:ext cx="10881360" cy="877824"/>
          </a:xfrm>
          <a:prstGeom prst="roundRect">
            <a:avLst>
              <a:gd name="adj" fmla="val 6000"/>
            </a:avLst>
          </a:prstGeom>
          <a:solidFill>
            <a:srgbClr val="F3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797296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 i="0">
                <a:solidFill>
                  <a:srgbClr val="2B1219"/>
                </a:solidFill>
                <a:latin typeface="Calibri"/>
              </a:rPr>
              <a:t>HPG-hier beats wDMPNN on ΔR² in every bar — both targets, the A axis, and both B-fold groups. Within group it loses 4 of 4 (S) and 5 of 5 (D), the maximum either group can show. </a:t>
            </a:r>
            <a:r>
              <a:rPr sz="1250" b="1" i="0">
                <a:solidFill>
                  <a:srgbClr val="6D2E46"/>
                </a:solidFill>
                <a:latin typeface="Calibri"/>
              </a:rPr>
              <a:t>The gap widened after the bug fix: wDMPNN's EA ΔR² fell from 0.58 to 0.43, so the old numbers were flattering the baseline, not our model.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A26769"/>
                </a:solidFill>
                <a:latin typeface="Calibri"/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0664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2B1219"/>
                </a:solidFill>
                <a:latin typeface="Cambria"/>
              </a:rPr>
              <a:t>The octamer gains only where the chemistry is new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27048"/>
            <a:ext cx="1088136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 i="0">
                <a:solidFill>
                  <a:srgbClr val="6B6B6B"/>
                </a:solidFill>
                <a:latin typeface="Calibri"/>
              </a:rPr>
              <a:t>B-heldout clustered, split by what each fold actually tests. This is why the fold grouping mattered.</a:t>
            </a:r>
          </a:p>
        </p:txBody>
      </p:sp>
      <p:pic>
        <p:nvPicPr>
          <p:cNvPr id="5" name="Picture 4" descr="fig_r3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986" y="2103120"/>
            <a:ext cx="8073547" cy="34564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5650992"/>
            <a:ext cx="10881360" cy="877824"/>
          </a:xfrm>
          <a:prstGeom prst="roundRect">
            <a:avLst>
              <a:gd name="adj" fmla="val 6000"/>
            </a:avLst>
          </a:prstGeom>
          <a:solidFill>
            <a:srgbClr val="F3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797296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 i="0">
                <a:solidFill>
                  <a:srgbClr val="2B1219"/>
                </a:solidFill>
                <a:latin typeface="Calibri"/>
              </a:rPr>
              <a:t>Group D holds out whole new scaffold families; group S holds out new side chains on cores the model already knows. The octamer adds +0.019 / +0.032 ΔR² on D (5–0 folds both targets) and nothing on S (2–2). </a:t>
            </a:r>
            <a:r>
              <a:rPr sz="1250" b="1" i="0">
                <a:solidFill>
                  <a:srgbClr val="6D2E46"/>
                </a:solidFill>
                <a:latin typeface="Calibri"/>
              </a:rPr>
              <a:t>A representation change that helps only where the chemistry is genuinely new is what a real encoding improvement looks like — pooling the nine folds would have shown p = 0.18.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A26769"/>
                </a:solidFill>
                <a:latin typeface="Calibri"/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0664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2B1219"/>
                </a:solidFill>
                <a:latin typeface="Cambria"/>
              </a:rPr>
              <a:t>Every model clears the floor — but the floor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27048"/>
            <a:ext cx="1088136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 i="0">
                <a:solidFill>
                  <a:srgbClr val="6B6B6B"/>
                </a:solidFill>
                <a:latin typeface="Calibri"/>
              </a:rPr>
              <a:t>Per-fold group-mean R² against the fold's own B-blind null floor. Shaded folds are group S.</a:t>
            </a:r>
          </a:p>
        </p:txBody>
      </p:sp>
      <p:pic>
        <p:nvPicPr>
          <p:cNvPr id="5" name="Picture 4" descr="fig_r3_chemistry_fl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463" y="2103120"/>
            <a:ext cx="7740593" cy="34564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5650992"/>
            <a:ext cx="10881360" cy="877824"/>
          </a:xfrm>
          <a:prstGeom prst="roundRect">
            <a:avLst>
              <a:gd name="adj" fmla="val 6000"/>
            </a:avLst>
          </a:prstGeom>
          <a:solidFill>
            <a:srgbClr val="F3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797296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 i="0">
                <a:solidFill>
                  <a:srgbClr val="2B1219"/>
                </a:solidFill>
                <a:latin typeface="Calibri"/>
              </a:rPr>
              <a:t>The dashed line is a predictor that ignores the held-out monomer entirely. It ranges from 0.02 to 0.75 across folds, so raw R² is not comparable between them — read the gap, not the level. </a:t>
            </a:r>
            <a:r>
              <a:rPr sz="1250" b="1" i="0">
                <a:solidFill>
                  <a:srgbClr val="6D2E46"/>
                </a:solidFill>
                <a:latin typeface="Calibri"/>
              </a:rPr>
              <a:t>All four models sit well above it on the B split, which the A split could not demonstrate for EA.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A26769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0664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2B1219"/>
                </a:solidFill>
                <a:latin typeface="Cambria"/>
              </a:rPr>
              <a:t>Where that leaves the programme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27048"/>
          <a:ext cx="10881360" cy="2249424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3108960"/>
                <a:gridCol w="1463040"/>
                <a:gridCol w="630936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73152" marR="54864" marT="18288" marB="18288" anchor="ctr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54864" marT="18288" marB="18288" anchor="ctr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gave us</a:t>
                      </a:r>
                    </a:p>
                  </a:txBody>
                  <a:tcPr marL="73152" marR="54864" marT="18288" marB="18288" anchor="ctr">
                    <a:solidFill>
                      <a:srgbClr val="6D2E4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1219"/>
                          </a:solidFill>
                          <a:latin typeface="Calibri"/>
                        </a:rPr>
                        <a:t>R1  A-heldout, 270 runs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C7293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1219"/>
                          </a:solidFill>
                          <a:latin typeface="Calibri"/>
                        </a:rPr>
                        <a:t>architecture advantage confirmed with error bars; chemistry claims repaired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1219"/>
                          </a:solidFill>
                          <a:latin typeface="Calibri"/>
                        </a:rPr>
                        <a:t>R3  B-heldout clustered, 216 runs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C7293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1219"/>
                          </a:solidFill>
                          <a:latin typeface="Calibri"/>
                        </a:rPr>
                        <a:t>advantage holds on the second chemical axis, 9 of 9 folds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1219"/>
                          </a:solidFill>
                          <a:latin typeface="Calibri"/>
                        </a:rPr>
                        <a:t>R2  B-heldout random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1219"/>
                          </a:solidFill>
                          <a:latin typeface="Calibri"/>
                        </a:rPr>
                        <a:t>deferred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1219"/>
                          </a:solidFill>
                          <a:latin typeface="Calibri"/>
                        </a:rPr>
                        <a:t>clustered is the difficulty-matched split; little to add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1219"/>
                          </a:solidFill>
                          <a:latin typeface="Calibri"/>
                        </a:rPr>
                        <a:t>R4  ChemArch / GlobalArch / frac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B1219"/>
                          </a:solidFill>
                          <a:latin typeface="Calibri"/>
                        </a:rPr>
                        <a:t>not run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1219"/>
                          </a:solidFill>
                          <a:latin typeface="Calibri"/>
                        </a:rPr>
                        <a:t>their numbers are still from the buggy code — see below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767328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1">
                <a:solidFill>
                  <a:srgbClr val="6B6B6B"/>
                </a:solidFill>
                <a:latin typeface="Calibri"/>
              </a:rPr>
              <a:t>481 of 486 cells landed; the five outstanding move no median measurably. 57 of 266 R1 runs were flagged undertrained and every table is reported with and without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702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D2E46"/>
                </a:solidFill>
                <a:latin typeface="Calibri"/>
              </a:rPr>
              <a:t>FOR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177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6D2E46"/>
                </a:solidFill>
                <a:latin typeface="Cambria"/>
              </a:rPr>
              <a:t>Paper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39" y="4617720"/>
            <a:ext cx="80010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 i="0">
                <a:solidFill>
                  <a:srgbClr val="2B1219"/>
                </a:solidFill>
                <a:latin typeface="Calibri"/>
              </a:rPr>
              <a:t>The measurement contributions — null-floor calibration, the two-axis split design, scaffold dominance in the benchmark — are now backed by a model result that holds on both axes. Lead with the methodology, HPG-hier as the case study?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49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6D2E46"/>
                </a:solidFill>
                <a:latin typeface="Cambria"/>
              </a:rPr>
              <a:t>ChemArch and the original HPG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39" y="5349240"/>
            <a:ext cx="80010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 i="0">
                <a:solidFill>
                  <a:srgbClr val="2B1219"/>
                </a:solidFill>
                <a:latin typeface="Calibri"/>
              </a:rPr>
              <a:t>Still un-regenerated, so they cannot share a table with these numbers. Either spend 162 runs, or cut them from the comparison.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807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6D2E46"/>
                </a:solidFill>
                <a:latin typeface="Cambria"/>
              </a:rPr>
              <a:t>Training stability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39" y="6080760"/>
            <a:ext cx="80010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 i="0">
                <a:solidFill>
                  <a:srgbClr val="2B1219"/>
                </a:solidFill>
                <a:latin typeface="Calibri"/>
              </a:rPr>
              <a:t>21% of runs stopped before epoch 10. Worth fixing properly before the next experiment, even though 3-seed averaging absorbs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A26769"/>
                </a:solidFill>
                <a:latin typeface="Calibri"/>
              </a:rPr>
              <a:t>WHERE THIS LEAVES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4241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A correction week that ended with a stronger result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3538728"/>
            <a:ext cx="384048" cy="384048"/>
          </a:xfrm>
          <a:prstGeom prst="ellipse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B1219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7" y="35204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Found before publication, not after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7" y="38404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 i="0">
                <a:solidFill>
                  <a:srgbClr val="F3EDE7"/>
                </a:solidFill>
                <a:latin typeface="Calibri"/>
              </a:rPr>
              <a:t>A reproduction check most people skip caught a bug that had been in every runner since its first commit.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4498848"/>
            <a:ext cx="384048" cy="384048"/>
          </a:xfrm>
          <a:prstGeom prst="ellipse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B1219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44805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Three findings the bug cannot touch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7" y="4800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 i="0">
                <a:solidFill>
                  <a:srgbClr val="F3EDE7"/>
                </a:solidFill>
                <a:latin typeface="Calibri"/>
              </a:rPr>
              <a:t>The null-floor calibration, the two-axis split design, and the scaffold dominance in the benchmark are all computed from data, not from model runs.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5458968"/>
            <a:ext cx="384048" cy="384048"/>
          </a:xfrm>
          <a:prstGeom prst="ellipse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B1219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54406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The model claim came back stronger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5760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 i="0">
                <a:solidFill>
                  <a:srgbClr val="F3EDE7"/>
                </a:solidFill>
                <a:latin typeface="Calibri"/>
              </a:rPr>
              <a:t>Architecture recovery is confirmed with error bars and holds on both chemical axes: ΔR² 0.80/0.81 vs wDMPNN's 0.43/0.45 on the A axis, and 9 of 9 folds on the B axis. The bug had been understating our own model.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A26769"/>
                </a:solidFill>
                <a:latin typeface="Calibri"/>
              </a:rPr>
              <a:t>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0664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2B1219"/>
                </a:solidFill>
                <a:latin typeface="Cambria"/>
              </a:rPr>
              <a:t>Backup — how the fold grouping was derived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27048"/>
            <a:ext cx="1088136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 i="0">
                <a:solidFill>
                  <a:srgbClr val="6B6B6B"/>
                </a:solidFill>
                <a:latin typeface="Calibri"/>
              </a:rPr>
              <a:t>Nothing here is hand-assigned. The grouping is recomputed from the frozen split file every time the analysis runs.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139696"/>
            <a:ext cx="384048" cy="38404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7" y="210312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6D2E46"/>
                </a:solidFill>
                <a:latin typeface="Cambria"/>
              </a:rPr>
              <a:t>Murcko scaffold per monomer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7" y="2395727"/>
            <a:ext cx="55778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00" b="0" i="0">
                <a:solidFill>
                  <a:srgbClr val="2B1219"/>
                </a:solidFill>
                <a:latin typeface="Calibri"/>
              </a:rPr>
              <a:t>RDKit MurckoScaffold.MurckoScaffoldSmiles — strips side chains, keeps ring systems and the linkers between them. Bemis &amp; Murcko, J. Med. Chem. 1996. Deterministic, no free parameters.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35808"/>
            <a:ext cx="384048" cy="38404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999232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6D2E46"/>
                </a:solidFill>
                <a:latin typeface="Cambria"/>
              </a:rPr>
              <a:t>Group the 682 B monomers by identical scaffold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7" y="3291839"/>
            <a:ext cx="55778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00" b="0" i="0">
                <a:solidFill>
                  <a:srgbClr val="2B1219"/>
                </a:solidFill>
                <a:latin typeface="Calibri"/>
              </a:rPr>
              <a:t>Gives 112 families. Acyclic monomers, if any, form singletons.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931920"/>
            <a:ext cx="384048" cy="38404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3895344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6D2E46"/>
                </a:solidFill>
                <a:latin typeface="Cambria"/>
              </a:rPr>
              <a:t>For each fold, ask whether the held-out chemistry is in 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4187952"/>
            <a:ext cx="55778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00" b="0" i="0">
                <a:solidFill>
                  <a:srgbClr val="2B1219"/>
                </a:solidFill>
                <a:latin typeface="Calibri"/>
              </a:rPr>
              <a:t>Read held_out_monomer_B and train_monomer_B from the frozen JSON; count held-out monomers whose scaffold also appears among that fold's training monomers.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828032"/>
            <a:ext cx="384048" cy="38404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7" y="47914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6D2E46"/>
                </a:solidFill>
                <a:latin typeface="Cambria"/>
              </a:rPr>
              <a:t>Label S if that share exceeds 50%, D otherwise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5084064"/>
            <a:ext cx="55778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00" b="0" i="0">
                <a:solidFill>
                  <a:srgbClr val="2B1219"/>
                </a:solidFill>
                <a:latin typeface="Calibri"/>
              </a:rPr>
              <a:t>Threshold fixed in advance. Also record distinct scaffolds per fold, and Morgan r=2 2048-bit Tanimoto novelty as an independent continuous check.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084831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B6B6B"/>
                </a:solidFill>
                <a:latin typeface="Calibri"/>
              </a:rPr>
              <a:t>THE THRESHOLD IS NOT LOAD-BEARING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720840" y="2432303"/>
          <a:ext cx="4800598" cy="199339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300162"/>
                <a:gridCol w="2600324"/>
                <a:gridCol w="90011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fold</a:t>
                      </a:r>
                    </a:p>
                  </a:txBody>
                  <a:tcPr marL="73152" marR="54864" marT="18288" marB="18288" anchor="ctr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share with scaffold in training</a:t>
                      </a:r>
                    </a:p>
                  </a:txBody>
                  <a:tcPr marL="73152" marR="54864" marT="18288" marB="18288" anchor="ctr">
                    <a:solidFill>
                      <a:srgbClr val="6D2E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marL="73152" marR="54864" marT="18288" marB="18288" anchor="ctr">
                    <a:solidFill>
                      <a:srgbClr val="6D2E4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B1219"/>
                          </a:solidFill>
                          <a:latin typeface="Calibri"/>
                        </a:rPr>
                        <a:t>0 – 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B1219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B1219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B1219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B1219"/>
                          </a:solidFill>
                          <a:latin typeface="Calibri"/>
                        </a:rPr>
                        <a:t>0.434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B1219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B1219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B1219"/>
                          </a:solidFill>
                          <a:latin typeface="Calibri"/>
                        </a:rPr>
                        <a:t>0.171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B1219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B1219"/>
                          </a:solidFill>
                          <a:latin typeface="Calibri"/>
                        </a:rPr>
                        <a:t>5, 7, 8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B1219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B1219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73152" marR="54864" marT="18288" marB="18288" anchor="ctr">
                    <a:solidFill>
                      <a:srgbClr val="F3EDE7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720840" y="4553712"/>
            <a:ext cx="4800600" cy="1051560"/>
          </a:xfrm>
          <a:prstGeom prst="roundRect">
            <a:avLst>
              <a:gd name="adj" fmla="val 6000"/>
            </a:avLst>
          </a:prstGeom>
          <a:solidFill>
            <a:srgbClr val="F3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4718304"/>
            <a:ext cx="4389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2B1219"/>
                </a:solidFill>
                <a:latin typeface="Calibri"/>
              </a:rPr>
              <a:t>The nearest fold to the cut is 0.434. Any threshold between 0.44 and 0.99 produces the identical grouping — the data are not near the boundary.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9788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1" i="0">
                <a:solidFill>
                  <a:srgbClr val="6B6B6B"/>
                </a:solidFill>
                <a:latin typeface="Calibri"/>
              </a:rPr>
              <a:t>Code: </a:t>
            </a:r>
            <a:r>
              <a:rPr sz="1100" b="0" i="0">
                <a:solidFill>
                  <a:srgbClr val="6B6B6B"/>
                </a:solidFill>
                <a:latin typeface="Consolas"/>
              </a:rPr>
              <a:t>scaffold_structure() in scripts/python/analyze_regen_v1_r3.py.   </a:t>
            </a:r>
            <a:r>
              <a:rPr sz="1100" b="1" i="0">
                <a:solidFill>
                  <a:srgbClr val="6B6B6B"/>
                </a:solidFill>
                <a:latin typeface="Calibri"/>
              </a:rPr>
              <a:t>Outputs: </a:t>
            </a:r>
            <a:r>
              <a:rPr sz="1100" b="0" i="0">
                <a:solidFill>
                  <a:srgbClr val="6B6B6B"/>
                </a:solidFill>
                <a:latin typeface="Consolas"/>
              </a:rPr>
              <a:t>_regen_v1_r3_results_fold_composition.csv</a:t>
            </a:r>
            <a:r>
              <a:rPr sz="1100" b="0" i="0">
                <a:solidFill>
                  <a:srgbClr val="6B6B6B"/>
                </a:solidFill>
                <a:latin typeface="Calibri"/>
              </a:rPr>
              <a:t>  ·  originally computed in audit_b_heldout_design.py during split construction.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A26769"/>
                </a:solidFill>
                <a:latin typeface="Calibri"/>
              </a:rPr>
              <a:t>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0664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2B1219"/>
                </a:solidFill>
                <a:latin typeface="Cambria"/>
              </a:rPr>
              <a:t>Backup — the same result using means, not medians</a:t>
            </a:r>
          </a:p>
        </p:txBody>
      </p:sp>
      <p:pic>
        <p:nvPicPr>
          <p:cNvPr id="4" name="Picture 3" descr="fig_ab_comparison_m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673" y="1527048"/>
            <a:ext cx="8914172" cy="40325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650992"/>
            <a:ext cx="10881360" cy="877824"/>
          </a:xfrm>
          <a:prstGeom prst="roundRect">
            <a:avLst>
              <a:gd name="adj" fmla="val 6000"/>
            </a:avLst>
          </a:prstGeom>
          <a:solidFill>
            <a:srgbClr val="F3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797296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 i="0">
                <a:solidFill>
                  <a:srgbClr val="2B1219"/>
                </a:solidFill>
                <a:latin typeface="Calibri"/>
              </a:rPr>
              <a:t>Medians are robust to the pathological folds; means are not. On the A split HPG-hier's EA ΔR² is 0.803 median but 0.634 mean, because one fold falls to −0.002. On the B split the same numbers are 0.778 and 0.746. </a:t>
            </a:r>
            <a:r>
              <a:rPr sz="1250" b="1" i="0">
                <a:solidFill>
                  <a:srgbClr val="6D2E46"/>
                </a:solidFill>
                <a:latin typeface="Calibri"/>
              </a:rPr>
              <a:t>The A folds are heterogeneous, the B folds are not — a second, independent argument for the B split.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A26769"/>
                </a:solidFill>
                <a:latin typeface="Calibri"/>
              </a:rPr>
              <a:t>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0664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2B1219"/>
                </a:solidFill>
                <a:latin typeface="Cambria"/>
              </a:rPr>
              <a:t>Backup — plain accuracy, no decomposition</a:t>
            </a:r>
          </a:p>
        </p:txBody>
      </p:sp>
      <p:pic>
        <p:nvPicPr>
          <p:cNvPr id="4" name="Picture 3" descr="fig_r1_overall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356" y="1527048"/>
            <a:ext cx="8822807" cy="40325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5650992"/>
            <a:ext cx="10881360" cy="877824"/>
          </a:xfrm>
          <a:prstGeom prst="roundRect">
            <a:avLst>
              <a:gd name="adj" fmla="val 6000"/>
            </a:avLst>
          </a:prstGeom>
          <a:solidFill>
            <a:srgbClr val="F3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797296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 i="0">
                <a:solidFill>
                  <a:srgbClr val="2B1219"/>
                </a:solidFill>
                <a:latin typeface="Calibri"/>
              </a:rPr>
              <a:t>Overall R², RMSE and MAE per model on the A-heldout split — the bottom-line numbers with no null floors and no group/deviation split. The octamer leads on all three; wDMPNN trails on R² despite competitive MAE, which is the decomposition showing up in aggregate.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