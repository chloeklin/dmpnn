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02E23F-608D-FE45-B33F-08A985D2B7A5}" type="doc">
      <dgm:prSet loTypeId="urn:microsoft.com/office/officeart/2005/8/layout/hList1" loCatId="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6457B5DE-A0AD-1B41-BC4C-6DA8583C44F7}">
      <dgm:prSet phldrT="[Text]" custT="1"/>
      <dgm:spPr/>
      <dgm:t>
        <a:bodyPr/>
        <a:lstStyle/>
        <a:p>
          <a:pPr>
            <a:buAutoNum type="arabicPeriod"/>
          </a:pPr>
          <a:r>
            <a:rPr lang="en-US" sz="2400" dirty="0"/>
            <a:t>Chemistry baseline</a:t>
          </a:r>
        </a:p>
      </dgm:t>
    </dgm:pt>
    <dgm:pt modelId="{99E981BF-447F-D84B-B5B3-AE252EE817EC}" type="parTrans" cxnId="{904FFC65-89F4-6C48-A4A7-8781F3C78775}">
      <dgm:prSet/>
      <dgm:spPr/>
      <dgm:t>
        <a:bodyPr/>
        <a:lstStyle/>
        <a:p>
          <a:endParaRPr lang="en-US"/>
        </a:p>
      </dgm:t>
    </dgm:pt>
    <dgm:pt modelId="{93B21DDF-1DD5-A34F-B7F3-9C6A70AB825E}" type="sibTrans" cxnId="{904FFC65-89F4-6C48-A4A7-8781F3C78775}">
      <dgm:prSet/>
      <dgm:spPr/>
      <dgm:t>
        <a:bodyPr/>
        <a:lstStyle/>
        <a:p>
          <a:endParaRPr lang="en-US"/>
        </a:p>
      </dgm:t>
    </dgm:pt>
    <dgm:pt modelId="{EB23523F-AB86-B046-A619-28BB70495863}">
      <dgm:prSet custT="1"/>
      <dgm:spPr/>
      <dgm:t>
        <a:bodyPr/>
        <a:lstStyle/>
        <a:p>
          <a:r>
            <a:rPr lang="en-US" sz="2000" dirty="0"/>
            <a:t>How accurately does the model predict the average property of each chemistry, irrespective of architecture?</a:t>
          </a:r>
        </a:p>
      </dgm:t>
    </dgm:pt>
    <dgm:pt modelId="{ADBAF646-ED5F-3D4D-9D7F-690D598EB4A3}" type="parTrans" cxnId="{F8669ED8-574C-7D49-9A31-C96E5BF8FAD0}">
      <dgm:prSet/>
      <dgm:spPr/>
      <dgm:t>
        <a:bodyPr/>
        <a:lstStyle/>
        <a:p>
          <a:endParaRPr lang="en-US"/>
        </a:p>
      </dgm:t>
    </dgm:pt>
    <dgm:pt modelId="{AD443FC6-6315-EF49-BE89-290400FC1D91}" type="sibTrans" cxnId="{F8669ED8-574C-7D49-9A31-C96E5BF8FAD0}">
      <dgm:prSet/>
      <dgm:spPr/>
      <dgm:t>
        <a:bodyPr/>
        <a:lstStyle/>
        <a:p>
          <a:endParaRPr lang="en-US"/>
        </a:p>
      </dgm:t>
    </dgm:pt>
    <dgm:pt modelId="{D645705F-B58D-194E-8CBB-38B2E53FB692}">
      <dgm:prSet custT="1"/>
      <dgm:spPr/>
      <dgm:t>
        <a:bodyPr/>
        <a:lstStyle/>
        <a:p>
          <a:r>
            <a:rPr lang="en-US" sz="2400" dirty="0"/>
            <a:t>Architecture recovery</a:t>
          </a:r>
        </a:p>
      </dgm:t>
    </dgm:pt>
    <dgm:pt modelId="{E850C854-9689-C148-AF90-ABB393A75E86}" type="parTrans" cxnId="{2DC14FB9-173A-1E4B-AAEE-7B7DA4FDDEDF}">
      <dgm:prSet/>
      <dgm:spPr/>
      <dgm:t>
        <a:bodyPr/>
        <a:lstStyle/>
        <a:p>
          <a:endParaRPr lang="en-US"/>
        </a:p>
      </dgm:t>
    </dgm:pt>
    <dgm:pt modelId="{25EE613B-7771-FE41-ADBA-0627AAB23BAD}" type="sibTrans" cxnId="{2DC14FB9-173A-1E4B-AAEE-7B7DA4FDDEDF}">
      <dgm:prSet/>
      <dgm:spPr/>
      <dgm:t>
        <a:bodyPr/>
        <a:lstStyle/>
        <a:p>
          <a:endParaRPr lang="en-US"/>
        </a:p>
      </dgm:t>
    </dgm:pt>
    <dgm:pt modelId="{59A780F5-B57F-284D-B988-595C4B1AB2F7}">
      <dgm:prSet custT="1"/>
      <dgm:spPr/>
      <dgm:t>
        <a:bodyPr/>
        <a:lstStyle/>
        <a:p>
          <a:r>
            <a:rPr lang="en-US" sz="2000" dirty="0"/>
            <a:t>How well the model recovers architecture-induced deviations after removing the chemistry baseline?</a:t>
          </a:r>
        </a:p>
      </dgm:t>
    </dgm:pt>
    <dgm:pt modelId="{6055440A-035E-7A42-8DCC-CC7B0910F235}" type="parTrans" cxnId="{7DD37A6F-9CF3-224B-B900-AA6002CECB0D}">
      <dgm:prSet/>
      <dgm:spPr/>
      <dgm:t>
        <a:bodyPr/>
        <a:lstStyle/>
        <a:p>
          <a:endParaRPr lang="en-US"/>
        </a:p>
      </dgm:t>
    </dgm:pt>
    <dgm:pt modelId="{5AC04A53-B0DC-9F48-8A0C-EC966597B3C0}" type="sibTrans" cxnId="{7DD37A6F-9CF3-224B-B900-AA6002CECB0D}">
      <dgm:prSet/>
      <dgm:spPr/>
      <dgm:t>
        <a:bodyPr/>
        <a:lstStyle/>
        <a:p>
          <a:endParaRPr lang="en-US"/>
        </a:p>
      </dgm:t>
    </dgm:pt>
    <dgm:pt modelId="{3A3AA0FB-E12A-E046-BC75-D48E901D0C77}">
      <dgm:prSet custT="1"/>
      <dgm:spPr/>
      <dgm:t>
        <a:bodyPr/>
        <a:lstStyle/>
        <a:p>
          <a:r>
            <a:rPr lang="en-US" sz="2400" dirty="0"/>
            <a:t>Rank recovery</a:t>
          </a:r>
        </a:p>
      </dgm:t>
    </dgm:pt>
    <dgm:pt modelId="{AD7BF1C3-E019-DB4A-B716-6695F919D677}" type="parTrans" cxnId="{A9014D95-B4DC-E14A-8158-74FC248A58EF}">
      <dgm:prSet/>
      <dgm:spPr/>
      <dgm:t>
        <a:bodyPr/>
        <a:lstStyle/>
        <a:p>
          <a:endParaRPr lang="en-US"/>
        </a:p>
      </dgm:t>
    </dgm:pt>
    <dgm:pt modelId="{6409A08D-D8C1-5B4F-AA9F-470EB85AC06E}" type="sibTrans" cxnId="{A9014D95-B4DC-E14A-8158-74FC248A58EF}">
      <dgm:prSet/>
      <dgm:spPr/>
      <dgm:t>
        <a:bodyPr/>
        <a:lstStyle/>
        <a:p>
          <a:endParaRPr lang="en-US"/>
        </a:p>
      </dgm:t>
    </dgm:pt>
    <dgm:pt modelId="{D27A3D56-FFCA-884A-B62F-DF5633BC03E8}">
      <dgm:prSet custT="1"/>
      <dgm:spPr/>
      <dgm:t>
        <a:bodyPr/>
        <a:lstStyle/>
        <a:p>
          <a:r>
            <a:rPr lang="en-US" sz="2000" dirty="0"/>
            <a:t>Did the model correctly rank the architectures within the same chemistry?</a:t>
          </a:r>
        </a:p>
      </dgm:t>
    </dgm:pt>
    <dgm:pt modelId="{A470FDE9-16D7-D145-BFED-7F3CFFF327BE}" type="parTrans" cxnId="{D4D69065-E9D9-4D4B-9B32-C4495B233C59}">
      <dgm:prSet/>
      <dgm:spPr/>
      <dgm:t>
        <a:bodyPr/>
        <a:lstStyle/>
        <a:p>
          <a:endParaRPr lang="en-US"/>
        </a:p>
      </dgm:t>
    </dgm:pt>
    <dgm:pt modelId="{E8FEB1E5-97B2-E046-B00F-FDB0E2FD65BB}" type="sibTrans" cxnId="{D4D69065-E9D9-4D4B-9B32-C4495B233C59}">
      <dgm:prSet/>
      <dgm:spPr/>
      <dgm:t>
        <a:bodyPr/>
        <a:lstStyle/>
        <a:p>
          <a:endParaRPr lang="en-US"/>
        </a:p>
      </dgm:t>
    </dgm:pt>
    <dgm:pt modelId="{2F35A0F9-373B-6B4A-91AA-C3A055356BF1}" type="pres">
      <dgm:prSet presAssocID="{D702E23F-608D-FE45-B33F-08A985D2B7A5}" presName="Name0" presStyleCnt="0">
        <dgm:presLayoutVars>
          <dgm:dir/>
          <dgm:animLvl val="lvl"/>
          <dgm:resizeHandles val="exact"/>
        </dgm:presLayoutVars>
      </dgm:prSet>
      <dgm:spPr/>
    </dgm:pt>
    <dgm:pt modelId="{FB45A40B-DA73-EA41-BBA6-F3155D7F48C4}" type="pres">
      <dgm:prSet presAssocID="{6457B5DE-A0AD-1B41-BC4C-6DA8583C44F7}" presName="composite" presStyleCnt="0"/>
      <dgm:spPr/>
    </dgm:pt>
    <dgm:pt modelId="{E9E2D631-D491-BE46-BD1F-A01E68578C71}" type="pres">
      <dgm:prSet presAssocID="{6457B5DE-A0AD-1B41-BC4C-6DA8583C44F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D5A8714F-007B-C648-8EF2-74AFBB06B96A}" type="pres">
      <dgm:prSet presAssocID="{6457B5DE-A0AD-1B41-BC4C-6DA8583C44F7}" presName="desTx" presStyleLbl="alignAccFollowNode1" presStyleIdx="0" presStyleCnt="3">
        <dgm:presLayoutVars>
          <dgm:bulletEnabled val="1"/>
        </dgm:presLayoutVars>
      </dgm:prSet>
      <dgm:spPr/>
    </dgm:pt>
    <dgm:pt modelId="{C7E75F0E-BB13-CC4E-AEC6-CC66DEE3B9FE}" type="pres">
      <dgm:prSet presAssocID="{93B21DDF-1DD5-A34F-B7F3-9C6A70AB825E}" presName="space" presStyleCnt="0"/>
      <dgm:spPr/>
    </dgm:pt>
    <dgm:pt modelId="{BB31DD13-BDD8-1545-BDBA-F24099FAD443}" type="pres">
      <dgm:prSet presAssocID="{D645705F-B58D-194E-8CBB-38B2E53FB692}" presName="composite" presStyleCnt="0"/>
      <dgm:spPr/>
    </dgm:pt>
    <dgm:pt modelId="{0CFDD2E7-1F3E-BE4D-931F-E420D055444A}" type="pres">
      <dgm:prSet presAssocID="{D645705F-B58D-194E-8CBB-38B2E53FB69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1F29B53-A5C1-0B44-B73D-61E82C2F2235}" type="pres">
      <dgm:prSet presAssocID="{D645705F-B58D-194E-8CBB-38B2E53FB692}" presName="desTx" presStyleLbl="alignAccFollowNode1" presStyleIdx="1" presStyleCnt="3">
        <dgm:presLayoutVars>
          <dgm:bulletEnabled val="1"/>
        </dgm:presLayoutVars>
      </dgm:prSet>
      <dgm:spPr/>
    </dgm:pt>
    <dgm:pt modelId="{F744B0E0-DB10-6646-8BC2-534B267CCBFC}" type="pres">
      <dgm:prSet presAssocID="{25EE613B-7771-FE41-ADBA-0627AAB23BAD}" presName="space" presStyleCnt="0"/>
      <dgm:spPr/>
    </dgm:pt>
    <dgm:pt modelId="{02786536-ED43-854F-8E8D-1BCB0BD3E13D}" type="pres">
      <dgm:prSet presAssocID="{3A3AA0FB-E12A-E046-BC75-D48E901D0C77}" presName="composite" presStyleCnt="0"/>
      <dgm:spPr/>
    </dgm:pt>
    <dgm:pt modelId="{75753560-0224-5644-9E94-6B47A5363BAA}" type="pres">
      <dgm:prSet presAssocID="{3A3AA0FB-E12A-E046-BC75-D48E901D0C7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C234CF4-ADB5-594B-8B78-FEB9952D9233}" type="pres">
      <dgm:prSet presAssocID="{3A3AA0FB-E12A-E046-BC75-D48E901D0C77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1547207-2C6D-644F-A17A-96BC07E95996}" type="presOf" srcId="{D27A3D56-FFCA-884A-B62F-DF5633BC03E8}" destId="{5C234CF4-ADB5-594B-8B78-FEB9952D9233}" srcOrd="0" destOrd="0" presId="urn:microsoft.com/office/officeart/2005/8/layout/hList1"/>
    <dgm:cxn modelId="{22605719-7352-6942-8F57-3743897BCDFB}" type="presOf" srcId="{3A3AA0FB-E12A-E046-BC75-D48E901D0C77}" destId="{75753560-0224-5644-9E94-6B47A5363BAA}" srcOrd="0" destOrd="0" presId="urn:microsoft.com/office/officeart/2005/8/layout/hList1"/>
    <dgm:cxn modelId="{FF2D3239-A365-6C4C-BC53-ECA6AA0A6DC4}" type="presOf" srcId="{EB23523F-AB86-B046-A619-28BB70495863}" destId="{D5A8714F-007B-C648-8EF2-74AFBB06B96A}" srcOrd="0" destOrd="0" presId="urn:microsoft.com/office/officeart/2005/8/layout/hList1"/>
    <dgm:cxn modelId="{FCEF5756-9728-614E-BC2F-8D8CB72A0EF1}" type="presOf" srcId="{D645705F-B58D-194E-8CBB-38B2E53FB692}" destId="{0CFDD2E7-1F3E-BE4D-931F-E420D055444A}" srcOrd="0" destOrd="0" presId="urn:microsoft.com/office/officeart/2005/8/layout/hList1"/>
    <dgm:cxn modelId="{D4D69065-E9D9-4D4B-9B32-C4495B233C59}" srcId="{3A3AA0FB-E12A-E046-BC75-D48E901D0C77}" destId="{D27A3D56-FFCA-884A-B62F-DF5633BC03E8}" srcOrd="0" destOrd="0" parTransId="{A470FDE9-16D7-D145-BFED-7F3CFFF327BE}" sibTransId="{E8FEB1E5-97B2-E046-B00F-FDB0E2FD65BB}"/>
    <dgm:cxn modelId="{904FFC65-89F4-6C48-A4A7-8781F3C78775}" srcId="{D702E23F-608D-FE45-B33F-08A985D2B7A5}" destId="{6457B5DE-A0AD-1B41-BC4C-6DA8583C44F7}" srcOrd="0" destOrd="0" parTransId="{99E981BF-447F-D84B-B5B3-AE252EE817EC}" sibTransId="{93B21DDF-1DD5-A34F-B7F3-9C6A70AB825E}"/>
    <dgm:cxn modelId="{7DD37A6F-9CF3-224B-B900-AA6002CECB0D}" srcId="{D645705F-B58D-194E-8CBB-38B2E53FB692}" destId="{59A780F5-B57F-284D-B988-595C4B1AB2F7}" srcOrd="0" destOrd="0" parTransId="{6055440A-035E-7A42-8DCC-CC7B0910F235}" sibTransId="{5AC04A53-B0DC-9F48-8A0C-EC966597B3C0}"/>
    <dgm:cxn modelId="{A9014D95-B4DC-E14A-8158-74FC248A58EF}" srcId="{D702E23F-608D-FE45-B33F-08A985D2B7A5}" destId="{3A3AA0FB-E12A-E046-BC75-D48E901D0C77}" srcOrd="2" destOrd="0" parTransId="{AD7BF1C3-E019-DB4A-B716-6695F919D677}" sibTransId="{6409A08D-D8C1-5B4F-AA9F-470EB85AC06E}"/>
    <dgm:cxn modelId="{2DC14FB9-173A-1E4B-AAEE-7B7DA4FDDEDF}" srcId="{D702E23F-608D-FE45-B33F-08A985D2B7A5}" destId="{D645705F-B58D-194E-8CBB-38B2E53FB692}" srcOrd="1" destOrd="0" parTransId="{E850C854-9689-C148-AF90-ABB393A75E86}" sibTransId="{25EE613B-7771-FE41-ADBA-0627AAB23BAD}"/>
    <dgm:cxn modelId="{446FF2C4-C69C-4040-84AB-894CC5739722}" type="presOf" srcId="{59A780F5-B57F-284D-B988-595C4B1AB2F7}" destId="{F1F29B53-A5C1-0B44-B73D-61E82C2F2235}" srcOrd="0" destOrd="0" presId="urn:microsoft.com/office/officeart/2005/8/layout/hList1"/>
    <dgm:cxn modelId="{F8669ED8-574C-7D49-9A31-C96E5BF8FAD0}" srcId="{6457B5DE-A0AD-1B41-BC4C-6DA8583C44F7}" destId="{EB23523F-AB86-B046-A619-28BB70495863}" srcOrd="0" destOrd="0" parTransId="{ADBAF646-ED5F-3D4D-9D7F-690D598EB4A3}" sibTransId="{AD443FC6-6315-EF49-BE89-290400FC1D91}"/>
    <dgm:cxn modelId="{E26134EC-95AF-8541-BC3E-92A1CBBD70ED}" type="presOf" srcId="{6457B5DE-A0AD-1B41-BC4C-6DA8583C44F7}" destId="{E9E2D631-D491-BE46-BD1F-A01E68578C71}" srcOrd="0" destOrd="0" presId="urn:microsoft.com/office/officeart/2005/8/layout/hList1"/>
    <dgm:cxn modelId="{8B079BF0-CE22-6345-AA38-24DADF692324}" type="presOf" srcId="{D702E23F-608D-FE45-B33F-08A985D2B7A5}" destId="{2F35A0F9-373B-6B4A-91AA-C3A055356BF1}" srcOrd="0" destOrd="0" presId="urn:microsoft.com/office/officeart/2005/8/layout/hList1"/>
    <dgm:cxn modelId="{986DE8D3-4A74-934A-A022-3C56158BCA5F}" type="presParOf" srcId="{2F35A0F9-373B-6B4A-91AA-C3A055356BF1}" destId="{FB45A40B-DA73-EA41-BBA6-F3155D7F48C4}" srcOrd="0" destOrd="0" presId="urn:microsoft.com/office/officeart/2005/8/layout/hList1"/>
    <dgm:cxn modelId="{1A462B7C-F616-F34D-9BF6-B9B58483895D}" type="presParOf" srcId="{FB45A40B-DA73-EA41-BBA6-F3155D7F48C4}" destId="{E9E2D631-D491-BE46-BD1F-A01E68578C71}" srcOrd="0" destOrd="0" presId="urn:microsoft.com/office/officeart/2005/8/layout/hList1"/>
    <dgm:cxn modelId="{0EB289F8-DFE8-C248-AB11-2696585D9346}" type="presParOf" srcId="{FB45A40B-DA73-EA41-BBA6-F3155D7F48C4}" destId="{D5A8714F-007B-C648-8EF2-74AFBB06B96A}" srcOrd="1" destOrd="0" presId="urn:microsoft.com/office/officeart/2005/8/layout/hList1"/>
    <dgm:cxn modelId="{1F09E0AB-854E-8F41-B8D4-BE4A087C3E6D}" type="presParOf" srcId="{2F35A0F9-373B-6B4A-91AA-C3A055356BF1}" destId="{C7E75F0E-BB13-CC4E-AEC6-CC66DEE3B9FE}" srcOrd="1" destOrd="0" presId="urn:microsoft.com/office/officeart/2005/8/layout/hList1"/>
    <dgm:cxn modelId="{45F049C2-EA80-3342-9E17-852957A6B8F4}" type="presParOf" srcId="{2F35A0F9-373B-6B4A-91AA-C3A055356BF1}" destId="{BB31DD13-BDD8-1545-BDBA-F24099FAD443}" srcOrd="2" destOrd="0" presId="urn:microsoft.com/office/officeart/2005/8/layout/hList1"/>
    <dgm:cxn modelId="{4E6D44C7-E7D9-8A46-AD6E-69C2A289E026}" type="presParOf" srcId="{BB31DD13-BDD8-1545-BDBA-F24099FAD443}" destId="{0CFDD2E7-1F3E-BE4D-931F-E420D055444A}" srcOrd="0" destOrd="0" presId="urn:microsoft.com/office/officeart/2005/8/layout/hList1"/>
    <dgm:cxn modelId="{C35F9434-EB13-804F-9977-6B4EA06FEE5C}" type="presParOf" srcId="{BB31DD13-BDD8-1545-BDBA-F24099FAD443}" destId="{F1F29B53-A5C1-0B44-B73D-61E82C2F2235}" srcOrd="1" destOrd="0" presId="urn:microsoft.com/office/officeart/2005/8/layout/hList1"/>
    <dgm:cxn modelId="{F6AA53C5-4D5B-4B4D-9A70-51BAA00E4ABC}" type="presParOf" srcId="{2F35A0F9-373B-6B4A-91AA-C3A055356BF1}" destId="{F744B0E0-DB10-6646-8BC2-534B267CCBFC}" srcOrd="3" destOrd="0" presId="urn:microsoft.com/office/officeart/2005/8/layout/hList1"/>
    <dgm:cxn modelId="{FB2B72EF-21FD-274E-A7EC-07BF08DDE8CB}" type="presParOf" srcId="{2F35A0F9-373B-6B4A-91AA-C3A055356BF1}" destId="{02786536-ED43-854F-8E8D-1BCB0BD3E13D}" srcOrd="4" destOrd="0" presId="urn:microsoft.com/office/officeart/2005/8/layout/hList1"/>
    <dgm:cxn modelId="{E2A2BFAC-7466-7043-A657-88DD718DDCDC}" type="presParOf" srcId="{02786536-ED43-854F-8E8D-1BCB0BD3E13D}" destId="{75753560-0224-5644-9E94-6B47A5363BAA}" srcOrd="0" destOrd="0" presId="urn:microsoft.com/office/officeart/2005/8/layout/hList1"/>
    <dgm:cxn modelId="{2432EFD5-F4A3-D34F-AF27-9173156D5043}" type="presParOf" srcId="{02786536-ED43-854F-8E8D-1BCB0BD3E13D}" destId="{5C234CF4-ADB5-594B-8B78-FEB9952D923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2D631-D491-BE46-BD1F-A01E68578C71}">
      <dsp:nvSpPr>
        <dsp:cNvPr id="0" name=""/>
        <dsp:cNvSpPr/>
      </dsp:nvSpPr>
      <dsp:spPr>
        <a:xfrm>
          <a:off x="3096" y="41883"/>
          <a:ext cx="3018870" cy="120754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Chemistry baseline</a:t>
          </a:r>
        </a:p>
      </dsp:txBody>
      <dsp:txXfrm>
        <a:off x="3096" y="41883"/>
        <a:ext cx="3018870" cy="1207548"/>
      </dsp:txXfrm>
    </dsp:sp>
    <dsp:sp modelId="{D5A8714F-007B-C648-8EF2-74AFBB06B96A}">
      <dsp:nvSpPr>
        <dsp:cNvPr id="0" name=""/>
        <dsp:cNvSpPr/>
      </dsp:nvSpPr>
      <dsp:spPr>
        <a:xfrm>
          <a:off x="3096" y="1249431"/>
          <a:ext cx="3018870" cy="285480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How accurately does the model predict the average property of each chemistry, irrespective of architecture?</a:t>
          </a:r>
        </a:p>
      </dsp:txBody>
      <dsp:txXfrm>
        <a:off x="3096" y="1249431"/>
        <a:ext cx="3018870" cy="2854800"/>
      </dsp:txXfrm>
    </dsp:sp>
    <dsp:sp modelId="{0CFDD2E7-1F3E-BE4D-931F-E420D055444A}">
      <dsp:nvSpPr>
        <dsp:cNvPr id="0" name=""/>
        <dsp:cNvSpPr/>
      </dsp:nvSpPr>
      <dsp:spPr>
        <a:xfrm>
          <a:off x="3444608" y="41883"/>
          <a:ext cx="3018870" cy="1207548"/>
        </a:xfrm>
        <a:prstGeom prst="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Architecture recovery</a:t>
          </a:r>
        </a:p>
      </dsp:txBody>
      <dsp:txXfrm>
        <a:off x="3444608" y="41883"/>
        <a:ext cx="3018870" cy="1207548"/>
      </dsp:txXfrm>
    </dsp:sp>
    <dsp:sp modelId="{F1F29B53-A5C1-0B44-B73D-61E82C2F2235}">
      <dsp:nvSpPr>
        <dsp:cNvPr id="0" name=""/>
        <dsp:cNvSpPr/>
      </dsp:nvSpPr>
      <dsp:spPr>
        <a:xfrm>
          <a:off x="3444608" y="1249431"/>
          <a:ext cx="3018870" cy="2854800"/>
        </a:xfrm>
        <a:prstGeom prst="rect">
          <a:avLst/>
        </a:prstGeom>
        <a:solidFill>
          <a:schemeClr val="accent4">
            <a:tint val="40000"/>
            <a:alpha val="90000"/>
            <a:hueOff val="-1972853"/>
            <a:satOff val="11079"/>
            <a:lumOff val="704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1972853"/>
              <a:satOff val="11079"/>
              <a:lumOff val="7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How well the model recovers architecture-induced deviations after removing the chemistry baseline?</a:t>
          </a:r>
        </a:p>
      </dsp:txBody>
      <dsp:txXfrm>
        <a:off x="3444608" y="1249431"/>
        <a:ext cx="3018870" cy="2854800"/>
      </dsp:txXfrm>
    </dsp:sp>
    <dsp:sp modelId="{75753560-0224-5644-9E94-6B47A5363BAA}">
      <dsp:nvSpPr>
        <dsp:cNvPr id="0" name=""/>
        <dsp:cNvSpPr/>
      </dsp:nvSpPr>
      <dsp:spPr>
        <a:xfrm>
          <a:off x="6886121" y="41883"/>
          <a:ext cx="3018870" cy="1207548"/>
        </a:xfrm>
        <a:prstGeom prst="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Rank recovery</a:t>
          </a:r>
        </a:p>
      </dsp:txBody>
      <dsp:txXfrm>
        <a:off x="6886121" y="41883"/>
        <a:ext cx="3018870" cy="1207548"/>
      </dsp:txXfrm>
    </dsp:sp>
    <dsp:sp modelId="{5C234CF4-ADB5-594B-8B78-FEB9952D9233}">
      <dsp:nvSpPr>
        <dsp:cNvPr id="0" name=""/>
        <dsp:cNvSpPr/>
      </dsp:nvSpPr>
      <dsp:spPr>
        <a:xfrm>
          <a:off x="6886121" y="1249431"/>
          <a:ext cx="3018870" cy="2854800"/>
        </a:xfrm>
        <a:prstGeom prst="rect">
          <a:avLst/>
        </a:prstGeom>
        <a:solidFill>
          <a:schemeClr val="accent4">
            <a:tint val="40000"/>
            <a:alpha val="90000"/>
            <a:hueOff val="-3945706"/>
            <a:satOff val="22157"/>
            <a:lumOff val="1408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3945706"/>
              <a:satOff val="22157"/>
              <a:lumOff val="14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Did the model correctly rank the architectures within the same chemistry?</a:t>
          </a:r>
        </a:p>
      </dsp:txBody>
      <dsp:txXfrm>
        <a:off x="6886121" y="1249431"/>
        <a:ext cx="3018870" cy="285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3410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Framing: this is not 'here are better metrics'. It is 'the metric everyone reports cannot answer the question everyone is asking', and here is the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compares </a:t>
            </a:r>
            <a:r>
              <a:rPr lang="en-US" b="1" dirty="0"/>
              <a:t>every pair of architectures</a:t>
            </a:r>
            <a:r>
              <a:rPr lang="en-US" dirty="0"/>
              <a:t> within a chemistry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237B8-6C41-B44E-9901-41F28DBEFC8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58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6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5.png"/><Relationship Id="rId4" Type="http://schemas.openxmlformats.org/officeDocument/2006/relationships/diagramData" Target="../diagrams/data1.xm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0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PAPER 1 — PROPOSED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102412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Cambria"/>
              </a:rPr>
              <a:t>Current evaluation cannot see</a:t>
            </a:r>
            <a:br/>
            <a:r>
              <a:rPr sz="3300" b="1" i="0">
                <a:solidFill>
                  <a:srgbClr val="FFFFFF"/>
                </a:solidFill>
                <a:latin typeface="Cambria"/>
              </a:rPr>
              <a:t>the property the field claims to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521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1">
                <a:solidFill>
                  <a:srgbClr val="77868E"/>
                </a:solidFill>
                <a:latin typeface="Calibri"/>
              </a:rPr>
              <a:t>No new compute required to write this paper.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1A242A"/>
                </a:solidFill>
                <a:latin typeface="Cambria"/>
              </a:rPr>
              <a:t>The problem, and the six things needed to fix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77868E"/>
                </a:solidFill>
                <a:latin typeface="Calibri"/>
              </a:rPr>
              <a:t>Chain architecture is what we claim to model. It is ~1% of the variance in the target.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3602736" cy="1417320"/>
          </a:xfrm>
          <a:prstGeom prst="roundRect">
            <a:avLst>
              <a:gd name="adj" fmla="val 50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58952" y="1929384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441448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50" b="1" i="0">
                <a:solidFill>
                  <a:srgbClr val="1A242A"/>
                </a:solidFill>
                <a:latin typeface="Cambria"/>
              </a:rPr>
              <a:t>Variance decomposition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Establishes that the signal is invisible to the standard metric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8536" y="1691640"/>
            <a:ext cx="3602736" cy="1417320"/>
          </a:xfrm>
          <a:prstGeom prst="roundRect">
            <a:avLst>
              <a:gd name="adj" fmla="val 50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544568" y="1929384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2441448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50" b="1" i="0">
                <a:solidFill>
                  <a:srgbClr val="1A242A"/>
                </a:solidFill>
                <a:latin typeface="Cambria"/>
              </a:rPr>
              <a:t>Two-axis metric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Separates chemistry placement from architecture recovery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4151" y="1691640"/>
            <a:ext cx="3602736" cy="1417320"/>
          </a:xfrm>
          <a:prstGeom prst="roundRect">
            <a:avLst>
              <a:gd name="adj" fmla="val 50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330183" y="1929384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0183" y="2441448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50" b="1" i="0">
                <a:solidFill>
                  <a:srgbClr val="1A242A"/>
                </a:solidFill>
                <a:latin typeface="Cambria"/>
              </a:rPr>
              <a:t>Null floor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The best achievable without the thing being tested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3602736" cy="1417320"/>
          </a:xfrm>
          <a:prstGeom prst="roundRect">
            <a:avLst>
              <a:gd name="adj" fmla="val 50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58952" y="3529584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041648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50" b="1" i="0">
                <a:solidFill>
                  <a:srgbClr val="1A242A"/>
                </a:solidFill>
                <a:latin typeface="Cambria"/>
              </a:rPr>
              <a:t>Split design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Two chemistry-extrapolation regimes, folds not exchangeable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8536" y="3291840"/>
            <a:ext cx="3602736" cy="1417320"/>
          </a:xfrm>
          <a:prstGeom prst="roundRect">
            <a:avLst>
              <a:gd name="adj" fmla="val 50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44568" y="3529584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4041648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50" b="1" i="0">
                <a:solidFill>
                  <a:srgbClr val="1A242A"/>
                </a:solidFill>
                <a:latin typeface="Cambria"/>
              </a:rPr>
              <a:t>Noise floor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What difference is measurable at 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1" y="3291840"/>
            <a:ext cx="3602736" cy="1417320"/>
          </a:xfrm>
          <a:prstGeom prst="roundRect">
            <a:avLst>
              <a:gd name="adj" fmla="val 50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330183" y="3529584"/>
            <a:ext cx="384048" cy="384048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4041648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50" b="1" i="0">
                <a:solidFill>
                  <a:srgbClr val="1A242A"/>
                </a:solidFill>
                <a:latin typeface="Cambria"/>
              </a:rPr>
              <a:t>The demonstration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3D4C54"/>
                </a:solidFill>
                <a:latin typeface="Calibri"/>
              </a:rPr>
              <a:t>Two metrics, same predictions, opposite conclusions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956048"/>
            <a:ext cx="11183112" cy="1051560"/>
          </a:xfrm>
          <a:prstGeom prst="roundRect">
            <a:avLst>
              <a:gd name="adj" fmla="val 5000"/>
            </a:avLst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138928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mbria"/>
              </a:rPr>
              <a:t>Together they answer a question the field currently cannot: is a representation better, or does it merely score higher?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02336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2500" b="1" i="0">
                <a:solidFill>
                  <a:srgbClr val="1A242A"/>
                </a:solidFill>
                <a:latin typeface="Cambria"/>
              </a:rPr>
              <a:t>Variance decomposition — the signal is 1% of the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024128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 i="0">
                <a:solidFill>
                  <a:srgbClr val="77868E"/>
                </a:solidFill>
                <a:latin typeface="Calibri"/>
              </a:rPr>
              <a:t>Why the standard metric cannot see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4434840" cy="2148840"/>
          </a:xfrm>
          <a:prstGeom prst="roundRect">
            <a:avLst>
              <a:gd name="adj" fmla="val 50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783080"/>
            <a:ext cx="3922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000" b="1" i="0">
                <a:solidFill>
                  <a:srgbClr val="028090"/>
                </a:solidFill>
                <a:latin typeface="Calibri"/>
              </a:rPr>
              <a:t>WHAT IS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30552"/>
            <a:ext cx="392277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Partition target variance into the part explained by monomer identity and composition, and the part attributable to chain architecture at fixed (A, B, fracA).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886200"/>
            <a:ext cx="4434840" cy="2148840"/>
          </a:xfrm>
          <a:prstGeom prst="roundRect">
            <a:avLst>
              <a:gd name="adj" fmla="val 50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4069080"/>
            <a:ext cx="39319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000" b="1" i="0">
                <a:solidFill>
                  <a:srgbClr val="028090"/>
                </a:solidFill>
                <a:latin typeface="Calibri"/>
              </a:rPr>
              <a:t>Result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1A242A"/>
                </a:solidFill>
                <a:latin typeface="Calibri"/>
              </a:rPr>
              <a:t>Architecture is 0.98% (EA) and 1.46% (IP) of total variance —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1A242A"/>
                </a:solidFill>
                <a:latin typeface="Calibri"/>
              </a:rPr>
              <a:t>but 51–60% of what remains after composition is accounted for.</a:t>
            </a:r>
          </a:p>
          <a:p>
            <a:pPr>
              <a:spcAft>
                <a:spcPts val="70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So a model can score 0.98 R² while being blind to architecture. Reporting overall R² cannot distinguish the two.</a:t>
            </a:r>
          </a:p>
        </p:txBody>
      </p:sp>
      <p:pic>
        <p:nvPicPr>
          <p:cNvPr id="10" name="Picture 9" descr="fig2_variance_by_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737360"/>
            <a:ext cx="6446520" cy="32591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57800" y="5074920"/>
            <a:ext cx="6446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0" i="1" dirty="0">
                <a:solidFill>
                  <a:srgbClr val="77868E"/>
                </a:solidFill>
                <a:latin typeface="Calibri"/>
              </a:rPr>
              <a:t>fig2_variance_by_axis · corroborated independently four months apart (_</a:t>
            </a:r>
            <a:r>
              <a:rPr sz="950" b="0" i="1" dirty="0" err="1">
                <a:solidFill>
                  <a:srgbClr val="77868E"/>
                </a:solidFill>
                <a:latin typeface="Calibri"/>
              </a:rPr>
              <a:t>dataset_design_audit.md</a:t>
            </a:r>
            <a:r>
              <a:rPr sz="950" b="0" i="1" dirty="0">
                <a:solidFill>
                  <a:srgbClr val="77868E"/>
                </a:solidFill>
                <a:latin typeface="Calibri"/>
              </a:rPr>
              <a:t>, and the May architecture diagnostic)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0" i="1">
                <a:solidFill>
                  <a:srgbClr val="77868E"/>
                </a:solidFill>
                <a:latin typeface="Calibri"/>
              </a:rPr>
              <a:t>This is the premise for everything that follows: the quantity of interest is buried under a 90% chemistry term.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B959F-F09A-4D85-F6AA-9B2718DFD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011998-D861-4D46-5388-BA08852236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0098" y="1468638"/>
                <a:ext cx="11474885" cy="589049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cy-GB" sz="2000" dirty="0"/>
                  <a:t>Matched group g = fixed (monomer_A, monomer_B, f_A, f_B), architecture excluded, ≥2 architectures.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cy-GB" sz="2000" dirty="0"/>
                  <a:t> = true group mean,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cy-GB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cy-GB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cy-GB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cy-GB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cy-GB" sz="20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e>
                        </m:acc>
                      </m:e>
                    </m:acc>
                  </m:oMath>
                </a14:m>
                <a:r>
                  <a:rPr lang="cy-GB" sz="2000" dirty="0"/>
                  <a:t>= predicted group mean.</a:t>
                </a:r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011998-D861-4D46-5388-BA08852236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0098" y="1468638"/>
                <a:ext cx="11474885" cy="589049"/>
              </a:xfrm>
              <a:blipFill>
                <a:blip r:embed="rId3"/>
                <a:stretch>
                  <a:fillRect l="-331" t="-10417"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0D26CA92-B2CA-E7CD-5E5C-CB951838AAF0}"/>
              </a:ext>
            </a:extLst>
          </p:cNvPr>
          <p:cNvGraphicFramePr/>
          <p:nvPr/>
        </p:nvGraphicFramePr>
        <p:xfrm>
          <a:off x="1141956" y="2278369"/>
          <a:ext cx="9908088" cy="41461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6E77A8-65F7-33A3-87B6-187956A34587}"/>
                  </a:ext>
                </a:extLst>
              </p:cNvPr>
              <p:cNvSpPr txBox="1"/>
              <p:nvPr/>
            </p:nvSpPr>
            <p:spPr>
              <a:xfrm>
                <a:off x="1141953" y="5472790"/>
                <a:ext cx="2789673" cy="6603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𝑔𝑟𝑜𝑢𝑝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ac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6E77A8-65F7-33A3-87B6-187956A34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953" y="5472790"/>
                <a:ext cx="2789673" cy="660309"/>
              </a:xfrm>
              <a:prstGeom prst="rect">
                <a:avLst/>
              </a:prstGeom>
              <a:blipFill>
                <a:blip r:embed="rId9"/>
                <a:stretch>
                  <a:fillRect l="-452" t="-71154" b="-98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37790BF8-8334-E973-9658-3EAFC44FE492}"/>
              </a:ext>
            </a:extLst>
          </p:cNvPr>
          <p:cNvGrpSpPr/>
          <p:nvPr/>
        </p:nvGrpSpPr>
        <p:grpSpPr>
          <a:xfrm>
            <a:off x="5339925" y="5200528"/>
            <a:ext cx="1512149" cy="873380"/>
            <a:chOff x="6287540" y="7725961"/>
            <a:chExt cx="1512149" cy="8733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F305A3C-3DD1-1F28-44B7-D2C1E81D8499}"/>
                    </a:ext>
                  </a:extLst>
                </p:cNvPr>
                <p:cNvSpPr txBox="1"/>
                <p:nvPr/>
              </p:nvSpPr>
              <p:spPr>
                <a:xfrm>
                  <a:off x="6287540" y="7725961"/>
                  <a:ext cx="1512147" cy="432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cy-GB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y-GB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a14:m>
                  <a:r>
                    <a:rPr lang="cy-GB" sz="2000" dirty="0"/>
                    <a:t> 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F305A3C-3DD1-1F28-44B7-D2C1E81D84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7540" y="7725961"/>
                  <a:ext cx="1512147" cy="432875"/>
                </a:xfrm>
                <a:prstGeom prst="rect">
                  <a:avLst/>
                </a:prstGeom>
                <a:blipFill>
                  <a:blip r:embed="rId10"/>
                  <a:stretch>
                    <a:fillRect b="-2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A262C96-2097-AFA8-8A7A-CE21E6B9A225}"/>
                    </a:ext>
                  </a:extLst>
                </p:cNvPr>
                <p:cNvSpPr txBox="1"/>
                <p:nvPr/>
              </p:nvSpPr>
              <p:spPr>
                <a:xfrm>
                  <a:off x="6287542" y="8158836"/>
                  <a:ext cx="1512147" cy="4405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cy-GB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y-GB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acc>
                            <m:accPr>
                              <m:chr m:val="̂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cy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̂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cy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acc>
                        </m:e>
                        <m:sub>
                          <m:r>
                            <a:rPr lang="cy-GB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a14:m>
                  <a:r>
                    <a:rPr lang="cy-GB" sz="2000" dirty="0"/>
                    <a:t> 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A262C96-2097-AFA8-8A7A-CE21E6B9A2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7542" y="8158836"/>
                  <a:ext cx="1512147" cy="440505"/>
                </a:xfrm>
                <a:prstGeom prst="rect">
                  <a:avLst/>
                </a:prstGeom>
                <a:blipFill>
                  <a:blip r:embed="rId11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44EC841-7F00-8518-46AD-4D7E6B36B67E}"/>
                  </a:ext>
                </a:extLst>
              </p:cNvPr>
              <p:cNvSpPr txBox="1"/>
              <p:nvPr/>
            </p:nvSpPr>
            <p:spPr>
              <a:xfrm>
                <a:off x="8461330" y="5472790"/>
                <a:ext cx="2200089" cy="5633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𝑐𝑜𝑟𝑟𝑒𝑐𝑡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𝑐𝑜𝑚𝑝𝑎𝑟𝑖𝑠𝑜𝑛𝑠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𝑐𝑜𝑚𝑝𝑎𝑟𝑖𝑠𝑜𝑛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44EC841-7F00-8518-46AD-4D7E6B36B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1330" y="5472790"/>
                <a:ext cx="2200089" cy="563359"/>
              </a:xfrm>
              <a:prstGeom prst="rect">
                <a:avLst/>
              </a:prstGeom>
              <a:blipFill>
                <a:blip r:embed="rId12"/>
                <a:stretch>
                  <a:fillRect l="-2299" t="-11111" r="-2874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3981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02336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2500" b="1" i="0">
                <a:solidFill>
                  <a:srgbClr val="1A242A"/>
                </a:solidFill>
                <a:latin typeface="Cambria"/>
              </a:rPr>
              <a:t>Two-axis metric — separate placement from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024128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 i="0">
                <a:solidFill>
                  <a:srgbClr val="77868E"/>
                </a:solidFill>
                <a:latin typeface="Calibri"/>
              </a:rPr>
              <a:t>One number per axis, always reported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4434840" cy="2377440"/>
          </a:xfrm>
          <a:prstGeom prst="roundRect">
            <a:avLst>
              <a:gd name="adj" fmla="val 50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783080"/>
            <a:ext cx="3922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000" b="1" i="0">
                <a:solidFill>
                  <a:srgbClr val="028090"/>
                </a:solidFill>
                <a:latin typeface="Calibri"/>
              </a:rPr>
              <a:t>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30552"/>
            <a:ext cx="3922775" cy="1708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 i="0" dirty="0">
                <a:solidFill>
                  <a:srgbClr val="3D4C54"/>
                </a:solidFill>
                <a:latin typeface="Calibri"/>
              </a:rPr>
              <a:t>Group  g = (monomer A, monomer B, </a:t>
            </a:r>
            <a:r>
              <a:rPr sz="1200" b="0" i="0" dirty="0" err="1">
                <a:solidFill>
                  <a:srgbClr val="3D4C54"/>
                </a:solidFill>
                <a:latin typeface="Calibri"/>
              </a:rPr>
              <a:t>fracA</a:t>
            </a:r>
            <a:r>
              <a:rPr sz="1200" b="0" i="0" dirty="0">
                <a:solidFill>
                  <a:srgbClr val="3D4C54"/>
                </a:solidFill>
                <a:latin typeface="Calibri"/>
              </a:rPr>
              <a:t>).</a:t>
            </a:r>
          </a:p>
          <a:p>
            <a:pPr>
              <a:spcAft>
                <a:spcPts val="800"/>
              </a:spcAft>
            </a:pPr>
            <a:r>
              <a:rPr sz="1250" b="1" i="0" dirty="0">
                <a:solidFill>
                  <a:srgbClr val="1A242A"/>
                </a:solidFill>
                <a:latin typeface="Courier New"/>
              </a:rPr>
              <a:t>group-mean R²  —  R² of the per-group means.</a:t>
            </a:r>
          </a:p>
          <a:p>
            <a:pPr>
              <a:spcAft>
                <a:spcPts val="700"/>
              </a:spcAft>
            </a:pPr>
            <a:r>
              <a:rPr sz="1200" b="0" i="0" dirty="0">
                <a:solidFill>
                  <a:srgbClr val="3D4C54"/>
                </a:solidFill>
                <a:latin typeface="Calibri"/>
              </a:rPr>
              <a:t>Can the model put a chemistry in the right place?</a:t>
            </a:r>
          </a:p>
          <a:p>
            <a:pPr>
              <a:spcAft>
                <a:spcPts val="800"/>
              </a:spcAft>
            </a:pPr>
            <a:r>
              <a:rPr sz="1250" b="1" i="0" dirty="0">
                <a:solidFill>
                  <a:srgbClr val="1A242A"/>
                </a:solidFill>
                <a:latin typeface="Courier New"/>
              </a:rPr>
              <a:t>ΔR²  —  R² of the within-group </a:t>
            </a:r>
            <a:r>
              <a:rPr sz="1250" b="1" dirty="0" err="1">
                <a:solidFill>
                  <a:srgbClr val="1A24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deviations,</a:t>
            </a:r>
            <a:r>
              <a:rPr sz="1200" b="1" dirty="0" err="1">
                <a:solidFill>
                  <a:srgbClr val="3D4C5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sz="1200" b="1" dirty="0">
                <a:solidFill>
                  <a:srgbClr val="3D4C5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− </a:t>
            </a:r>
            <a:r>
              <a:rPr sz="1200" b="1" dirty="0" err="1">
                <a:solidFill>
                  <a:srgbClr val="3D4C5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ȳ_g</a:t>
            </a:r>
            <a:r>
              <a:rPr sz="1200" b="1" dirty="0">
                <a:solidFill>
                  <a:srgbClr val="3D4C5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endParaRPr lang="en-US" sz="1200" b="1" dirty="0">
              <a:solidFill>
                <a:srgbClr val="3D4C5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800"/>
              </a:spcAft>
            </a:pPr>
            <a:r>
              <a:rPr sz="1200" b="0" i="0" dirty="0">
                <a:solidFill>
                  <a:srgbClr val="3D4C54"/>
                </a:solidFill>
                <a:latin typeface="Calibri"/>
              </a:rPr>
              <a:t>Can it rank architectures inside a group?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114800"/>
            <a:ext cx="4434840" cy="1920240"/>
          </a:xfrm>
          <a:prstGeom prst="roundRect">
            <a:avLst>
              <a:gd name="adj" fmla="val 50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4297680"/>
            <a:ext cx="393192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000" b="1" i="0">
                <a:solidFill>
                  <a:srgbClr val="028090"/>
                </a:solidFill>
                <a:latin typeface="Calibri"/>
              </a:rPr>
              <a:t>Why both</a:t>
            </a:r>
          </a:p>
          <a:p>
            <a:pPr>
              <a:spcAft>
                <a:spcPts val="70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The chemistry term cancels inside a group, so ΔR² isolates architecture. Reported alone, either axis is misleading — a model can win one and lose the other, which is exactly what we observe.</a:t>
            </a:r>
          </a:p>
        </p:txBody>
      </p:sp>
      <p:pic>
        <p:nvPicPr>
          <p:cNvPr id="10" name="Picture 9" descr="fig_ab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011680"/>
            <a:ext cx="6446520" cy="29139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57800" y="5120640"/>
            <a:ext cx="6446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0" i="1" dirty="0" err="1">
                <a:solidFill>
                  <a:srgbClr val="77868E"/>
                </a:solidFill>
                <a:latin typeface="Calibri"/>
              </a:rPr>
              <a:t>fig_ab_comparison</a:t>
            </a:r>
            <a:r>
              <a:rPr sz="950" b="0" i="1" dirty="0">
                <a:solidFill>
                  <a:srgbClr val="77868E"/>
                </a:solidFill>
                <a:latin typeface="Calibri"/>
              </a:rPr>
              <a:t> · both axes, three evaluation regimes, five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0" i="1" dirty="0">
                <a:solidFill>
                  <a:srgbClr val="77868E"/>
                </a:solidFill>
                <a:latin typeface="Calibri"/>
              </a:rPr>
              <a:t>A third quantity, pairwise ordering accuracy, is also reported — it is rank-based and less sensitive to scale.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02336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2500" b="1" i="0">
                <a:solidFill>
                  <a:srgbClr val="1A242A"/>
                </a:solidFill>
                <a:latin typeface="Cambria"/>
              </a:rPr>
              <a:t>Null floor — the best achievable without the thing being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024128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 i="0">
                <a:solidFill>
                  <a:srgbClr val="77868E"/>
                </a:solidFill>
                <a:latin typeface="Calibri"/>
              </a:rPr>
              <a:t>The component I would lead the paper with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4206240" cy="2286000"/>
          </a:xfrm>
          <a:prstGeom prst="roundRect">
            <a:avLst>
              <a:gd name="adj" fmla="val 50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783080"/>
            <a:ext cx="36941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000" b="1" i="0">
                <a:solidFill>
                  <a:srgbClr val="028090"/>
                </a:solidFill>
                <a:latin typeface="Calibri"/>
              </a:rPr>
              <a:t>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30552"/>
            <a:ext cx="3694175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An A-blind (or B-blind) group-mean lookup table. No parameters, no fitting, and it never sees the held-out monomer.</a:t>
            </a:r>
          </a:p>
          <a:p>
            <a:pPr>
              <a:spcAft>
                <a:spcPts val="800"/>
              </a:spcAft>
            </a:pPr>
            <a:r>
              <a:rPr sz="1250" b="1" i="0">
                <a:solidFill>
                  <a:srgbClr val="1A242A"/>
                </a:solidFill>
                <a:latin typeface="Courier New"/>
              </a:rPr>
              <a:t>skill = (R²_model − R²_null) / (1 − R²_null)</a:t>
            </a:r>
          </a:p>
          <a:p>
            <a:pPr>
              <a:spcAft>
                <a:spcPts val="70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0 = no better than knowing nothing about the held-out chemistry. 1 = perfect. Scale-free, so comparable across folds and targets.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023360"/>
            <a:ext cx="4206240" cy="2011680"/>
          </a:xfrm>
          <a:prstGeom prst="roundRect">
            <a:avLst>
              <a:gd name="adj" fmla="val 50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4206240"/>
            <a:ext cx="370332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000" b="1" i="0">
                <a:solidFill>
                  <a:srgbClr val="B85042"/>
                </a:solidFill>
                <a:latin typeface="Calibri"/>
              </a:rPr>
              <a:t>Result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1A242A"/>
                </a:solidFill>
                <a:latin typeface="Calibri"/>
              </a:rPr>
              <a:t>On the A split, EA: the null reaches median group-mean R² 0.676 — and on one fold it beats the trained model, 0.961 vs 0.922.</a:t>
            </a:r>
          </a:p>
          <a:p>
            <a:pPr>
              <a:spcAft>
                <a:spcPts val="70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The same null on IP scores −0.034. The EA metric on this split is near-degenerate, and you cannot tell without a null.</a:t>
            </a:r>
          </a:p>
        </p:txBody>
      </p:sp>
      <p:pic>
        <p:nvPicPr>
          <p:cNvPr id="10" name="Picture 9" descr="fig_r1_skill_vs_n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27632"/>
            <a:ext cx="6675120" cy="46217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5852160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0" i="1">
                <a:solidFill>
                  <a:srgbClr val="77868E"/>
                </a:solidFill>
                <a:latin typeface="Calibri"/>
              </a:rPr>
              <a:t>fig_r1_skill_vs_null · skill collapses to 0.32–0.55 on folds 2–4 — those models are barely better than knowing nothing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0" i="1">
                <a:solidFill>
                  <a:srgbClr val="77868E"/>
                </a:solidFill>
                <a:latin typeface="Calibri"/>
              </a:rPr>
              <a:t>Nobody in this literature reports a null floor. This is a finding about the field, not about our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02336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2500" b="1" i="0">
                <a:solidFill>
                  <a:srgbClr val="1A242A"/>
                </a:solidFill>
                <a:latin typeface="Cambria"/>
              </a:rPr>
              <a:t>Split design — two extrapolation regimes, folds not exchangeable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024128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 i="0">
                <a:solidFill>
                  <a:srgbClr val="77868E"/>
                </a:solidFill>
                <a:latin typeface="Calibri"/>
              </a:rPr>
              <a:t>And an honest account of what each split can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4434840" cy="2148840"/>
          </a:xfrm>
          <a:prstGeom prst="roundRect">
            <a:avLst>
              <a:gd name="adj" fmla="val 50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783080"/>
            <a:ext cx="3922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000" b="1" i="0">
                <a:solidFill>
                  <a:srgbClr val="028090"/>
                </a:solidFill>
                <a:latin typeface="Calibri"/>
              </a:rPr>
              <a:t>THE TWO SPLITS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30552"/>
            <a:ext cx="392277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R1 · monomer-A-held-out — 9 folds, one A monomer held out each. Reproduces the original paper's design.</a:t>
            </a:r>
          </a:p>
          <a:p>
            <a:pPr>
              <a:spcAft>
                <a:spcPts val="70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R3 · monomer-B-held-out, scaffold-clustered — 9 folds over 682 B monomers, capacity-balanced Murcko scaffold packing.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886200"/>
            <a:ext cx="4434840" cy="2148840"/>
          </a:xfrm>
          <a:prstGeom prst="roundRect">
            <a:avLst>
              <a:gd name="adj" fmla="val 50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4069080"/>
            <a:ext cx="39319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000" b="1" i="0">
                <a:solidFill>
                  <a:srgbClr val="B85042"/>
                </a:solidFill>
                <a:latin typeface="Calibri"/>
              </a:rPr>
              <a:t>The finding that forces the fold grouping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1A242A"/>
                </a:solidFill>
                <a:latin typeface="Calibri"/>
              </a:rPr>
              <a:t>112 Murcko scaffolds, the largest two covering 62.5% of all B monomers.</a:t>
            </a:r>
          </a:p>
          <a:p>
            <a:pPr>
              <a:spcAft>
                <a:spcPts val="70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A balanced scaffold-disjoint split is therefore impossible and the nine folds are not exchangeable. We derive S (within-scaffold, folds 0–3) and D (cross-scaffold, 4–8) and never pool them.</a:t>
            </a:r>
          </a:p>
        </p:txBody>
      </p:sp>
      <p:pic>
        <p:nvPicPr>
          <p:cNvPr id="10" name="Picture 9" descr="fig3_scaffold_cluster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783080"/>
            <a:ext cx="6035040" cy="38302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94960" y="557784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0" i="1">
                <a:solidFill>
                  <a:srgbClr val="77868E"/>
                </a:solidFill>
                <a:latin typeface="Calibri"/>
              </a:rPr>
              <a:t>fig3_scaffold_cluster_sizes · two families dominate the monomer-B 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0" i="1">
                <a:solidFill>
                  <a:srgbClr val="77868E"/>
                </a:solidFill>
                <a:latin typeface="Calibri"/>
              </a:rPr>
              <a:t>Pooling nine non-exchangeable folds into one mean is the error this component exists to prevent.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02336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2500" b="1" i="0">
                <a:solidFill>
                  <a:srgbClr val="1A242A"/>
                </a:solidFill>
                <a:latin typeface="Cambria"/>
              </a:rPr>
              <a:t>Noise floor — what difference is measurable at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024128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 i="0">
                <a:solidFill>
                  <a:srgbClr val="77868E"/>
                </a:solidFill>
                <a:latin typeface="Calibri"/>
              </a:rPr>
              <a:t>Measured, not assumed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4434840" cy="2011680"/>
          </a:xfrm>
          <a:prstGeom prst="roundRect">
            <a:avLst>
              <a:gd name="adj" fmla="val 50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783080"/>
            <a:ext cx="3922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000" b="1" i="0">
                <a:solidFill>
                  <a:srgbClr val="028090"/>
                </a:solidFill>
                <a:latin typeface="Calibri"/>
              </a:rPr>
              <a:t>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30552"/>
            <a:ext cx="3922775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Repeat runs identical in model, seed, split, code and GPU. Report the spread of every metric across repeats, and the per-cell across-seed SD for every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49039"/>
            <a:ext cx="4434840" cy="2286000"/>
          </a:xfrm>
          <a:prstGeom prst="roundRect">
            <a:avLst>
              <a:gd name="adj" fmla="val 50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3931920"/>
            <a:ext cx="393192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000" b="1" i="0">
                <a:solidFill>
                  <a:srgbClr val="B85042"/>
                </a:solidFill>
                <a:latin typeface="Calibri"/>
              </a:rPr>
              <a:t>Result</a:t>
            </a:r>
          </a:p>
          <a:p>
            <a:pPr>
              <a:spcAft>
                <a:spcPts val="70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Three identical runs, EA fold 1:</a:t>
            </a:r>
          </a:p>
          <a:p>
            <a:pPr>
              <a:spcAft>
                <a:spcPts val="800"/>
              </a:spcAft>
            </a:pPr>
            <a:r>
              <a:rPr sz="1250" b="1" i="0">
                <a:solidFill>
                  <a:srgbClr val="1A242A"/>
                </a:solidFill>
                <a:latin typeface="Courier New"/>
              </a:rPr>
              <a:t>group-mean R²  =  0.450 / 0.790 / 0.978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1A242A"/>
                </a:solidFill>
                <a:latin typeface="Calibri"/>
              </a:rPr>
              <a:t>SD 0.268. Single-run benchmark numbers are not measurable at this scale.</a:t>
            </a:r>
          </a:p>
          <a:p>
            <a:pPr>
              <a:spcAft>
                <a:spcPts val="70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We therefore average three seeds at the prediction level as the replicate unit, and quote a per-split materiality threshold before running any ablation.</a:t>
            </a:r>
          </a:p>
        </p:txBody>
      </p:sp>
      <p:pic>
        <p:nvPicPr>
          <p:cNvPr id="10" name="Picture 9" descr="fig1_run_to_run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91640"/>
            <a:ext cx="5806440" cy="41014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94960" y="5806440"/>
            <a:ext cx="5806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0" i="1">
                <a:solidFill>
                  <a:srgbClr val="77868E"/>
                </a:solidFill>
                <a:latin typeface="Calibri"/>
              </a:rPr>
              <a:t>fig1_run_to_run_variance · same model, same seed, same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0" i="1">
                <a:solidFill>
                  <a:srgbClr val="77868E"/>
                </a:solidFill>
                <a:latin typeface="Calibri"/>
              </a:rPr>
              <a:t>No polymer representation paper we are aware of publishes a measured noise floor. Shipping one is itself a contribution.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02336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2500" b="1" i="0">
                <a:solidFill>
                  <a:srgbClr val="1A242A"/>
                </a:solidFill>
                <a:latin typeface="Cambria"/>
              </a:rPr>
              <a:t>The demonstration — same predictions, opposite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024128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 i="0">
                <a:solidFill>
                  <a:srgbClr val="77868E"/>
                </a:solidFill>
                <a:latin typeface="Calibri"/>
              </a:rPr>
              <a:t>B split, cross-scaffold folds: octamer versus wDMPNN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5669280" cy="2651760"/>
          </a:xfrm>
          <a:prstGeom prst="roundRect">
            <a:avLst>
              <a:gd name="adj" fmla="val 50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000" b="1" i="0">
                <a:solidFill>
                  <a:srgbClr val="77868E"/>
                </a:solidFill>
                <a:latin typeface="Calibri"/>
              </a:rPr>
              <a:t>MEDIAN PAIRED DIFFERENCE, D FOLDS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3113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7868E"/>
                </a:solidFill>
                <a:latin typeface="Calibri"/>
              </a:rPr>
              <a:t>Overall 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23113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7868E"/>
                </a:solidFill>
                <a:latin typeface="Calibri"/>
              </a:rPr>
              <a:t>+0.003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223113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7868E"/>
                </a:solidFill>
                <a:latin typeface="Calibri"/>
              </a:rPr>
              <a:t>3 /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22311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77868E"/>
                </a:solidFill>
                <a:latin typeface="Calibri"/>
              </a:rPr>
              <a:t>p = 1.00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1518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7868E"/>
                </a:solidFill>
                <a:latin typeface="Calibri"/>
              </a:rPr>
              <a:t>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61518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7868E"/>
                </a:solidFill>
                <a:latin typeface="Calibri"/>
              </a:rPr>
              <a:t>−0.000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6151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7868E"/>
                </a:solidFill>
                <a:latin typeface="Calibri"/>
              </a:rPr>
              <a:t>3 /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61518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77868E"/>
                </a:solidFill>
                <a:latin typeface="Calibri"/>
              </a:rPr>
              <a:t>p = 1.00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9923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7868E"/>
                </a:solidFill>
                <a:latin typeface="Calibri"/>
              </a:rPr>
              <a:t>group-mean R²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9992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7868E"/>
                </a:solidFill>
                <a:latin typeface="Calibri"/>
              </a:rPr>
              <a:t>+0.002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9992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7868E"/>
                </a:solidFill>
                <a:latin typeface="Calibri"/>
              </a:rPr>
              <a:t>3 /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99923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77868E"/>
                </a:solidFill>
                <a:latin typeface="Calibri"/>
              </a:rPr>
              <a:t>p = 1.00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383279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B85042"/>
                </a:solidFill>
                <a:latin typeface="Calibri"/>
              </a:rPr>
              <a:t>ΔR²  (architecture)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38327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B85042"/>
                </a:solidFill>
                <a:latin typeface="Calibri"/>
              </a:rPr>
              <a:t>+0.260 EA / +0.152 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9" y="3383279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B85042"/>
                </a:solidFill>
                <a:latin typeface="Calibri"/>
              </a:rPr>
              <a:t>5 /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383279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B85042"/>
                </a:solidFill>
                <a:latin typeface="Calibri"/>
              </a:rPr>
              <a:t>p = 0.062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526280"/>
            <a:ext cx="5669280" cy="1508760"/>
          </a:xfrm>
          <a:prstGeom prst="roundRect">
            <a:avLst>
              <a:gd name="adj" fmla="val 5000"/>
            </a:avLst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709160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On genuinely new chemistry the two models are statistically indistinguishable on every conventional measure — and separated by 0.15–0.26 on architecture recovery.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A7BEAE"/>
                </a:solidFill>
                <a:latin typeface="Calibri"/>
              </a:rPr>
              <a:t>The metric everyone reports cannot see the effect being studied.</a:t>
            </a:r>
          </a:p>
        </p:txBody>
      </p:sp>
      <p:pic>
        <p:nvPicPr>
          <p:cNvPr id="25" name="Picture 24" descr="fig_r3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303520" cy="227053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00800" y="470916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0" i="1">
                <a:solidFill>
                  <a:srgbClr val="77868E"/>
                </a:solidFill>
                <a:latin typeface="Calibri"/>
              </a:rPr>
              <a:t>fig_r3_architecture · S and D fold groups, four models. The conventional metrics for these same runs are in the table on the left.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19088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0" i="1">
                <a:solidFill>
                  <a:srgbClr val="B85042"/>
                </a:solidFill>
                <a:latin typeface="Calibri"/>
              </a:rPr>
              <a:t>[ADD: a single side-by-side figure of these two panels would make the point in one image — worth building for the paper.]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1A242A"/>
                </a:solidFill>
                <a:latin typeface="Cambria"/>
              </a:rPr>
              <a:t>What the framework still cannot test — and what that motivates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77868E"/>
                </a:solidFill>
                <a:latin typeface="Calibri"/>
              </a:rPr>
              <a:t>Two of the three axes have an extrapolation split. The third does not.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3602736" cy="1965960"/>
          </a:xfrm>
          <a:prstGeom prst="roundRect">
            <a:avLst>
              <a:gd name="adj" fmla="val 50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000" b="1" i="0">
                <a:solidFill>
                  <a:srgbClr val="028090"/>
                </a:solidFill>
                <a:latin typeface="Calibri"/>
              </a:rPr>
              <a:t>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3063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1A242A"/>
                </a:solidFill>
                <a:latin typeface="Cambria"/>
              </a:rPr>
              <a:t>Monomer A</a:t>
            </a:r>
          </a:p>
          <a:p>
            <a:pPr>
              <a:spcAft>
                <a:spcPts val="70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held-out chemistry</a:t>
            </a:r>
          </a:p>
          <a:p>
            <a:pPr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Calibri"/>
              </a:rPr>
              <a:t>R1 · 9 folds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8536" y="1737360"/>
            <a:ext cx="3602736" cy="1965960"/>
          </a:xfrm>
          <a:prstGeom prst="roundRect">
            <a:avLst>
              <a:gd name="adj" fmla="val 50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62855" y="193852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000" b="1" i="0">
                <a:solidFill>
                  <a:srgbClr val="028090"/>
                </a:solidFill>
                <a:latin typeface="Calibri"/>
              </a:rPr>
              <a:t>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2855" y="2286000"/>
            <a:ext cx="3063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1A242A"/>
                </a:solidFill>
                <a:latin typeface="Cambria"/>
              </a:rPr>
              <a:t>Monomer B</a:t>
            </a:r>
          </a:p>
          <a:p>
            <a:pPr>
              <a:spcAft>
                <a:spcPts val="70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held-out scaffold family</a:t>
            </a:r>
          </a:p>
          <a:p>
            <a:pPr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Calibri"/>
              </a:rPr>
              <a:t>R3 · 9 folds, S/D grouped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4151" y="1737360"/>
            <a:ext cx="3602736" cy="1965960"/>
          </a:xfrm>
          <a:prstGeom prst="roundRect">
            <a:avLst>
              <a:gd name="adj" fmla="val 50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48471" y="193852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000" b="1" i="0">
                <a:solidFill>
                  <a:srgbClr val="B85042"/>
                </a:solidFill>
                <a:latin typeface="Calibri"/>
              </a:rPr>
              <a:t>MISSING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1" y="2286000"/>
            <a:ext cx="3063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1A242A"/>
                </a:solidFill>
                <a:latin typeface="Cambria"/>
              </a:rPr>
              <a:t>Architecture</a:t>
            </a:r>
          </a:p>
          <a:p>
            <a:pPr>
              <a:spcAft>
                <a:spcPts val="70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held-out arrangement</a:t>
            </a:r>
          </a:p>
          <a:p>
            <a:pPr>
              <a:spcAft>
                <a:spcPts val="0"/>
              </a:spcAft>
            </a:pPr>
            <a:r>
              <a:rPr sz="1150" b="1" i="0">
                <a:solidFill>
                  <a:srgbClr val="B85042"/>
                </a:solidFill>
                <a:latin typeface="Calibri"/>
              </a:rPr>
              <a:t>impossible on this dataset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31920"/>
            <a:ext cx="11183112" cy="1371600"/>
          </a:xfrm>
          <a:prstGeom prst="roundRect">
            <a:avLst>
              <a:gd name="adj" fmla="val 5000"/>
            </a:avLst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4133087"/>
            <a:ext cx="106070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350" b="1" i="0">
                <a:solidFill>
                  <a:srgbClr val="1A242A"/>
                </a:solidFill>
                <a:latin typeface="Cambria"/>
              </a:rPr>
              <a:t>Why it is impossible today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3D4C54"/>
                </a:solidFill>
                <a:latin typeface="Calibri"/>
              </a:rPr>
              <a:t>There are only three distinct chain-arrangement descriptions in all 42,966 rows — one per architecture type, and identical across compositions. Hold one out and the model has nothing to interpolate from; it would be extrapolating to a category it has never seen, with no intermediate cases in between.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486400"/>
            <a:ext cx="11183112" cy="777240"/>
          </a:xfrm>
          <a:prstGeom prst="roundRect">
            <a:avLst>
              <a:gd name="adj" fmla="val 5000"/>
            </a:avLst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5650992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mbria"/>
              </a:rPr>
              <a:t>A continuous blockiness axis would make the third split possible — and that is the argument for the dataset, independent of any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Proposed framing, and what I would like your view 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5532120" cy="2286000"/>
          </a:xfrm>
          <a:prstGeom prst="roundRect">
            <a:avLst>
              <a:gd name="adj" fmla="val 5000"/>
            </a:avLst>
          </a:prstGeom>
          <a:solidFill>
            <a:srgbClr val="3A4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1664208"/>
            <a:ext cx="493776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000" b="1" i="0">
                <a:solidFill>
                  <a:srgbClr val="028090"/>
                </a:solidFill>
                <a:latin typeface="Calibri"/>
              </a:rPr>
              <a:t>THE CLAIM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Not "here are better metrics" — but "current evaluation cannot answer the question the field is asking, and here is the evidence."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A7BEAE"/>
                </a:solidFill>
                <a:latin typeface="Calibri"/>
              </a:rPr>
              <a:t>The metrics are the remedy, not the contribution.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463040"/>
            <a:ext cx="5330952" cy="2286000"/>
          </a:xfrm>
          <a:prstGeom prst="roundRect">
            <a:avLst>
              <a:gd name="adj" fmla="val 5000"/>
            </a:avLst>
          </a:prstGeom>
          <a:solidFill>
            <a:srgbClr val="3A4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47688" y="1664208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000" b="1" i="0">
                <a:solidFill>
                  <a:srgbClr val="028090"/>
                </a:solidFill>
                <a:latin typeface="Calibri"/>
              </a:rPr>
              <a:t>WHY NOW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All six components are built and measured. No new compute is needed to write it.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A7BEAE"/>
                </a:solidFill>
                <a:latin typeface="Calibri"/>
              </a:rPr>
              <a:t>It also does not depend on the octamer being the best model — the framework stands whichever model wins, which insulates it from the protocol-matching confound.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977639"/>
            <a:ext cx="11183112" cy="2103120"/>
          </a:xfrm>
          <a:prstGeom prst="roundRect">
            <a:avLst>
              <a:gd name="adj" fmla="val 5000"/>
            </a:avLst>
          </a:prstGeom>
          <a:solidFill>
            <a:srgbClr val="3A4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4187952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000" b="1" i="0">
                <a:solidFill>
                  <a:srgbClr val="028090"/>
                </a:solidFill>
                <a:latin typeface="Calibri"/>
              </a:rPr>
              <a:t>QUESTIONS FOR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553712"/>
            <a:ext cx="105613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1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1.   Is "the evaluation cannot see the property" a strong enough central claim, or does it need a model result attached to be publishable?</a:t>
            </a:r>
          </a:p>
          <a:p>
            <a:pPr>
              <a:spcAft>
                <a:spcPts val="11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2.   Which of the six carries the most weight? My view is the null floor — a parameter-free predictor beating a trained model is the most striking single result.</a:t>
            </a:r>
          </a:p>
          <a:p>
            <a:pPr>
              <a:spcAft>
                <a:spcPts val="11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3.   Venue — a methods/benchmark venue, or a chemistry venue where the audience is the one making the mistake?</a:t>
            </a:r>
          </a:p>
          <a:p>
            <a:pPr>
              <a:spcAft>
                <a:spcPts val="11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4.   Should the architecture-held-out gap be stated in this paper as motivation for the next one, or held back?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1573</Words>
  <Application>Microsoft Macintosh PowerPoint</Application>
  <PresentationFormat>Widescreen</PresentationFormat>
  <Paragraphs>151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Metrics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Chloe Lin</cp:lastModifiedBy>
  <cp:revision>2</cp:revision>
  <dcterms:created xsi:type="dcterms:W3CDTF">2013-01-27T09:14:16Z</dcterms:created>
  <dcterms:modified xsi:type="dcterms:W3CDTF">2026-08-10T04:02:26Z</dcterms:modified>
  <cp:category/>
</cp:coreProperties>
</file>