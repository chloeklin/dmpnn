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>
                <a:solidFill>
                  <a:srgbClr val="1F2D3A"/>
                </a:solidFill>
              </a:rPr>
              <a:t>Architecture ordering accuracy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Ordering accuracy</c:v>
                </c:pt>
              </c:strCache>
            </c:strRef>
          </c:tx>
          <c:dPt>
            <c:idx val="0"/>
            <c:spPr>
              <a:solidFill>
                <a:srgbClr val="6FA8BD"/>
              </a:solidFill>
            </c:spPr>
          </c:dPt>
          <c:dPt>
            <c:idx val="1"/>
            <c:spPr>
              <a:solidFill>
                <a:srgbClr val="1C7293"/>
              </a:solidFill>
            </c:spPr>
          </c:dPt>
          <c:dPt>
            <c:idx val="2"/>
            <c:spPr>
              <a:solidFill>
                <a:srgbClr val="1C7293"/>
              </a:solidFill>
            </c:spPr>
          </c:dPt>
          <c:dPt>
            <c:idx val="3"/>
            <c:spPr>
              <a:solidFill>
                <a:srgbClr val="E8A33D"/>
              </a:solidFill>
            </c:spPr>
          </c:dPt>
          <c:cat>
            <c:strRef>
              <c:f>Sheet1!$A$2:$A$5</c:f>
              <c:strCache>
                <c:ptCount val="4"/>
                <c:pt idx="0">
                  <c:v>λ=0.00</c:v>
                </c:pt>
                <c:pt idx="1">
                  <c:v>λ=0.03</c:v>
                </c:pt>
                <c:pt idx="2">
                  <c:v>λ=0.30</c:v>
                </c:pt>
                <c:pt idx="3">
                  <c:v>ChemArch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0.8536</c:v>
                </c:pt>
                <c:pt idx="1">
                  <c:v>0.8804</c:v>
                </c:pt>
                <c:pt idx="2">
                  <c:v>0.8878</c:v>
                </c:pt>
                <c:pt idx="3">
                  <c:v>0.9026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100" b="1">
                  <a:solidFill>
                    <a:srgbClr val="1F2D3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6B7B8C"/>
            </a:solidFill>
          </a:ln>
        </c:spPr>
        <c:txPr>
          <a:bodyPr/>
          <a:lstStyle/>
          <a:p>
            <a:pPr>
              <a:defRPr sz="1200" b="1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92"/>
          <c:min val="0.8"/>
        </c:scaling>
        <c:delete val="0"/>
        <c:axPos val="l"/>
        <c:majorGridlines>
          <c:spPr>
            <a:ln w="6350">
              <a:solidFill>
                <a:srgbClr val="D6DFE6"/>
              </a:solidFill>
            </a:ln>
          </c:spPr>
        </c:majorGridlines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prstGeom prst="rect">
            <a:avLst/>
          </a:prstGeom>
          <a:xfrm>
            <a:off x="0" y="0"/>
            <a:ext cx="12191695" cy="6858000"/>
          </a:xfr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6FA8BD"/>
                </a:solidFill>
                <a:latin typeface="Calibri"/>
              </a:rPr>
              <a:t>RESEARCH PROGRESS UPDATE · POLYMER REPRESENTATION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Objective, Not Representation:</a:t>
            </a:r>
          </a:p>
          <a:p>
            <a:pPr algn="l">
              <a:spcAft>
                <a:spcPts val="600"/>
              </a:spcAft>
            </a:pPr>
            <a:r>
              <a:rPr sz="3000" b="0">
                <a:solidFill>
                  <a:srgbClr val="6FA8BD"/>
                </a:solidFill>
                <a:latin typeface="Calibri"/>
              </a:rPr>
              <a:t>Recovering Architecture Signal in a Graph Polymer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4114800"/>
            <a:ext cx="3108960" cy="2743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34340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FFFFF"/>
                </a:solidFill>
                <a:latin typeface="Calibri"/>
              </a:rPr>
              <a:t>A within-group loss term lifts wDMPNN's architecture ordering </a:t>
            </a:r>
            <a:r>
              <a:rPr sz="1600" b="1">
                <a:solidFill>
                  <a:srgbClr val="E8A33D"/>
                </a:solidFill>
                <a:latin typeface="Calibri"/>
              </a:rPr>
              <a:t>0.854 → 0.888</a:t>
            </a:r>
            <a:r>
              <a:rPr sz="1600" b="0">
                <a:solidFill>
                  <a:srgbClr val="FFFFFF"/>
                </a:solidFill>
                <a:latin typeface="Calibri"/>
              </a:rPr>
              <a:t> (≈55–70% of the gap to ChemArch) with overall R² unchanged — representation frozen.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Chloe Lin</a:t>
            </a:r>
            <a:r>
              <a:rPr sz="1400" b="0">
                <a:solidFill>
                  <a:srgbClr val="6FA8BD"/>
                </a:solidFill>
                <a:latin typeface="Calibri"/>
              </a:rPr>
              <a:t>      15 July 2026      Group-disjoint · Fold 0 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prstGeom prst="rect">
            <a:avLst/>
          </a:prstGeom>
          <a:xfrm>
            <a:off x="0" y="0"/>
            <a:ext cx="12191695" cy="6858000"/>
          </a:xfr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A33D"/>
                </a:solidFill>
                <a:latin typeface="Calibri"/>
              </a:rPr>
              <a:t>WHERE WE LEFT 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D3A"/>
                </a:solidFill>
                <a:latin typeface="Calibri"/>
              </a:rPr>
              <a:t>The benchmark raised a question we couldn't yet answer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5212080" cy="420624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10312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7293"/>
                </a:solidFill>
                <a:latin typeface="Calibri"/>
              </a:rPr>
              <a:t>LAST UPDATE — THE BENCHMARK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651760"/>
            <a:ext cx="46177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100" b="1">
                <a:solidFill>
                  <a:srgbClr val="1C7293"/>
                </a:solidFill>
                <a:latin typeface="Calibri"/>
              </a:rPr>
              <a:t>●  </a:t>
            </a:r>
            <a:r>
              <a:rPr sz="1450" b="0">
                <a:solidFill>
                  <a:srgbClr val="1F2D3A"/>
                </a:solidFill>
                <a:latin typeface="Calibri"/>
              </a:rPr>
              <a:t>wDMPNN vs Frac / GlobalArch / ChemArch on overall R² and architecture-deviation R².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100" b="1">
                <a:solidFill>
                  <a:srgbClr val="1C7293"/>
                </a:solidFill>
                <a:latin typeface="Calibri"/>
              </a:rPr>
              <a:t>●  </a:t>
            </a:r>
            <a:r>
              <a:rPr sz="1450" b="0">
                <a:solidFill>
                  <a:srgbClr val="1F2D3A"/>
                </a:solidFill>
                <a:latin typeface="Calibri"/>
              </a:rPr>
              <a:t>wDMPNN wins overall; ChemArch wins architecture recovery — an </a:t>
            </a:r>
            <a:r>
              <a:rPr sz="1450" b="1">
                <a:solidFill>
                  <a:srgbClr val="1F2D3A"/>
                </a:solidFill>
                <a:latin typeface="Calibri"/>
              </a:rPr>
              <a:t>asymmetry</a:t>
            </a:r>
            <a:r>
              <a:rPr sz="1450" b="0">
                <a:solidFill>
                  <a:srgbClr val="1F2D3A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100" b="1">
                <a:solidFill>
                  <a:srgbClr val="1C7293"/>
                </a:solidFill>
                <a:latin typeface="Calibri"/>
              </a:rPr>
              <a:t>●  </a:t>
            </a:r>
            <a:r>
              <a:rPr sz="1450" b="0">
                <a:solidFill>
                  <a:srgbClr val="1F2D3A"/>
                </a:solidFill>
                <a:latin typeface="Calibri"/>
              </a:rPr>
              <a:t>Read at the time: wDMPNN's weak recovery looks like a </a:t>
            </a:r>
            <a:r>
              <a:rPr sz="1450" b="1">
                <a:solidFill>
                  <a:srgbClr val="E8A33D"/>
                </a:solidFill>
                <a:latin typeface="Calibri"/>
              </a:rPr>
              <a:t>training</a:t>
            </a:r>
            <a:r>
              <a:rPr sz="1450" b="0">
                <a:solidFill>
                  <a:srgbClr val="1F2D3A"/>
                </a:solidFill>
                <a:latin typeface="Calibri"/>
              </a:rPr>
              <a:t> issue, not a representation deficiency.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100" b="1">
                <a:solidFill>
                  <a:srgbClr val="1C7293"/>
                </a:solidFill>
                <a:latin typeface="Calibri"/>
              </a:rPr>
              <a:t>●  </a:t>
            </a:r>
            <a:r>
              <a:rPr sz="1450" b="0">
                <a:solidFill>
                  <a:srgbClr val="1F2D3A"/>
                </a:solidFill>
                <a:latin typeface="Calibri"/>
              </a:rPr>
              <a:t>Proposed next step: a </a:t>
            </a:r>
            <a:r>
              <a:rPr sz="1450" b="1">
                <a:solidFill>
                  <a:srgbClr val="1C7293"/>
                </a:solidFill>
                <a:latin typeface="Calibri"/>
              </a:rPr>
              <a:t>hierarchical representation</a:t>
            </a:r>
            <a:r>
              <a:rPr sz="1450" b="0">
                <a:solidFill>
                  <a:srgbClr val="1F2D3A"/>
                </a:solidFill>
                <a:latin typeface="Calibri"/>
              </a:rPr>
              <a:t> to improve ChemArch.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5029200" cy="4206240"/>
          </a:xfrm>
          <a:prstGeom prst="roundRect">
            <a:avLst>
              <a:gd name="adj" fmla="val 4000"/>
            </a:avLst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14884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A33D"/>
                </a:solidFill>
                <a:latin typeface="Calibri"/>
              </a:rPr>
              <a:t>YOUR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697480"/>
            <a:ext cx="44348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FFFFFF"/>
                </a:solidFill>
                <a:latin typeface="Calibri"/>
              </a:rPr>
              <a:t>“Why is wDMPNN better overall, and ChemArch better at architecture recovery?”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4800600"/>
            <a:ext cx="4434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FA8BD"/>
                </a:solidFill>
                <a:latin typeface="Calibri"/>
              </a:rPr>
              <a:t>Pin down the mechanism before committing to a new representation.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5532120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E8A33D"/>
                </a:solidFill>
                <a:latin typeface="Calibri"/>
              </a:rPr>
              <a:t>→ That is what the diagnostics did.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prstGeom prst="rect">
            <a:avLst/>
          </a:prstGeom>
          <a:xfrm>
            <a:off x="0" y="0"/>
            <a:ext cx="12191695" cy="6858000"/>
          </a:xfr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A33D"/>
                </a:solidFill>
                <a:latin typeface="Calibri"/>
              </a:rPr>
              <a:t>WHAT THE DIAGNOSTICS FOUND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D3A"/>
                </a:solidFill>
                <a:latin typeface="Calibri"/>
              </a:rPr>
              <a:t>The asymmetry has two different causes — not 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5212080" cy="3977639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43000" y="2121408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194560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wDMPNN — OVERALL WIN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74320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1F2D3A"/>
                </a:solidFill>
                <a:latin typeface="Calibri"/>
              </a:rPr>
              <a:t>A chemistry-extrapolation 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611880"/>
            <a:ext cx="45720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950" b="1">
                <a:solidFill>
                  <a:srgbClr val="1C7293"/>
                </a:solidFill>
                <a:latin typeface="Calibri"/>
              </a:rPr>
              <a:t>●  </a:t>
            </a:r>
            <a:r>
              <a:rPr sz="1350" b="0">
                <a:solidFill>
                  <a:srgbClr val="1F2D3A"/>
                </a:solidFill>
                <a:latin typeface="Calibri"/>
              </a:rPr>
              <a:t>Group-mean R² </a:t>
            </a:r>
            <a:r>
              <a:rPr sz="1350" b="1">
                <a:solidFill>
                  <a:srgbClr val="1C7293"/>
                </a:solidFill>
                <a:latin typeface="Calibri"/>
              </a:rPr>
              <a:t>0.93</a:t>
            </a:r>
            <a:r>
              <a:rPr sz="1350" b="0">
                <a:solidFill>
                  <a:srgbClr val="1F2D3A"/>
                </a:solidFill>
                <a:latin typeface="Calibri"/>
              </a:rPr>
              <a:t> on unseen monomers vs ≤0.02 for composition models.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950" b="1">
                <a:solidFill>
                  <a:srgbClr val="1C7293"/>
                </a:solidFill>
                <a:latin typeface="Calibri"/>
              </a:rPr>
              <a:t>●  </a:t>
            </a:r>
            <a:r>
              <a:rPr sz="1350" b="0">
                <a:solidFill>
                  <a:srgbClr val="1F2D3A"/>
                </a:solidFill>
                <a:latin typeface="Calibri"/>
              </a:rPr>
              <a:t>The graph encoder decomposes a novel monomer into seen substructures.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950" b="1">
                <a:solidFill>
                  <a:srgbClr val="1C7293"/>
                </a:solidFill>
                <a:latin typeface="Calibri"/>
              </a:rPr>
              <a:t>●  </a:t>
            </a:r>
            <a:r>
              <a:rPr sz="1350" b="0">
                <a:solidFill>
                  <a:srgbClr val="1F2D3A"/>
                </a:solidFill>
                <a:latin typeface="Calibri"/>
              </a:rPr>
              <a:t>Its edge is chemistry, </a:t>
            </a:r>
            <a:r>
              <a:rPr sz="1350" b="1">
                <a:solidFill>
                  <a:srgbClr val="1F2D3A"/>
                </a:solidFill>
                <a:latin typeface="Calibri"/>
              </a:rPr>
              <a:t>not</a:t>
            </a:r>
            <a:r>
              <a:rPr sz="1350" b="0">
                <a:solidFill>
                  <a:srgbClr val="1F2D3A"/>
                </a:solidFill>
                <a:latin typeface="Calibri"/>
              </a:rPr>
              <a:t> architecture.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828800"/>
            <a:ext cx="5212080" cy="3977639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46520" y="2121408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94560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ChemArch — RECOVERY WIN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74320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1F2D3A"/>
                </a:solidFill>
                <a:latin typeface="Calibri"/>
              </a:rPr>
              <a:t>A representation (backbone) limit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611880"/>
            <a:ext cx="45720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950" b="1">
                <a:solidFill>
                  <a:srgbClr val="1C7293"/>
                </a:solidFill>
                <a:latin typeface="Calibri"/>
              </a:rPr>
              <a:t>●  </a:t>
            </a:r>
            <a:r>
              <a:rPr sz="1350" b="0">
                <a:solidFill>
                  <a:srgbClr val="1F2D3A"/>
                </a:solidFill>
                <a:latin typeface="Calibri"/>
              </a:rPr>
              <a:t>Explicit architecture conditioning → best calibration &amp; ordering in-distribution.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950" b="1">
                <a:solidFill>
                  <a:srgbClr val="1C7293"/>
                </a:solidFill>
                <a:latin typeface="Calibri"/>
              </a:rPr>
              <a:t>●  </a:t>
            </a:r>
            <a:r>
              <a:rPr sz="1350" b="0">
                <a:solidFill>
                  <a:srgbClr val="1F2D3A"/>
                </a:solidFill>
                <a:latin typeface="Calibri"/>
              </a:rPr>
              <a:t>Its overall failure lives in the </a:t>
            </a:r>
            <a:r>
              <a:rPr sz="1350" b="1">
                <a:solidFill>
                  <a:srgbClr val="E8A33D"/>
                </a:solidFill>
                <a:latin typeface="Calibri"/>
              </a:rPr>
              <a:t>composition backbone</a:t>
            </a:r>
            <a:r>
              <a:rPr sz="1350" b="0">
                <a:solidFill>
                  <a:srgbClr val="1F2D3A"/>
                </a:solidFill>
                <a:latin typeface="Calibri"/>
              </a:rPr>
              <a:t> — the residual actually rescues it.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950" b="1">
                <a:solidFill>
                  <a:srgbClr val="1C7293"/>
                </a:solidFill>
                <a:latin typeface="Calibri"/>
              </a:rPr>
              <a:t>●  </a:t>
            </a:r>
            <a:r>
              <a:rPr sz="1350" b="0">
                <a:solidFill>
                  <a:srgbClr val="1F2D3A"/>
                </a:solidFill>
                <a:latin typeface="Calibri"/>
              </a:rPr>
              <a:t>Exactly the part a graph backbone would replace.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08076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D3A"/>
                </a:solidFill>
                <a:latin typeface="Calibri"/>
              </a:rPr>
              <a:t>Net:  </a:t>
            </a:r>
            <a:r>
              <a:rPr sz="1500" b="0">
                <a:solidFill>
                  <a:srgbClr val="1F2D3A"/>
                </a:solidFill>
                <a:latin typeface="Calibri"/>
              </a:rPr>
              <a:t>wDMPNN's recovery gap = an objective problem.   ChemArch's overall gap = a representation problem.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prstGeom prst="rect">
            <a:avLst/>
          </a:prstGeom>
          <a:xfrm>
            <a:off x="0" y="0"/>
            <a:ext cx="12191695" cy="6858000"/>
          </a:xfr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A33D"/>
                </a:solidFill>
                <a:latin typeface="Calibri"/>
              </a:rPr>
              <a:t>THE RECOVERY CLAIM — MEASURED BY ΔR² AND ORDERING, NOT OVERALL R²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D3A"/>
                </a:solidFill>
                <a:latin typeface="Calibri"/>
              </a:rPr>
              <a:t>Why ChemArch wins recovery: it preserves the architecture deviation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78308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2314E"/>
                </a:solidFill>
                <a:latin typeface="Calibri"/>
              </a:rPr>
              <a:t>wDMPNN</a:t>
            </a:r>
            <a:r>
              <a:rPr sz="1400" b="0">
                <a:solidFill>
                  <a:srgbClr val="6B7B8C"/>
                </a:solidFill>
                <a:latin typeface="Calibri"/>
              </a:rPr>
              <a:t>  — shrinks toward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178308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8A33D"/>
                </a:solidFill>
                <a:latin typeface="Calibri"/>
              </a:rPr>
              <a:t>ChemArch</a:t>
            </a:r>
            <a:r>
              <a:rPr sz="1400" b="0">
                <a:solidFill>
                  <a:srgbClr val="6B7B8C"/>
                </a:solidFill>
                <a:latin typeface="Calibri"/>
              </a:rPr>
              <a:t>  — hugs the diagonal</a:t>
            </a:r>
          </a:p>
        </p:txBody>
      </p:sp>
      <p:pic>
        <p:nvPicPr>
          <p:cNvPr id="7" name="Picture 6" descr="cal_wdmp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194560"/>
            <a:ext cx="4160520" cy="3479249"/>
          </a:xfrm>
          <a:prstGeom prst="rect">
            <a:avLst/>
          </a:prstGeom>
        </p:spPr>
      </p:pic>
      <p:pic>
        <p:nvPicPr>
          <p:cNvPr id="8" name="Picture 7" descr="cal_chem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194560"/>
            <a:ext cx="4160520" cy="34792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51560" y="580644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12314E"/>
                </a:solidFill>
                <a:latin typeface="Calibri"/>
              </a:rPr>
              <a:t>slope 0.87 · disp 0.93 — compresses architecture toward the group mean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580644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A6B12"/>
                </a:solidFill>
                <a:latin typeface="Calibri"/>
              </a:rPr>
              <a:t>slope 0.93 · disp 0.97 — preserves both magnitude and rank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2D3A"/>
                </a:solidFill>
                <a:latin typeface="Calibri"/>
              </a:rPr>
              <a:t>Δŷ vs Δy, EA · Group-disjoint.  </a:t>
            </a:r>
            <a:r>
              <a:rPr sz="1250" b="0">
                <a:solidFill>
                  <a:srgbClr val="6B7B8C"/>
                </a:solidFill>
                <a:latin typeface="Calibri"/>
              </a:rPr>
              <a:t>Points on the dashed y=x line = faithful recovery. ChemArch ΔR² 0.94 / ordering 0.89  vs  wDMPNN 0.88 / 0.85.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prstGeom prst="rect">
            <a:avLst/>
          </a:prstGeom>
          <a:xfrm>
            <a:off x="0" y="0"/>
            <a:ext cx="12191695" cy="6858000"/>
          </a:xfr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A33D"/>
                </a:solidFill>
                <a:latin typeface="Calibri"/>
              </a:rPr>
              <a:t>WHY STANDARD TRAINING UNDER-REWARDS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9611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MSE is almost entirely a chemistry objective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1B4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31720"/>
            <a:ext cx="44805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>
                <a:solidFill>
                  <a:srgbClr val="6FA8BD"/>
                </a:solidFill>
                <a:latin typeface="Calibri"/>
              </a:rPr>
              <a:t>96–98%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of target variance is </a:t>
            </a:r>
            <a:r>
              <a:rPr sz="1600" b="1">
                <a:solidFill>
                  <a:srgbClr val="6FA8BD"/>
                </a:solidFill>
                <a:latin typeface="Calibri"/>
              </a:rPr>
              <a:t>chemistry / composition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01168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3A2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331720"/>
            <a:ext cx="44805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>
                <a:solidFill>
                  <a:srgbClr val="E8A33D"/>
                </a:solidFill>
                <a:latin typeface="Calibri"/>
              </a:rPr>
              <a:t>2–4%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56616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is </a:t>
            </a:r>
            <a:r>
              <a:rPr sz="1600" b="1">
                <a:solidFill>
                  <a:srgbClr val="E8A33D"/>
                </a:solidFill>
                <a:latin typeface="Calibri"/>
              </a:rPr>
              <a:t>sequence architecture</a:t>
            </a:r>
            <a:r>
              <a:rPr sz="1600" b="0">
                <a:solidFill>
                  <a:srgbClr val="FFFFFF"/>
                </a:solidFill>
                <a:latin typeface="Calibri"/>
              </a:rPr>
              <a:t>   (~0.02 eV)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00600"/>
            <a:ext cx="10515600" cy="502920"/>
          </a:xfrm>
          <a:prstGeom prst="roundRect">
            <a:avLst>
              <a:gd name="adj" fmla="val 3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954512" y="4800600"/>
            <a:ext cx="384048" cy="502920"/>
          </a:xfrm>
          <a:prstGeom prst="roundRect">
            <a:avLst>
              <a:gd name="adj" fmla="val 3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5321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The optimiser is rewarded for reducing chemistry error; it has little incentive to preserve the tiny architecture signal. </a:t>
            </a:r>
            <a:r>
              <a:rPr sz="1500" b="1">
                <a:solidFill>
                  <a:srgbClr val="E8A33D"/>
                </a:solidFill>
                <a:latin typeface="Calibri"/>
              </a:rPr>
              <a:t>The gap may be a loss problem, not a model-capacity 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prstGeom prst="rect">
            <a:avLst/>
          </a:prstGeom>
          <a:xfrm>
            <a:off x="0" y="0"/>
            <a:ext cx="12191695" cy="6858000"/>
          </a:xfr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A33D"/>
                </a:solidFill>
                <a:latin typeface="Calibri"/>
              </a:rPr>
              <a:t>HOW THIS REFINES THE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D3A"/>
                </a:solidFill>
                <a:latin typeface="Calibri"/>
              </a:rPr>
              <a:t>Two levers — test the cheap one first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5212080" cy="3931920"/>
          </a:xfrm>
          <a:prstGeom prst="roundRect">
            <a:avLst>
              <a:gd name="adj" fmla="val 4000"/>
            </a:avLst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2148840"/>
            <a:ext cx="566928" cy="56692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67128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212848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6FA8BD"/>
                </a:solidFill>
                <a:latin typeface="Calibri"/>
              </a:rPr>
              <a:t>Change the loss, freeze the representation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20440"/>
            <a:ext cx="46634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●  </a:t>
            </a:r>
            <a:r>
              <a:rPr sz="1400" b="0">
                <a:solidFill>
                  <a:srgbClr val="FFFFFF"/>
                </a:solidFill>
                <a:latin typeface="Calibri"/>
              </a:rPr>
              <a:t>Does explicitly training wDMPNN to minimise within-group error recover architecture?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●  </a:t>
            </a:r>
            <a:r>
              <a:rPr sz="1400" b="0">
                <a:solidFill>
                  <a:srgbClr val="FFFFFF"/>
                </a:solidFill>
                <a:latin typeface="Calibri"/>
              </a:rPr>
              <a:t>If yes, we may not need a new representation for recovery at all.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100" b="1">
                <a:solidFill>
                  <a:srgbClr val="E8A33D"/>
                </a:solidFill>
                <a:latin typeface="Calibri"/>
              </a:rPr>
              <a:t>●  </a:t>
            </a:r>
            <a:r>
              <a:rPr sz="1400" b="0">
                <a:solidFill>
                  <a:srgbClr val="FFFFFF"/>
                </a:solidFill>
                <a:latin typeface="Calibri"/>
              </a:rPr>
              <a:t>Cheap, fast, no new architecture.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874519"/>
            <a:ext cx="5029200" cy="393192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83680" y="2148840"/>
            <a:ext cx="566928" cy="56692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167128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212848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D3A"/>
                </a:solidFill>
                <a:latin typeface="Calibri"/>
              </a:rPr>
              <a:t>Representation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97180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1C7293"/>
                </a:solidFill>
                <a:latin typeface="Calibri"/>
              </a:rPr>
              <a:t>The hierarchical step — now precisely targeted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520440"/>
            <a:ext cx="44805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100" b="1">
                <a:solidFill>
                  <a:srgbClr val="1C7293"/>
                </a:solidFill>
                <a:latin typeface="Calibri"/>
              </a:rPr>
              <a:t>●  </a:t>
            </a:r>
            <a:r>
              <a:rPr sz="1400" b="0">
                <a:solidFill>
                  <a:srgbClr val="1F2D3A"/>
                </a:solidFill>
                <a:latin typeface="Calibri"/>
              </a:rPr>
              <a:t>A graph / hierarchical backbone to fix ChemArch's chemistry extrapolation.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100" b="1">
                <a:solidFill>
                  <a:srgbClr val="1C7293"/>
                </a:solidFill>
                <a:latin typeface="Calibri"/>
              </a:rPr>
              <a:t>●  </a:t>
            </a:r>
            <a:r>
              <a:rPr sz="1400" b="0">
                <a:solidFill>
                  <a:srgbClr val="1F2D3A"/>
                </a:solidFill>
                <a:latin typeface="Calibri"/>
              </a:rPr>
              <a:t>Still on the table — but </a:t>
            </a:r>
            <a:r>
              <a:rPr sz="1400" b="1">
                <a:solidFill>
                  <a:srgbClr val="1C7293"/>
                </a:solidFill>
                <a:latin typeface="Calibri"/>
              </a:rPr>
              <a:t>gated on Lever A</a:t>
            </a:r>
            <a:r>
              <a:rPr sz="1400" b="0">
                <a:solidFill>
                  <a:srgbClr val="1F2D3A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100" b="1">
                <a:solidFill>
                  <a:srgbClr val="1C7293"/>
                </a:solidFill>
                <a:latin typeface="Calibri"/>
              </a:rPr>
              <a:t>●  </a:t>
            </a:r>
            <a:r>
              <a:rPr sz="1400" b="0">
                <a:solidFill>
                  <a:srgbClr val="1F2D3A"/>
                </a:solidFill>
                <a:latin typeface="Calibri"/>
              </a:rPr>
              <a:t>Don't rebuild the representation to solve a training problem.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9893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1">
                <a:solidFill>
                  <a:srgbClr val="6B7B8C"/>
                </a:solidFill>
                <a:latin typeface="Calibri"/>
              </a:rPr>
              <a:t>Either outcome is useful: one experiment decides whether the new representation is even necessary.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prstGeom prst="rect">
            <a:avLst/>
          </a:prstGeom>
          <a:xfrm>
            <a:off x="0" y="0"/>
            <a:ext cx="12191695" cy="6858000"/>
          </a:xfr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A33D"/>
                </a:solidFill>
                <a:latin typeface="Calibri"/>
              </a:rPr>
              <a:t>LEVER A — PILOT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D3A"/>
                </a:solidFill>
                <a:latin typeface="Calibri"/>
              </a:rPr>
              <a:t>Change only the objective, verify before trusting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515600" cy="1143000"/>
          </a:xfrm>
          <a:prstGeom prst="roundRect">
            <a:avLst>
              <a:gd name="adj" fmla="val 6000"/>
            </a:avLst>
          </a:prstGeom>
          <a:solidFill>
            <a:srgbClr val="EA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93392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D3A"/>
                </a:solidFill>
                <a:latin typeface="Calibri"/>
              </a:rPr>
              <a:t>L  =  L</a:t>
            </a:r>
            <a:r>
              <a:rPr sz="1300" b="1">
                <a:solidFill>
                  <a:srgbClr val="1F2D3A"/>
                </a:solidFill>
                <a:latin typeface="Calibri"/>
              </a:rPr>
              <a:t>overall</a:t>
            </a:r>
            <a:r>
              <a:rPr sz="2200" b="1">
                <a:solidFill>
                  <a:srgbClr val="1F2D3A"/>
                </a:solidFill>
                <a:latin typeface="Calibri"/>
              </a:rPr>
              <a:t>   +   λ · L</a:t>
            </a:r>
            <a:r>
              <a:rPr sz="1300" b="1">
                <a:solidFill>
                  <a:srgbClr val="1F2D3A"/>
                </a:solidFill>
                <a:latin typeface="Calibri"/>
              </a:rPr>
              <a:t>within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87168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6B7B8C"/>
                </a:solidFill>
                <a:latin typeface="Calibri"/>
              </a:rPr>
              <a:t>L</a:t>
            </a:r>
            <a:r>
              <a:rPr sz="1000" b="0">
                <a:solidFill>
                  <a:srgbClr val="6B7B8C"/>
                </a:solidFill>
                <a:latin typeface="Calibri"/>
              </a:rPr>
              <a:t>within</a:t>
            </a:r>
            <a:r>
              <a:rPr sz="1350" b="0">
                <a:solidFill>
                  <a:srgbClr val="6B7B8C"/>
                </a:solidFill>
                <a:latin typeface="Calibri"/>
              </a:rPr>
              <a:t> penalises within-group residual variance = MSE of predicted vs true within-group deviations (the loss-form of our error decomposition).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00400"/>
            <a:ext cx="5212080" cy="274320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4290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7293"/>
                </a:solidFill>
                <a:latin typeface="Calibri"/>
              </a:rPr>
              <a:t>PRE-FLIGHT CHECKS PASSED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931920"/>
            <a:ext cx="46634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950" b="1">
                <a:solidFill>
                  <a:srgbClr val="1C7293"/>
                </a:solidFill>
                <a:latin typeface="Calibri"/>
              </a:rPr>
              <a:t>●  </a:t>
            </a:r>
            <a:r>
              <a:rPr sz="1350" b="0">
                <a:solidFill>
                  <a:srgbClr val="1F2D3A"/>
                </a:solidFill>
                <a:latin typeface="Calibri"/>
              </a:rPr>
              <a:t>Invariant to chemistry baseline shifts.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950" b="1">
                <a:solidFill>
                  <a:srgbClr val="1C7293"/>
                </a:solidFill>
                <a:latin typeface="Calibri"/>
              </a:rPr>
              <a:t>●  </a:t>
            </a:r>
            <a:r>
              <a:rPr sz="1350" b="0">
                <a:solidFill>
                  <a:srgbClr val="1F2D3A"/>
                </a:solidFill>
                <a:latin typeface="Calibri"/>
              </a:rPr>
              <a:t>Within-group gradients sum to ≈ 0 (doesn't move the group mean).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950" b="1">
                <a:solidFill>
                  <a:srgbClr val="1C7293"/>
                </a:solidFill>
                <a:latin typeface="Calibri"/>
              </a:rPr>
              <a:t>●  </a:t>
            </a:r>
            <a:r>
              <a:rPr sz="1350" b="0">
                <a:solidFill>
                  <a:srgbClr val="1F2D3A"/>
                </a:solidFill>
                <a:latin typeface="Calibri"/>
              </a:rPr>
              <a:t>Backward compatible at λ = 0.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950" b="1">
                <a:solidFill>
                  <a:srgbClr val="1C7293"/>
                </a:solidFill>
                <a:latin typeface="Calibri"/>
              </a:rPr>
              <a:t>●  </a:t>
            </a:r>
            <a:r>
              <a:rPr sz="1350" b="0">
                <a:solidFill>
                  <a:srgbClr val="1F2D3A"/>
                </a:solidFill>
                <a:latin typeface="Calibri"/>
              </a:rPr>
              <a:t>Gradient cosine to MSE ≈ </a:t>
            </a:r>
            <a:r>
              <a:rPr sz="1350" b="1">
                <a:solidFill>
                  <a:srgbClr val="E8A33D"/>
                </a:solidFill>
                <a:latin typeface="Calibri"/>
              </a:rPr>
              <a:t>0.04</a:t>
            </a:r>
            <a:r>
              <a:rPr sz="1350" b="0">
                <a:solidFill>
                  <a:srgbClr val="1F2D3A"/>
                </a:solidFill>
                <a:latin typeface="Calibri"/>
              </a:rPr>
              <a:t> — genuinely new signal.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200400"/>
            <a:ext cx="5029200" cy="2743200"/>
          </a:xfrm>
          <a:prstGeom prst="roundRect">
            <a:avLst>
              <a:gd name="adj" fmla="val 4000"/>
            </a:avLst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342900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A33D"/>
                </a:solidFill>
                <a:latin typeface="Calibri"/>
              </a:rPr>
              <a:t>PILOT MATRIX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931920"/>
            <a:ext cx="44805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950" b="1">
                <a:solidFill>
                  <a:srgbClr val="E8A33D"/>
                </a:solidFill>
                <a:latin typeface="Calibri"/>
              </a:rPr>
              <a:t>●  </a:t>
            </a:r>
            <a:r>
              <a:rPr sz="1350" b="0">
                <a:solidFill>
                  <a:srgbClr val="FFFFFF"/>
                </a:solidFill>
                <a:latin typeface="Calibri"/>
              </a:rPr>
              <a:t>wDMPNN · EA · Group-disjoint · Fold 0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950" b="1">
                <a:solidFill>
                  <a:srgbClr val="E8A33D"/>
                </a:solidFill>
                <a:latin typeface="Calibri"/>
              </a:rPr>
              <a:t>●  </a:t>
            </a:r>
            <a:r>
              <a:rPr sz="1350" b="0">
                <a:solidFill>
                  <a:srgbClr val="FFFFFF"/>
                </a:solidFill>
                <a:latin typeface="Calibri"/>
              </a:rPr>
              <a:t>λ ∈ {0, 0.03, 0.10*, 0.30}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950" b="1">
                <a:solidFill>
                  <a:srgbClr val="E8A33D"/>
                </a:solidFill>
                <a:latin typeface="Calibri"/>
              </a:rPr>
              <a:t>●  </a:t>
            </a:r>
            <a:r>
              <a:rPr sz="1350" b="0">
                <a:solidFill>
                  <a:srgbClr val="FFFFFF"/>
                </a:solidFill>
                <a:latin typeface="Calibri"/>
              </a:rPr>
              <a:t>Identical schedule / optimiser / eval to the corrected benchmark.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950" b="1">
                <a:solidFill>
                  <a:srgbClr val="E8A33D"/>
                </a:solidFill>
                <a:latin typeface="Calibri"/>
              </a:rPr>
              <a:t>●  </a:t>
            </a:r>
            <a:r>
              <a:rPr sz="1350" b="1">
                <a:solidFill>
                  <a:srgbClr val="6FA8BD"/>
                </a:solidFill>
                <a:latin typeface="Calibri"/>
              </a:rPr>
              <a:t>Done: 0, 0.03, 0.30.   Running: λ = 0.10.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prstGeom prst="rect">
            <a:avLst/>
          </a:prstGeom>
          <a:xfrm>
            <a:off x="0" y="0"/>
            <a:ext cx="12191695" cy="6858000"/>
          </a:xfr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A33D"/>
                </a:solidFill>
                <a:latin typeface="Calibri"/>
              </a:rPr>
              <a:t>THE METRICS, PRECISELY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1F2D3A"/>
                </a:solidFill>
                <a:latin typeface="Calibri"/>
              </a:rPr>
              <a:t>Two axes, three metrics — how we score everything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7276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7B8C"/>
                </a:solidFill>
                <a:latin typeface="Calibri"/>
              </a:rPr>
              <a:t>Matched group g = fixed (monomer_A, monomer_B, f_A, f_B), architecture excluded, ≥2 architectures.  ȳ</a:t>
            </a:r>
            <a:r>
              <a:rPr sz="900" b="0">
                <a:solidFill>
                  <a:srgbClr val="6B7B8C"/>
                </a:solidFill>
                <a:latin typeface="Calibri"/>
              </a:rPr>
              <a:t>g</a:t>
            </a:r>
            <a:r>
              <a:rPr sz="1250" b="0">
                <a:solidFill>
                  <a:srgbClr val="6B7B8C"/>
                </a:solidFill>
                <a:latin typeface="Calibri"/>
              </a:rPr>
              <a:t> = true group mean,  ŷ̄</a:t>
            </a:r>
            <a:r>
              <a:rPr sz="900" b="0">
                <a:solidFill>
                  <a:srgbClr val="6B7B8C"/>
                </a:solidFill>
                <a:latin typeface="Calibri"/>
              </a:rPr>
              <a:t>g</a:t>
            </a:r>
            <a:r>
              <a:rPr sz="1250" b="0">
                <a:solidFill>
                  <a:srgbClr val="6B7B8C"/>
                </a:solidFill>
                <a:latin typeface="Calibri"/>
              </a:rPr>
              <a:t> = predicted group mean.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319272" cy="3657600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2395728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50592"/>
            <a:ext cx="1828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CHEMISTRY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2608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1F2D3A"/>
                </a:solidFill>
                <a:latin typeface="Calibri"/>
              </a:rPr>
              <a:t>Group-mean R²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3429000"/>
            <a:ext cx="27889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3493008"/>
            <a:ext cx="2606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2314E"/>
                </a:solidFill>
                <a:latin typeface="Calibri"/>
              </a:rPr>
              <a:t>1 − Σ(ȳg−ŷ̄g)² / Σ(ȳg−⟨ȳ⟩)²
(one point per group)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343400"/>
            <a:ext cx="2788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1F2D3A"/>
                </a:solidFill>
                <a:latin typeface="Calibri"/>
              </a:rPr>
              <a:t>Did we predict the right property regime for this chemistry, architecture averaged out?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25780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C7293"/>
                </a:solidFill>
                <a:latin typeface="Calibri"/>
              </a:rPr>
              <a:t>→ why wDMPNN wins overall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2148840"/>
            <a:ext cx="3319272" cy="3657600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09159" y="2395728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59" y="2450592"/>
            <a:ext cx="1828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ARCHITECTURE RECOVERY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292608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1F2D3A"/>
                </a:solidFill>
                <a:latin typeface="Calibri"/>
              </a:rPr>
              <a:t>Deviation R²  (ΔR²)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59" y="3429000"/>
            <a:ext cx="27889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18888" y="3493008"/>
            <a:ext cx="2606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2314E"/>
                </a:solidFill>
                <a:latin typeface="Calibri"/>
              </a:rPr>
              <a:t>Δy = y − ȳg ,  Δŷ = ŷ − ŷ̄g
R²( Δŷ vs Δy ), per sample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59" y="4343400"/>
            <a:ext cx="2788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1F2D3A"/>
                </a:solidFill>
                <a:latin typeface="Calibri"/>
              </a:rPr>
              <a:t>Did we capture the within-group, sequence-induced deviation once chemistry is removed?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59" y="525780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E8A33D"/>
                </a:solidFill>
                <a:latin typeface="Calibri"/>
              </a:rPr>
              <a:t>→ ChemArch's edge; the pilot's target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2148840"/>
            <a:ext cx="3319272" cy="3657600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0" y="2395728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2450592"/>
            <a:ext cx="1828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RANK RECOVERY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92608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1F2D3A"/>
                </a:solidFill>
                <a:latin typeface="Calibri"/>
              </a:rPr>
              <a:t>Ordering accuracy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3429000"/>
            <a:ext cx="27889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0768" y="3493008"/>
            <a:ext cx="2606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2314E"/>
                </a:solidFill>
                <a:latin typeface="Calibri"/>
              </a:rPr>
              <a:t>fraction of within-group
architecture pairs ranked right
(chance = 0.5)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343400"/>
            <a:ext cx="2788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1F2D3A"/>
                </a:solidFill>
                <a:latin typeface="Calibri"/>
              </a:rPr>
              <a:t>Magnitude-invariant and noise-robust — trusted most when the signal is tiny.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525780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2314E"/>
                </a:solidFill>
                <a:latin typeface="Calibri"/>
              </a:rPr>
              <a:t>→ the headline pilot metric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989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6B7B8C"/>
                </a:solidFill>
                <a:latin typeface="Calibri"/>
              </a:rPr>
              <a:t>Overall R² ≈ Group-mean R² here because chemistry is 96–98% of the variance — which is exactly why a separate ΔR² is needed.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prstGeom prst="rect">
            <a:avLst/>
          </a:prstGeom>
          <a:xfrm>
            <a:off x="0" y="0"/>
            <a:ext cx="12191695" cy="6858000"/>
          </a:xfr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A33D"/>
                </a:solidFill>
                <a:latin typeface="Calibri"/>
              </a:rPr>
              <a:t>PILOT RESULTS — GROUP-DISJOINT, FOLD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1F2D3A"/>
                </a:solidFill>
                <a:latin typeface="Calibri"/>
              </a:rPr>
              <a:t>Overall prediction is unchanged — chemistry not sacrificed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3931920" cy="2834640"/>
          </a:xfrm>
          <a:prstGeom prst="roundRect">
            <a:avLst>
              <a:gd name="adj" fmla="val 5000"/>
            </a:avLst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6FA8BD"/>
                </a:solidFill>
                <a:latin typeface="Calibri"/>
              </a:rPr>
              <a:t>OVERALL R²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3383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Calibri"/>
              </a:rPr>
              <a:t>0.997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977639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FA8BD"/>
                </a:solidFill>
                <a:latin typeface="Calibri"/>
              </a:rPr>
              <a:t>flat across all λ</a:t>
            </a:r>
            <a:r>
              <a:rPr sz="1250" b="0">
                <a:solidFill>
                  <a:srgbClr val="FFFFFF"/>
                </a:solidFill>
                <a:latin typeface="Calibri"/>
              </a:rPr>
              <a:t>  (0.9969 → 0.9974 → 0.9965)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0" y="2103120"/>
          <a:ext cx="6309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783080"/>
                <a:gridCol w="1691640"/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λ</a:t>
                      </a:r>
                    </a:p>
                  </a:txBody>
                  <a:tcPr marL="109728" marT="45720" marB="45720" anchor="ctr">
                    <a:solidFill>
                      <a:srgbClr val="1231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Overall R²</a:t>
                      </a:r>
                    </a:p>
                  </a:txBody>
                  <a:tcPr marL="109728" marT="45720" marB="45720" anchor="ctr">
                    <a:solidFill>
                      <a:srgbClr val="1231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MAE (eV)</a:t>
                      </a:r>
                    </a:p>
                  </a:txBody>
                  <a:tcPr marL="109728" marT="45720" marB="45720" anchor="ctr">
                    <a:solidFill>
                      <a:srgbClr val="12314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D3A"/>
                          </a:solidFill>
                          <a:latin typeface="Calibri"/>
                        </a:rPr>
                        <a:t>0.00  (baseline)</a:t>
                      </a:r>
                    </a:p>
                  </a:txBody>
                  <a:tcPr marL="109728" marT="45720" marB="4572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D3A"/>
                          </a:solidFill>
                          <a:latin typeface="Calibri"/>
                        </a:rPr>
                        <a:t>0.99690</a:t>
                      </a:r>
                    </a:p>
                  </a:txBody>
                  <a:tcPr marL="109728" marT="45720" marB="4572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D3A"/>
                          </a:solidFill>
                          <a:latin typeface="Calibri"/>
                        </a:rPr>
                        <a:t>0.02354</a:t>
                      </a:r>
                    </a:p>
                  </a:txBody>
                  <a:tcPr marL="109728" marT="45720" marB="45720" anchor="ctr">
                    <a:solidFill>
                      <a:srgbClr val="F3F6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D3A"/>
                          </a:solidFill>
                          <a:latin typeface="Calibri"/>
                        </a:rPr>
                        <a:t>0.03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D3A"/>
                          </a:solidFill>
                          <a:latin typeface="Calibri"/>
                        </a:rPr>
                        <a:t>0.99742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D3A"/>
                          </a:solidFill>
                          <a:latin typeface="Calibri"/>
                        </a:rPr>
                        <a:t>0.02129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D3A"/>
                          </a:solidFill>
                          <a:latin typeface="Calibri"/>
                        </a:rPr>
                        <a:t>0.30</a:t>
                      </a:r>
                    </a:p>
                  </a:txBody>
                  <a:tcPr marL="109728" marT="45720" marB="4572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D3A"/>
                          </a:solidFill>
                          <a:latin typeface="Calibri"/>
                        </a:rPr>
                        <a:t>0.99652</a:t>
                      </a:r>
                    </a:p>
                  </a:txBody>
                  <a:tcPr marL="109728" marT="45720" marB="4572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D3A"/>
                          </a:solidFill>
                          <a:latin typeface="Calibri"/>
                        </a:rPr>
                        <a:t>0.02456</a:t>
                      </a:r>
                    </a:p>
                  </a:txBody>
                  <a:tcPr marL="109728" marT="45720" marB="45720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0" y="4709160"/>
            <a:ext cx="6309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1">
                <a:solidFill>
                  <a:srgbClr val="6B7B8C"/>
                </a:solidFill>
                <a:latin typeface="Calibri"/>
              </a:rPr>
              <a:t>λ = 0.03 even nudges overall R² up. The differences are within noise on one fold — the point is nothing is lost.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D3A"/>
                </a:solidFill>
                <a:latin typeface="Calibri"/>
              </a:rPr>
              <a:t>Reading:  </a:t>
            </a:r>
            <a:r>
              <a:rPr sz="1400" b="0">
                <a:solidFill>
                  <a:srgbClr val="1F2D3A"/>
                </a:solidFill>
                <a:latin typeface="Calibri"/>
              </a:rPr>
              <a:t>the added loss redistributes error within chemistry groups without disturbing the chemistry baseline.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prstGeom prst="rect">
            <a:avLst/>
          </a:prstGeom>
          <a:xfrm>
            <a:off x="0" y="0"/>
            <a:ext cx="12191695" cy="6858000"/>
          </a:xfr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A33D"/>
                </a:solidFill>
                <a:latin typeface="Calibri"/>
              </a:rPr>
              <a:t>PILOT RESULTS — GROUP-DISJOINT, FOLD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1F2D3A"/>
                </a:solidFill>
                <a:latin typeface="Calibri"/>
              </a:rPr>
              <a:t>Every architecture metric improves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874519"/>
          <a:ext cx="594360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040880" y="1874519"/>
            <a:ext cx="4297680" cy="123444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057400"/>
            <a:ext cx="3840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2E7D5B"/>
                </a:solidFill>
                <a:latin typeface="Calibri"/>
              </a:rPr>
              <a:t>+3.4 pp</a:t>
            </a:r>
            <a:r>
              <a:rPr sz="1500" b="0">
                <a:solidFill>
                  <a:srgbClr val="1F2D3A"/>
                </a:solidFill>
                <a:latin typeface="Calibri"/>
              </a:rPr>
              <a:t>   ordering vs baseline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6B7B8C"/>
                </a:solidFill>
                <a:latin typeface="Calibri"/>
              </a:rPr>
              <a:t>≈ 55–70% of the gap to ChemArch closed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3246120"/>
            <a:ext cx="4297680" cy="123444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3429000"/>
            <a:ext cx="3840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2E7D5B"/>
                </a:solidFill>
                <a:latin typeface="Calibri"/>
              </a:rPr>
              <a:t>−47%</a:t>
            </a:r>
            <a:r>
              <a:rPr sz="1500" b="0">
                <a:solidFill>
                  <a:srgbClr val="1F2D3A"/>
                </a:solidFill>
                <a:latin typeface="Calibri"/>
              </a:rPr>
              <a:t>   within-group residual variance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6B7B8C"/>
                </a:solidFill>
                <a:latin typeface="Calibri"/>
              </a:rPr>
              <a:t>0.000513 → 0.000270  (λ=0.30)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4617720"/>
            <a:ext cx="4297680" cy="123444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4800600"/>
            <a:ext cx="3840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>
                <a:solidFill>
                  <a:srgbClr val="2E7D5B"/>
                </a:solidFill>
                <a:latin typeface="Calibri"/>
              </a:rPr>
              <a:t>slope → 1.00</a:t>
            </a:r>
            <a:r>
              <a:rPr sz="1500" b="0">
                <a:solidFill>
                  <a:srgbClr val="1F2D3A"/>
                </a:solidFill>
                <a:latin typeface="Calibri"/>
              </a:rPr>
              <a:t>   calibration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6B7B8C"/>
                </a:solidFill>
                <a:latin typeface="Calibri"/>
              </a:rPr>
              <a:t>0.993 → 1.003 → 1.000 — not shrinkage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05332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6B7B8C"/>
                </a:solidFill>
                <a:latin typeface="Calibri"/>
              </a:rPr>
              <a:t>Ordering is the headline: magnitude-invariant and noise-robust — the cleanest sign the model learns real architecture signal.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prstGeom prst="rect">
            <a:avLst/>
          </a:prstGeom>
          <a:xfrm>
            <a:off x="0" y="0"/>
            <a:ext cx="12191695" cy="6858000"/>
          </a:xfr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A33D"/>
                </a:solidFill>
                <a:latin typeface="Calibri"/>
              </a:rPr>
              <a:t>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objective moves wDMPNN toward ChemArch — representation frozen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2514600" cy="2286000"/>
          </a:xfrm>
          <a:prstGeom prst="roundRect">
            <a:avLst>
              <a:gd name="adj" fmla="val 6000"/>
            </a:avLst>
          </a:prstGeom>
          <a:solidFill>
            <a:srgbClr val="1B4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46888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A33D"/>
                </a:solidFill>
                <a:latin typeface="Calibri"/>
              </a:rPr>
              <a:t>ORDERING 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926080"/>
            <a:ext cx="2103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FFFFFF"/>
                </a:solidFill>
                <a:latin typeface="Calibri"/>
              </a:rPr>
              <a:t>+2.7 to +3.4 pp toward ChemArch's 0.903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194560"/>
            <a:ext cx="2514600" cy="2286000"/>
          </a:xfrm>
          <a:prstGeom prst="roundRect">
            <a:avLst>
              <a:gd name="adj" fmla="val 6000"/>
            </a:avLst>
          </a:prstGeom>
          <a:solidFill>
            <a:srgbClr val="1B4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60" y="246888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A33D"/>
                </a:solidFill>
                <a:latin typeface="Calibri"/>
              </a:rPr>
              <a:t>CALIBRATION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926080"/>
            <a:ext cx="2103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FFFFFF"/>
                </a:solidFill>
                <a:latin typeface="Calibri"/>
              </a:rPr>
              <a:t>slope to ≈ 1.0 — preserves magnitude, not damping 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194560"/>
            <a:ext cx="2514600" cy="2286000"/>
          </a:xfrm>
          <a:prstGeom prst="roundRect">
            <a:avLst>
              <a:gd name="adj" fmla="val 6000"/>
            </a:avLst>
          </a:prstGeom>
          <a:solidFill>
            <a:srgbClr val="1B4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46888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A33D"/>
                </a:solidFill>
                <a:latin typeface="Calibri"/>
              </a:rPr>
              <a:t>WITHIN-ERROR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926080"/>
            <a:ext cx="2103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FFFFFF"/>
                </a:solidFill>
                <a:latin typeface="Calibri"/>
              </a:rPr>
              <a:t>cut by nearly half (−38 to −47%)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2194560"/>
            <a:ext cx="2514600" cy="2286000"/>
          </a:xfrm>
          <a:prstGeom prst="roundRect">
            <a:avLst>
              <a:gd name="adj" fmla="val 6000"/>
            </a:avLst>
          </a:prstGeom>
          <a:solidFill>
            <a:srgbClr val="1B4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246888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A33D"/>
                </a:solidFill>
                <a:latin typeface="Calibri"/>
              </a:rPr>
              <a:t>OVERALL R²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2926080"/>
            <a:ext cx="2103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>
                <a:solidFill>
                  <a:srgbClr val="FFFFFF"/>
                </a:solidFill>
                <a:latin typeface="Calibri"/>
              </a:rPr>
              <a:t>unchanged at ≈ 0.997 — chemistry intact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89204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The information a model preserves is shaped by the objective, not only the representation.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6FA8BD"/>
                </a:solidFill>
                <a:latin typeface="Calibri"/>
              </a:rPr>
              <a:t>Standard MSE under-emphasises the low-variance architecture factor; supervising it explicitly recovers most of the gap — without a new architecture.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prstGeom prst="rect">
            <a:avLst/>
          </a:prstGeom>
          <a:xfrm>
            <a:off x="0" y="0"/>
            <a:ext cx="12191695" cy="6858000"/>
          </a:xfr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A33D"/>
                </a:solidFill>
                <a:latin typeface="Calibri"/>
              </a:rPr>
              <a:t>LIMITATIONS &amp; RISKS — HELD HONESTLY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D3A"/>
                </a:solidFill>
                <a:latin typeface="Calibri"/>
              </a:rPr>
              <a:t>Promising, not proven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5074920" cy="1737360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2194560"/>
            <a:ext cx="146304" cy="109728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2167127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>
                <a:solidFill>
                  <a:srgbClr val="1F2D3A"/>
                </a:solidFill>
                <a:latin typeface="Calibri"/>
              </a:rPr>
              <a:t>Single fold, no seeds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651760"/>
            <a:ext cx="4297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B7B8C"/>
                </a:solidFill>
                <a:latin typeface="Calibri"/>
              </a:rPr>
              <a:t>One Group-disjoint fold; ~0.03 ordering gain needs ≥3 seeds to beat run-to-run noise.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874519"/>
            <a:ext cx="5074920" cy="1737360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46520" y="2194560"/>
            <a:ext cx="146304" cy="109728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167127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>
                <a:solidFill>
                  <a:srgbClr val="1F2D3A"/>
                </a:solidFill>
                <a:latin typeface="Calibri"/>
              </a:rPr>
              <a:t>Noise floor (the gate)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651760"/>
            <a:ext cx="4297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B7B8C"/>
                </a:solidFill>
                <a:latin typeface="Calibri"/>
              </a:rPr>
              <a:t>Architecture ≈ 0.02 eV with no replicates — bound the DFT/label noise externally before over-reading gains.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840479"/>
            <a:ext cx="5074920" cy="1737360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97280" y="4160519"/>
            <a:ext cx="146304" cy="109728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4133087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>
                <a:solidFill>
                  <a:srgbClr val="1F2D3A"/>
                </a:solidFill>
                <a:latin typeface="Calibri"/>
              </a:rPr>
              <a:t>Thin, lopsided groups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617719"/>
            <a:ext cx="4297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B7B8C"/>
                </a:solidFill>
                <a:latin typeface="Calibri"/>
              </a:rPr>
              <a:t>2–3 architectures/group, no replicates; 2/3 are block-vs-random only. Stratify ordering by 2- vs 3-arch.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840479"/>
            <a:ext cx="5074920" cy="1737360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46520" y="4160519"/>
            <a:ext cx="146304" cy="109728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4133087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>
                <a:solidFill>
                  <a:srgbClr val="1F2D3A"/>
                </a:solidFill>
                <a:latin typeface="Calibri"/>
              </a:rPr>
              <a:t>Sampler confound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617719"/>
            <a:ext cx="4297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B7B8C"/>
                </a:solidFill>
                <a:latin typeface="Calibri"/>
              </a:rPr>
              <a:t>Grouped batches ≠ original shuffling — run λ=0-with-sampler as a second baseline.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D3A"/>
                </a:solidFill>
                <a:latin typeface="Calibri"/>
              </a:rPr>
              <a:t>Current status:  </a:t>
            </a:r>
            <a:r>
              <a:rPr sz="1400" b="0">
                <a:solidFill>
                  <a:srgbClr val="1F2D3A"/>
                </a:solidFill>
                <a:latin typeface="Calibri"/>
              </a:rPr>
              <a:t>evidence for feasibility of the objective — not yet definitive proof of effectiveness.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prstGeom prst="rect">
            <a:avLst/>
          </a:prstGeom>
          <a:xfrm>
            <a:off x="0" y="0"/>
            <a:ext cx="12191695" cy="6858000"/>
          </a:xfr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A33D"/>
                </a:solidFill>
                <a:latin typeface="Calibri"/>
              </a:rPr>
              <a:t>NEXT STEPS — SEQUENCE, DON'T PARALLELISE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D3A"/>
                </a:solidFill>
                <a:latin typeface="Calibri"/>
              </a:rPr>
              <a:t>The plan: one gated decision, not two parallel builds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120640" cy="1783080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C7293"/>
                </a:solidFill>
                <a:latin typeface="Calibri"/>
              </a:rPr>
              <a:t>PHASE 1 · pin the pilot down</a:t>
            </a:r>
            <a:r>
              <a:rPr sz="1100" b="0">
                <a:solidFill>
                  <a:srgbClr val="6B7B8C"/>
                </a:solidFill>
                <a:latin typeface="Calibri"/>
              </a:rPr>
              <a:t>   now → late Jul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31720"/>
            <a:ext cx="46177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800" b="1">
                <a:solidFill>
                  <a:srgbClr val="1C7293"/>
                </a:solidFill>
                <a:latin typeface="Calibri"/>
              </a:rPr>
              <a:t>●  </a:t>
            </a:r>
            <a:r>
              <a:rPr sz="1200" b="0">
                <a:solidFill>
                  <a:srgbClr val="1F2D3A"/>
                </a:solidFill>
                <a:latin typeface="Calibri"/>
              </a:rPr>
              <a:t>Finish λ=0.10; all Group-disjoint folds × ≥3 seeds; paired significance.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800" b="1">
                <a:solidFill>
                  <a:srgbClr val="1C7293"/>
                </a:solidFill>
                <a:latin typeface="Calibri"/>
              </a:rPr>
              <a:t>●  </a:t>
            </a:r>
            <a:r>
              <a:rPr sz="1200" b="0">
                <a:solidFill>
                  <a:srgbClr val="1F2D3A"/>
                </a:solidFill>
                <a:latin typeface="Calibri"/>
              </a:rPr>
              <a:t>Noise-floor bound (the gate) + sampler-confound baseline.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737360"/>
            <a:ext cx="5074920" cy="1783080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59" y="1920240"/>
            <a:ext cx="4526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C7293"/>
                </a:solidFill>
                <a:latin typeface="Calibri"/>
              </a:rPr>
              <a:t>PHASE 2 · stress the objective</a:t>
            </a:r>
            <a:r>
              <a:rPr sz="1100" b="0">
                <a:solidFill>
                  <a:srgbClr val="6B7B8C"/>
                </a:solidFill>
                <a:latin typeface="Calibri"/>
              </a:rPr>
              <a:t>   Aug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59" y="233172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800" b="1">
                <a:solidFill>
                  <a:srgbClr val="1C7293"/>
                </a:solidFill>
                <a:latin typeface="Calibri"/>
              </a:rPr>
              <a:t>●  </a:t>
            </a:r>
            <a:r>
              <a:rPr sz="1200" b="0">
                <a:solidFill>
                  <a:srgbClr val="1F2D3A"/>
                </a:solidFill>
                <a:latin typeface="Calibri"/>
              </a:rPr>
              <a:t>Extend to Pair-disjoint, then Monomer-heldout.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800" b="1">
                <a:solidFill>
                  <a:srgbClr val="1C7293"/>
                </a:solidFill>
                <a:latin typeface="Calibri"/>
              </a:rPr>
              <a:t>●  </a:t>
            </a:r>
            <a:r>
              <a:rPr sz="1200" b="0">
                <a:solidFill>
                  <a:srgbClr val="1F2D3A"/>
                </a:solidFill>
                <a:latin typeface="Calibri"/>
              </a:rPr>
              <a:t>Monomer-heldout is the real test: does it transfer to unseen chemistry?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03320"/>
            <a:ext cx="10515600" cy="530352"/>
          </a:xfrm>
          <a:prstGeom prst="roundRect">
            <a:avLst>
              <a:gd name="adj" fmla="val 25000"/>
            </a:avLst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749039"/>
            <a:ext cx="10515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E8A33D"/>
                </a:solidFill>
                <a:latin typeface="Calibri"/>
              </a:rPr>
              <a:t>DECISION GATE  —  the Monomer-heldout result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416552"/>
            <a:ext cx="5120640" cy="1417320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590288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7D5B"/>
                </a:solidFill>
                <a:latin typeface="Calibri"/>
              </a:rPr>
              <a:t>✓  Best-of-both achieved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010912"/>
            <a:ext cx="4617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1F2D3A"/>
                </a:solidFill>
                <a:latin typeface="Calibri"/>
              </a:rPr>
              <a:t>Architecture recovers AND chemistry extrapolation holds → objective paper; hierarchical representation shelved.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4416552"/>
            <a:ext cx="5074920" cy="1417320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459028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05040"/>
                </a:solidFill>
                <a:latin typeface="Calibri"/>
              </a:rPr>
              <a:t>✗  Doesn't transfer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5010912"/>
            <a:ext cx="4572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1F2D3A"/>
                </a:solidFill>
                <a:latin typeface="Calibri"/>
              </a:rPr>
              <a:t>Objective helps in-distribution but fails on unseen chemistry → start Lever B (hierarchical rep), now justified.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9893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F2D3A"/>
                </a:solidFill>
                <a:latin typeface="Calibri"/>
              </a:rPr>
              <a:t>In parallel — lightweight only:  </a:t>
            </a:r>
            <a:r>
              <a:rPr sz="1250" b="0">
                <a:solidFill>
                  <a:srgbClr val="6B7B8C"/>
                </a:solidFill>
                <a:latin typeface="Calibri"/>
              </a:rPr>
              <a:t>scope + prototype the representation (literature, data pipeline, λ=0 end-to-end). No full build until the gate opens.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prstGeom prst="rect">
            <a:avLst/>
          </a:prstGeom>
          <a:xfrm>
            <a:off x="0" y="0"/>
            <a:ext cx="12191695" cy="6858000"/>
          </a:xfr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A33D"/>
                </a:solidFill>
                <a:latin typeface="Calibri"/>
              </a:rPr>
              <a:t>PUBLICATION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D3A"/>
                </a:solidFill>
                <a:latin typeface="Calibri"/>
              </a:rPr>
              <a:t>Paper plan: one flagship now, one decided by the gate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5394960" cy="3886200"/>
          </a:xfrm>
          <a:prstGeom prst="roundRect">
            <a:avLst>
              <a:gd name="adj" fmla="val 4000"/>
            </a:avLst>
          </a:prstGeo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2011680"/>
            <a:ext cx="2514600" cy="40233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75688"/>
            <a:ext cx="2514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PAPER 1 · FLAGSHIP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892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Objective design recovers low-variance architecture effects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2900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850" b="1">
                <a:solidFill>
                  <a:srgbClr val="E8A33D"/>
                </a:solidFill>
                <a:latin typeface="Calibri"/>
              </a:rPr>
              <a:t>●  </a:t>
            </a:r>
            <a:r>
              <a:rPr sz="1250" b="0">
                <a:solidFill>
                  <a:srgbClr val="FFFFFF"/>
                </a:solidFill>
                <a:latin typeface="Calibri"/>
              </a:rPr>
              <a:t>Q: can supervising the within-group factor recover architecture on a frozen representation?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850" b="1">
                <a:solidFill>
                  <a:srgbClr val="E8A33D"/>
                </a:solidFill>
                <a:latin typeface="Calibri"/>
              </a:rPr>
              <a:t>●  </a:t>
            </a:r>
            <a:r>
              <a:rPr sz="1250" b="0">
                <a:solidFill>
                  <a:srgbClr val="FFFFFF"/>
                </a:solidFill>
                <a:latin typeface="Calibri"/>
              </a:rPr>
              <a:t>Contribution: the variance-decomposition diagnostics as instrument + the λ result.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850" b="1">
                <a:solidFill>
                  <a:srgbClr val="E8A33D"/>
                </a:solidFill>
                <a:latin typeface="Calibri"/>
              </a:rPr>
              <a:t>●  </a:t>
            </a:r>
            <a:r>
              <a:rPr sz="1250" b="0">
                <a:solidFill>
                  <a:srgbClr val="FFFFFF"/>
                </a:solidFill>
                <a:latin typeface="Calibri"/>
              </a:rPr>
              <a:t>Venue: workshop (fall) → Digital Discovery / npj Comp Mat / JCIM (Q4 2026).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850" b="1">
                <a:solidFill>
                  <a:srgbClr val="E8A33D"/>
                </a:solidFill>
                <a:latin typeface="Calibri"/>
              </a:rPr>
              <a:t>●  </a:t>
            </a:r>
            <a:r>
              <a:rPr sz="1250" b="1">
                <a:solidFill>
                  <a:srgbClr val="6FA8BD"/>
                </a:solidFill>
                <a:latin typeface="Calibri"/>
              </a:rPr>
              <a:t>Readiness ≈ 55% — analysis done; needs folds + seeds + noise floor.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783080"/>
            <a:ext cx="4846320" cy="388620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0" y="2011680"/>
            <a:ext cx="2880360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2075688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PAPER 2 · CONDITIONAL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542032"/>
            <a:ext cx="4343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F2D3A"/>
                </a:solidFill>
                <a:latin typeface="Calibri"/>
              </a:rPr>
              <a:t>Decided by the Monomer-heldout 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429000"/>
            <a:ext cx="43434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850" b="1">
                <a:solidFill>
                  <a:srgbClr val="1C7293"/>
                </a:solidFill>
                <a:latin typeface="Calibri"/>
              </a:rPr>
              <a:t>●  </a:t>
            </a:r>
            <a:r>
              <a:rPr sz="1250" b="0">
                <a:solidFill>
                  <a:srgbClr val="1F2D3A"/>
                </a:solidFill>
                <a:latin typeface="Calibri"/>
              </a:rPr>
              <a:t>Gate opens → hierarchical representation for chemistry extrapolation.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850" b="1">
                <a:solidFill>
                  <a:srgbClr val="1C7293"/>
                </a:solidFill>
                <a:latin typeface="Calibri"/>
              </a:rPr>
              <a:t>●  </a:t>
            </a:r>
            <a:r>
              <a:rPr sz="1250" b="0">
                <a:solidFill>
                  <a:srgbClr val="1F2D3A"/>
                </a:solidFill>
                <a:latin typeface="Calibri"/>
              </a:rPr>
              <a:t>Gate closed → framework / benchmark extension (external models + datasets).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850" b="1">
                <a:solidFill>
                  <a:srgbClr val="1C7293"/>
                </a:solidFill>
                <a:latin typeface="Calibri"/>
              </a:rPr>
              <a:t>●  </a:t>
            </a:r>
            <a:r>
              <a:rPr sz="1250" b="0">
                <a:solidFill>
                  <a:srgbClr val="6B7B8C"/>
                </a:solidFill>
                <a:latin typeface="Calibri"/>
              </a:rPr>
              <a:t>Target: 2027.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52160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F2D3A"/>
                </a:solidFill>
                <a:latin typeface="Calibri"/>
              </a:rPr>
              <a:t>Positioning:  </a:t>
            </a:r>
            <a:r>
              <a:rPr sz="1200" b="0">
                <a:solidFill>
                  <a:srgbClr val="6B7B8C"/>
                </a:solidFill>
                <a:latin typeface="Calibri"/>
              </a:rPr>
              <a:t>differentiate from multi-task loss balancing (uncertainty weighting, GradNorm, PCGrad) and imbalanced regression — ours is a loss derived from a physical variance decomposition.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prstGeom prst="rect">
            <a:avLst/>
          </a:prstGeom>
          <a:xfrm>
            <a:off x="0" y="0"/>
            <a:ext cx="12191695" cy="6858000"/>
          </a:xfrm>
          <a:solidFill>
            <a:srgbClr val="1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A33D"/>
                </a:solidFill>
                <a:latin typeface="Calibri"/>
              </a:rPr>
              <a:t>WHAT I NEED FROM YOU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Four decisions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6035040" cy="3566160"/>
          </a:xfrm>
          <a:prstGeom prst="roundRect">
            <a:avLst>
              <a:gd name="adj" fmla="val 4000"/>
            </a:avLst>
          </a:prstGeom>
          <a:solidFill>
            <a:srgbClr val="1B4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4688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A33D"/>
                </a:solidFill>
                <a:latin typeface="Calibri"/>
              </a:rPr>
              <a:t>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017520"/>
            <a:ext cx="548640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050" b="1">
                <a:solidFill>
                  <a:srgbClr val="E8A33D"/>
                </a:solidFill>
                <a:latin typeface="Calibri"/>
              </a:rPr>
              <a:t>●  </a:t>
            </a:r>
            <a:r>
              <a:rPr sz="1450" b="0">
                <a:solidFill>
                  <a:srgbClr val="FFFFFF"/>
                </a:solidFill>
                <a:latin typeface="Calibri"/>
              </a:rPr>
              <a:t>Endorse </a:t>
            </a:r>
            <a:r>
              <a:rPr sz="1450" b="1">
                <a:solidFill>
                  <a:srgbClr val="E8A33D"/>
                </a:solidFill>
                <a:latin typeface="Calibri"/>
              </a:rPr>
              <a:t>objective-first, representation-second</a:t>
            </a:r>
            <a:r>
              <a:rPr sz="1450" b="0">
                <a:solidFill>
                  <a:srgbClr val="FFFFFF"/>
                </a:solidFill>
                <a:latin typeface="Calibri"/>
              </a:rPr>
              <a:t>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050" b="1">
                <a:solidFill>
                  <a:srgbClr val="E8A33D"/>
                </a:solidFill>
                <a:latin typeface="Calibri"/>
              </a:rPr>
              <a:t>●  </a:t>
            </a:r>
            <a:r>
              <a:rPr sz="1450" b="0">
                <a:solidFill>
                  <a:srgbClr val="FFFFFF"/>
                </a:solidFill>
                <a:latin typeface="Calibri"/>
              </a:rPr>
              <a:t>Agree the </a:t>
            </a:r>
            <a:r>
              <a:rPr sz="1450" b="1">
                <a:solidFill>
                  <a:srgbClr val="E8A33D"/>
                </a:solidFill>
                <a:latin typeface="Calibri"/>
              </a:rPr>
              <a:t>Monomer-heldout result as the gate</a:t>
            </a:r>
            <a:r>
              <a:rPr sz="1450" b="0">
                <a:solidFill>
                  <a:srgbClr val="FFFFFF"/>
                </a:solidFill>
                <a:latin typeface="Calibri"/>
              </a:rPr>
              <a:t> for starting Lever B.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050" b="1">
                <a:solidFill>
                  <a:srgbClr val="E8A33D"/>
                </a:solidFill>
                <a:latin typeface="Calibri"/>
              </a:rPr>
              <a:t>●  </a:t>
            </a:r>
            <a:r>
              <a:rPr sz="1450" b="0">
                <a:solidFill>
                  <a:srgbClr val="FFFFFF"/>
                </a:solidFill>
                <a:latin typeface="Calibri"/>
              </a:rPr>
              <a:t>Sign off the paper plan &amp; target venue.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050" b="1">
                <a:solidFill>
                  <a:srgbClr val="E8A33D"/>
                </a:solidFill>
                <a:latin typeface="Calibri"/>
              </a:rPr>
              <a:t>●  </a:t>
            </a:r>
            <a:r>
              <a:rPr sz="1450" b="0">
                <a:solidFill>
                  <a:srgbClr val="FFFFFF"/>
                </a:solidFill>
                <a:latin typeface="Calibri"/>
              </a:rPr>
              <a:t>Approve compute for the multi-seed sweeps.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2194560"/>
            <a:ext cx="4206240" cy="3566160"/>
          </a:xfrm>
          <a:prstGeom prst="roundRect">
            <a:avLst>
              <a:gd name="adj" fmla="val 4000"/>
            </a:avLst>
          </a:prstGeom>
          <a:solidFill>
            <a:srgbClr val="1B4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2743200"/>
            <a:ext cx="36118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“Objective-first,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gated on Monomer-heldout.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3977639"/>
            <a:ext cx="3611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800" b="1">
                <a:solidFill>
                  <a:srgbClr val="E8A33D"/>
                </a:solidFill>
                <a:latin typeface="Calibri"/>
              </a:rPr>
              <a:t>A two-week test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800" b="1">
                <a:solidFill>
                  <a:srgbClr val="E8A33D"/>
                </a:solidFill>
                <a:latin typeface="Calibri"/>
              </a:rPr>
              <a:t>before a two-month build.”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5212080"/>
            <a:ext cx="3611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FA8BD"/>
                </a:solidFill>
                <a:latin typeface="Calibri"/>
              </a:rPr>
              <a:t>That's the whole ask.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