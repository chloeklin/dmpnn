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7013"/>
  </p:normalViewPr>
  <p:slideViewPr>
    <p:cSldViewPr snapToGrid="0" snapToObjects="1">
      <p:cViewPr varScale="1">
        <p:scale>
          <a:sx n="160" d="100"/>
          <a:sy n="160" d="100"/>
        </p:scale>
        <p:origin x="53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3C699-4850-C342-B6AE-15592D365768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934155-38CA-5246-8E90-69911CB46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39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by conceding. Adding chain architecture on top of stoichiometry halves the error — 49% on EA, 58% on IP. That is not a marginal result. It looks small in R2 only because R2 saturates near 1. Their claim is correct and their evidence supports it. My argument is not that they were wrong.</a:t>
            </a:r>
          </a:p>
          <a:p>
            <a:endParaRPr/>
          </a:p>
          <a:p>
            <a:r>
              <a:t>Tactically: lead with a critique of their numbers and the rest of the talk is a fight. Lead with a concession and the room hears the actual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It says nothing about whether that ability survives unfamiliar chemistry. Held-out-monomer splits are what the field cites this benchmark for, and there architecture is ~1% of the target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group is polymers sharing monomer A, monomer B and composition, so within a group only architecture differs. Groups with fewer than two architectures are discarded.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null predictor is scored with the identical metric on the identical fold. Because monomer A is held out by construction it cannot use any information about monomer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=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split, same benchmark. On EA a lookup table gets 0.68; on IP it gets −0.03. You cannot know which situation you are in without computing it.</a:t>
            </a:r>
          </a:p>
          <a:p>
            <a:endParaRPr/>
          </a:p>
          <a:p>
            <a:r>
              <a:t>On EA folds 2 and 3 it scores 0.96 and 0.95 — a model reporting 0.98 there has learned much less than the number suggests.</a:t>
            </a:r>
          </a:p>
          <a:p>
            <a:endParaRPr/>
          </a:p>
          <a:p>
            <a:r>
              <a:t>And on IP fold 0 the lookup table beats both trained models.</a:t>
            </a:r>
          </a:p>
          <a:p>
            <a:endParaRPr/>
          </a:p>
          <a:p>
            <a:r>
              <a:t>Negative R2 is unbounded below — −19.07 and −7.53 are real, not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Folds 0–3 are interpolation. Folds 5, 7 and 8 are extrapolation. Averaging them gives a number that describes neither. So S and D folds are reported separately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the A split all five metrics favour the octamer on 8 or 9 of 9 folds. If that were the only regime we looked at, none of this machinery would be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Four accuracy metrics split three-to-two, which is what a coin does. Architecture recovery splits five-to-zero on both properties. Same predictions.</a:t>
            </a:r>
          </a:p>
          <a:p>
            <a:endParaRPr dirty="0"/>
          </a:p>
          <a:p>
            <a:r>
              <a:rPr dirty="0"/>
              <a:t>And mean and median disagree in sign for four of the four accuracy metrics. It is not just that they are insensitive — the answer depends on which average you pick. ΔR² does not do that.</a:t>
            </a:r>
          </a:p>
          <a:p>
            <a:endParaRPr dirty="0"/>
          </a:p>
          <a:p>
            <a:r>
              <a:rPr dirty="0"/>
              <a:t>With 5 folds the smallest achievable p is 0.0625, so this cannot reach 0.05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accuracy gap is real but modest. The architecture-recovery gap is more than double.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octamer differs from our own HPG-</a:t>
            </a:r>
            <a:r>
              <a:rPr dirty="0" err="1"/>
              <a:t>hier</a:t>
            </a:r>
            <a:r>
              <a:rPr dirty="0"/>
              <a:t> in five ways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Dropping from sixteen sampled sequences to one changed nothing measurable on any metric — accuracy, error, chemistry placement or architecture recovery. The averaging is not where the advantage comes from. That is a negative result and I am reporting it as one.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Removing the position embeddings moved nothing — every metric's median is within four thousandths of zero except ΔR², which moved by one hundredth against a threshold of five hundredths fixed before running.</a:t>
            </a:r>
          </a:p>
          <a:p>
            <a:endParaRPr dirty="0"/>
          </a:p>
          <a:p>
            <a:r>
              <a:rPr dirty="0"/>
              <a:t>Caveats: scope is R1 only, the B split has not been run. EA fold 6's +0.105 is the largest number in the arm but that cell's baseline ΔR² is −0.14 with a seed SD of 0.81 — it is noise. And EA fold 0 moves in opposite directions on the two axes; on one fold at these magnitudes that is not a finding.</a:t>
            </a:r>
          </a:p>
          <a:p>
            <a:endParaRPr dirty="0"/>
          </a:p>
          <a:p>
            <a:r>
              <a:rPr dirty="0"/>
              <a:t>Say the mechanism precisely: without position embeddings, slots holding the same monomer get identical embeddings, but end and interior slots still differ through path structure. This is a REDUCTION of positional information, not its elimination. Do not say 'position-blind'.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Two readings, both legitimate. </a:t>
            </a:r>
            <a:r>
              <a:rPr dirty="0" err="1"/>
              <a:t>Favourable</a:t>
            </a:r>
            <a:r>
              <a:rPr dirty="0"/>
              <a:t>: we encoded the right physics. </a:t>
            </a:r>
            <a:r>
              <a:rPr dirty="0" err="1"/>
              <a:t>Sceptical</a:t>
            </a:r>
            <a:r>
              <a:rPr dirty="0"/>
              <a:t>: the advantage is alignment with this dataset's recipe.</a:t>
            </a:r>
          </a:p>
          <a:p>
            <a:endParaRPr dirty="0"/>
          </a:p>
          <a:p>
            <a:r>
              <a:rPr dirty="0"/>
              <a:t>No ablation on this dataset can separate them — every label was made at 8 units, so there is no variation to exploit. But a dataset can, and it is the one we already want to build.</a:t>
            </a:r>
          </a:p>
          <a:p>
            <a:endParaRPr dirty="0"/>
          </a:p>
          <a:p>
            <a:r>
              <a:rPr dirty="0"/>
              <a:t>Cheaper things first: the glass-transition and block-copolymer datasets are already in the repository and their labels have nothing to do with 8-unit averaging. And freezing the model to test whether architecture is linearly decodable separates 'predicts better' from 'represents better'.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651760"/>
            <a:ext cx="10765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6EA8B0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063240"/>
            <a:ext cx="939363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3200" b="1" i="0" dirty="0">
                <a:solidFill>
                  <a:srgbClr val="FFFFFF"/>
                </a:solidFill>
                <a:latin typeface="Georgia"/>
              </a:rPr>
              <a:t>Evaluation </a:t>
            </a:r>
            <a:r>
              <a:rPr lang="en-US" sz="3200" b="1" dirty="0">
                <a:solidFill>
                  <a:srgbClr val="FFFFFF"/>
                </a:solidFill>
                <a:latin typeface="Georgia"/>
              </a:rPr>
              <a:t>P</a:t>
            </a:r>
            <a:r>
              <a:rPr sz="3200" b="1" i="0" dirty="0">
                <a:solidFill>
                  <a:srgbClr val="FFFFFF"/>
                </a:solidFill>
                <a:latin typeface="Georgia"/>
              </a:rPr>
              <a:t>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What the wD-MPNN paper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 dirty="0">
                <a:solidFill>
                  <a:srgbClr val="8A9296"/>
                </a:solidFill>
                <a:latin typeface="Calibri"/>
              </a:rPr>
              <a:t>Section heading: “The </a:t>
            </a:r>
            <a:r>
              <a:rPr sz="1250" b="0" i="0" dirty="0" err="1">
                <a:solidFill>
                  <a:srgbClr val="8A9296"/>
                </a:solidFill>
                <a:latin typeface="Calibri"/>
              </a:rPr>
              <a:t>wD</a:t>
            </a:r>
            <a:r>
              <a:rPr sz="1250" b="0" i="0" dirty="0">
                <a:solidFill>
                  <a:srgbClr val="8A9296"/>
                </a:solidFill>
                <a:latin typeface="Calibri"/>
              </a:rPr>
              <a:t>-MPNN captures how polymer properties depend on chain architecture and monomer stoichiometry”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828780"/>
              </p:ext>
            </p:extLst>
          </p:nvPr>
        </p:nvGraphicFramePr>
        <p:xfrm>
          <a:off x="545964" y="2285998"/>
          <a:ext cx="8375011" cy="2503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1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72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RMSE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RMSE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72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Monomers only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0.173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0.883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0.165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72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 chain architecture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0.929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0.159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0.898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0.154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72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 stoichiometry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444A4E"/>
                          </a:solidFill>
                          <a:latin typeface="Calibri"/>
                        </a:rPr>
                        <a:t>0.069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0.065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72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+ both  (full wD-MPNN)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0.997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A1A1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0.997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A1A1A"/>
                          </a:solidFill>
                          <a:latin typeface="Calibri"/>
                        </a:rPr>
                        <a:t>0.027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578897" y="246888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 dirty="0">
                <a:solidFill>
                  <a:srgbClr val="8A9296"/>
                </a:solidFill>
                <a:latin typeface="Calibri"/>
              </a:rPr>
              <a:t>Adding architecture on top of stoichiometry:</a:t>
            </a:r>
          </a:p>
          <a:p>
            <a:pPr>
              <a:spcAft>
                <a:spcPts val="0"/>
              </a:spcAft>
            </a:pPr>
            <a:r>
              <a:rPr sz="2600" b="1" i="0" dirty="0">
                <a:solidFill>
                  <a:srgbClr val="0B6E7A"/>
                </a:solidFill>
                <a:latin typeface="Georgia"/>
              </a:rPr>
              <a:t>−49%</a:t>
            </a:r>
          </a:p>
          <a:p>
            <a:pPr>
              <a:spcAft>
                <a:spcPts val="1000"/>
              </a:spcAft>
            </a:pPr>
            <a:r>
              <a:rPr sz="1100" b="0" i="0" dirty="0">
                <a:solidFill>
                  <a:srgbClr val="444A4E"/>
                </a:solidFill>
                <a:latin typeface="Calibri"/>
              </a:rPr>
              <a:t>EA error</a:t>
            </a:r>
          </a:p>
          <a:p>
            <a:pPr>
              <a:spcAft>
                <a:spcPts val="0"/>
              </a:spcAft>
            </a:pPr>
            <a:r>
              <a:rPr sz="2600" b="1" i="0" dirty="0">
                <a:solidFill>
                  <a:srgbClr val="0B6E7A"/>
                </a:solidFill>
                <a:latin typeface="Georgia"/>
              </a:rPr>
              <a:t>−58%</a:t>
            </a:r>
          </a:p>
          <a:p>
            <a:pPr>
              <a:spcAft>
                <a:spcPts val="0"/>
              </a:spcAft>
            </a:pPr>
            <a:r>
              <a:rPr sz="1100" b="0" i="0" dirty="0">
                <a:solidFill>
                  <a:srgbClr val="444A4E"/>
                </a:solidFill>
                <a:latin typeface="Calibri"/>
              </a:rPr>
              <a:t>IP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10765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8A9296"/>
                </a:solidFill>
                <a:latin typeface="Calibri"/>
              </a:rPr>
              <a:t>Aldeghi &amp; Coley, Chem. Sci. 2022, 13, 10486–10498 — Table 2 and Table S1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But that evidence came from a different regime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 dirty="0">
                <a:solidFill>
                  <a:srgbClr val="8A9296"/>
                </a:solidFill>
                <a:latin typeface="Calibri"/>
              </a:rPr>
              <a:t>The ablation runs under random 10-fold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3120"/>
            <a:ext cx="57607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50" b="0" i="0" dirty="0">
                <a:solidFill>
                  <a:srgbClr val="444A4E"/>
                </a:solidFill>
                <a:latin typeface="Calibri"/>
              </a:rPr>
              <a:t>The benchmark has only 9 distinct A monomers. Under a random split every one of them appears in training, so monomer identity is effectively </a:t>
            </a:r>
            <a:r>
              <a:rPr sz="1350" b="0" i="0" dirty="0" err="1">
                <a:solidFill>
                  <a:srgbClr val="444A4E"/>
                </a:solidFill>
                <a:latin typeface="Calibri"/>
              </a:rPr>
              <a:t>memorised</a:t>
            </a:r>
            <a:r>
              <a:rPr sz="1350" b="0" i="0" dirty="0">
                <a:solidFill>
                  <a:srgbClr val="444A4E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350" b="0" i="0" dirty="0">
                <a:solidFill>
                  <a:srgbClr val="444A4E"/>
                </a:solidFill>
                <a:latin typeface="Calibri"/>
              </a:rPr>
              <a:t>What is left to explain is composition and architecture — and in that reduced space architecture is large.</a:t>
            </a:r>
          </a:p>
          <a:p>
            <a:pPr>
              <a:spcAft>
                <a:spcPts val="900"/>
              </a:spcAft>
            </a:pPr>
            <a:r>
              <a:rPr sz="1350" b="0" i="0" dirty="0">
                <a:solidFill>
                  <a:srgbClr val="444A4E"/>
                </a:solidFill>
                <a:latin typeface="Calibri"/>
              </a:rPr>
              <a:t>Under a held-out-monomer split monomer identity becomes the dominant unknown. Their own RMSE goes from 0.027–0.035 eV to 0.09–0.10 eV.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160520"/>
            <a:ext cx="5760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 dirty="0">
                <a:solidFill>
                  <a:srgbClr val="B24B35"/>
                </a:solidFill>
                <a:latin typeface="Georgia"/>
              </a:rPr>
              <a:t>The architecture ablation was never run </a:t>
            </a:r>
            <a:r>
              <a:rPr lang="en-US" sz="1400" b="1" i="0" dirty="0">
                <a:solidFill>
                  <a:srgbClr val="B24B35"/>
                </a:solidFill>
                <a:latin typeface="Georgia"/>
              </a:rPr>
              <a:t>on Monomer Split</a:t>
            </a:r>
            <a:r>
              <a:rPr sz="1400" b="1" i="0" dirty="0">
                <a:solidFill>
                  <a:srgbClr val="B24B35"/>
                </a:solidFill>
                <a:latin typeface="Georgia"/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349723"/>
              </p:ext>
            </p:extLst>
          </p:nvPr>
        </p:nvGraphicFramePr>
        <p:xfrm>
          <a:off x="6860743" y="1591056"/>
          <a:ext cx="461772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Architecture as a share of…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EA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IP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444A4E"/>
                          </a:solidFill>
                          <a:latin typeface="Calibri"/>
                        </a:rPr>
                        <a:t>total variance   (held-out-monomer)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444A4E"/>
                          </a:solidFill>
                          <a:latin typeface="Calibri"/>
                        </a:rPr>
                        <a:t>0.98%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444A4E"/>
                          </a:solidFill>
                          <a:latin typeface="Calibri"/>
                        </a:rPr>
                        <a:t>1.46%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what remains once monomers known   (random)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13.9%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444A4E"/>
                          </a:solidFill>
                          <a:latin typeface="Calibri"/>
                        </a:rPr>
                        <a:t>14.1%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426CBB-5F74-73DE-90EB-5FC925BB4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83930"/>
              </p:ext>
            </p:extLst>
          </p:nvPr>
        </p:nvGraphicFramePr>
        <p:xfrm>
          <a:off x="6838772" y="3349617"/>
          <a:ext cx="5276334" cy="185678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758778">
                  <a:extLst>
                    <a:ext uri="{9D8B030D-6E8A-4147-A177-3AD203B41FA5}">
                      <a16:colId xmlns:a16="http://schemas.microsoft.com/office/drawing/2014/main" val="3694895951"/>
                    </a:ext>
                  </a:extLst>
                </a:gridCol>
                <a:gridCol w="1758778">
                  <a:extLst>
                    <a:ext uri="{9D8B030D-6E8A-4147-A177-3AD203B41FA5}">
                      <a16:colId xmlns:a16="http://schemas.microsoft.com/office/drawing/2014/main" val="3243309866"/>
                    </a:ext>
                  </a:extLst>
                </a:gridCol>
                <a:gridCol w="1758778">
                  <a:extLst>
                    <a:ext uri="{9D8B030D-6E8A-4147-A177-3AD203B41FA5}">
                      <a16:colId xmlns:a16="http://schemas.microsoft.com/office/drawing/2014/main" val="3182016594"/>
                    </a:ext>
                  </a:extLst>
                </a:gridCol>
              </a:tblGrid>
              <a:tr h="387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Grouping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Cumulative R² (EA)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New factor's share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435852"/>
                  </a:ext>
                </a:extLst>
              </a:tr>
              <a:tr h="221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0.4182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 = 41.8%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79276"/>
                  </a:ext>
                </a:extLst>
              </a:tr>
              <a:tr h="387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A,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0.9293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 given A = 51.1%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040097"/>
                  </a:ext>
                </a:extLst>
              </a:tr>
              <a:tr h="387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A, B, fracA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0.9902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composition = 6.1%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865612"/>
                  </a:ext>
                </a:extLst>
              </a:tr>
              <a:tr h="387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A, B, fracA, poly_type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architecture = 0.98%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75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dirty="0">
                <a:solidFill>
                  <a:srgbClr val="0B6E7A"/>
                </a:solidFill>
                <a:latin typeface="Calibri"/>
              </a:rPr>
              <a:t>M</a:t>
            </a:r>
            <a:r>
              <a:rPr lang="en-US" sz="1000" b="1" i="0" dirty="0">
                <a:solidFill>
                  <a:srgbClr val="0B6E7A"/>
                </a:solidFill>
                <a:latin typeface="Calibri"/>
              </a:rPr>
              <a:t>ETRIC</a:t>
            </a:r>
            <a:r>
              <a:rPr sz="1000" b="1" i="0" dirty="0">
                <a:solidFill>
                  <a:srgbClr val="0B6E7A"/>
                </a:solidFill>
                <a:latin typeface="Calibri"/>
              </a:rPr>
              <a:t>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How the two axes are computed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8A9296"/>
                </a:solidFill>
                <a:latin typeface="Calibri"/>
              </a:rPr>
              <a:t>Everything below comes from one unchanged set of predictions — no retraining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3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444A4E"/>
                </a:solidFill>
                <a:latin typeface="Calibri"/>
              </a:rPr>
              <a:t>A group g = all test polymers sharing monomer A, monomer B and composition. Within a group, only architecture differs.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697480"/>
            <a:ext cx="10762488" cy="96012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889504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onsolas"/>
              </a:rPr>
              <a:t>yᵢ  =  ȳ_g(i)  +  δᵢ            where δᵢ = yᵢ − ȳ_g(i)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8A9296"/>
                </a:solidFill>
                <a:latin typeface="Consolas"/>
              </a:rPr>
              <a:t>           where the chemistry sits        what architecture does within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977639"/>
            <a:ext cx="5212080" cy="16002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416052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950" b="1" i="0">
                <a:solidFill>
                  <a:srgbClr val="0B6E7A"/>
                </a:solidFill>
                <a:latin typeface="Calibri"/>
              </a:rPr>
              <a:t>AXIS 1 — CHEMISTRY PLACEMENT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Consolas"/>
              </a:rPr>
              <a:t>group_mean_R²  =  R²( ȳ_g , ŷ̄_g )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444A4E"/>
                </a:solidFill>
                <a:latin typeface="Calibri"/>
              </a:rPr>
              <a:t>Did the model put each chemistry at the right value?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977639"/>
            <a:ext cx="5074920" cy="16002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4160520"/>
            <a:ext cx="4526280" cy="905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950" b="1" i="0" dirty="0">
                <a:solidFill>
                  <a:srgbClr val="0B6E7A"/>
                </a:solidFill>
                <a:latin typeface="Calibri"/>
              </a:rPr>
              <a:t>AXIS 2 — ARCHITECTURE RECOVERY</a:t>
            </a:r>
          </a:p>
          <a:p>
            <a:pPr>
              <a:spcAft>
                <a:spcPts val="800"/>
              </a:spcAft>
            </a:pPr>
            <a:r>
              <a:rPr sz="1300" b="1" i="0" dirty="0">
                <a:solidFill>
                  <a:srgbClr val="1A1A1A"/>
                </a:solidFill>
                <a:latin typeface="Consolas"/>
              </a:rPr>
              <a:t>ΔR²  =  R²( </a:t>
            </a:r>
            <a:r>
              <a:rPr sz="1300" b="1" i="0" dirty="0" err="1">
                <a:solidFill>
                  <a:srgbClr val="1A1A1A"/>
                </a:solidFill>
                <a:latin typeface="Consolas"/>
              </a:rPr>
              <a:t>δ</a:t>
            </a:r>
            <a:r>
              <a:rPr sz="1300" b="1" i="0" dirty="0">
                <a:solidFill>
                  <a:srgbClr val="1A1A1A"/>
                </a:solidFill>
                <a:latin typeface="Consolas"/>
              </a:rPr>
              <a:t>ᵢ , </a:t>
            </a:r>
            <a:r>
              <a:rPr sz="1300" b="1" i="0" dirty="0" err="1">
                <a:solidFill>
                  <a:srgbClr val="1A1A1A"/>
                </a:solidFill>
                <a:latin typeface="Consolas"/>
              </a:rPr>
              <a:t>δ</a:t>
            </a:r>
            <a:r>
              <a:rPr sz="1300" b="1" i="0" dirty="0">
                <a:solidFill>
                  <a:srgbClr val="1A1A1A"/>
                </a:solidFill>
                <a:latin typeface="Consolas"/>
              </a:rPr>
              <a:t>̂</a:t>
            </a:r>
            <a:r>
              <a:rPr lang="en-US" sz="1300" b="1" i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1300" b="1" i="0" dirty="0">
                <a:solidFill>
                  <a:srgbClr val="1A1A1A"/>
                </a:solidFill>
                <a:latin typeface="Consolas"/>
              </a:rPr>
              <a:t>ᵢ )</a:t>
            </a:r>
          </a:p>
          <a:p>
            <a:pPr>
              <a:spcAft>
                <a:spcPts val="0"/>
              </a:spcAft>
            </a:pPr>
            <a:r>
              <a:rPr sz="1150" b="0" i="0" dirty="0">
                <a:solidFill>
                  <a:srgbClr val="444A4E"/>
                </a:solidFill>
                <a:latin typeface="Calibri"/>
              </a:rPr>
              <a:t>Cannot be improved by getting the chemistry right — the group mean is subtracted from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dirty="0">
                <a:solidFill>
                  <a:srgbClr val="0B6E7A"/>
                </a:solidFill>
                <a:latin typeface="Calibri"/>
              </a:rPr>
              <a:t>MET</a:t>
            </a:r>
            <a:r>
              <a:rPr lang="en-US" sz="1000" b="1" dirty="0">
                <a:solidFill>
                  <a:srgbClr val="0B6E7A"/>
                </a:solidFill>
                <a:latin typeface="Calibri"/>
              </a:rPr>
              <a:t>RIC</a:t>
            </a:r>
            <a:r>
              <a:rPr sz="1000" b="1" i="0" dirty="0">
                <a:solidFill>
                  <a:srgbClr val="0B6E7A"/>
                </a:solidFill>
                <a:latin typeface="Calibri"/>
              </a:rPr>
              <a:t>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The null floor, and two supporting quantities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5394960" cy="1184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950" b="1" i="0" dirty="0">
                <a:solidFill>
                  <a:srgbClr val="0B6E7A"/>
                </a:solidFill>
                <a:latin typeface="Calibri"/>
              </a:rPr>
              <a:t>NULL FLOOR</a:t>
            </a:r>
          </a:p>
          <a:p>
            <a:pPr>
              <a:spcAft>
                <a:spcPts val="900"/>
              </a:spcAft>
            </a:pPr>
            <a:r>
              <a:rPr sz="1200" b="0" i="0" dirty="0">
                <a:solidFill>
                  <a:srgbClr val="444A4E"/>
                </a:solidFill>
                <a:latin typeface="Calibri"/>
              </a:rPr>
              <a:t>A parameter-free lookup table, never trained. For a test polymer it returns the mean training value of polymers sharing monomer B, composition and architecture</a:t>
            </a:r>
            <a:r>
              <a:rPr lang="en-US" sz="1200" b="0" i="0" dirty="0">
                <a:solidFill>
                  <a:srgbClr val="444A4E"/>
                </a:solidFill>
                <a:latin typeface="Calibri"/>
              </a:rPr>
              <a:t>.</a:t>
            </a:r>
            <a:endParaRPr sz="1200" b="0" i="0" dirty="0">
              <a:solidFill>
                <a:srgbClr val="444A4E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r>
              <a:rPr sz="1200" b="1" i="0" dirty="0">
                <a:solidFill>
                  <a:srgbClr val="1A1A1A"/>
                </a:solidFill>
                <a:latin typeface="Consolas"/>
              </a:rPr>
              <a:t>skill  =  (R²_model − R²_null) / (1 − R²_null)</a:t>
            </a:r>
          </a:p>
          <a:p>
            <a:pPr>
              <a:spcAft>
                <a:spcPts val="0"/>
              </a:spcAft>
            </a:pPr>
            <a:r>
              <a:rPr sz="1150" b="0" i="0" dirty="0">
                <a:solidFill>
                  <a:srgbClr val="8A9296"/>
                </a:solidFill>
                <a:latin typeface="Calibri"/>
              </a:rPr>
              <a:t>0 = matched a lookup table.  A model can post R² = 0.98 and skill ≈ 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965960"/>
            <a:ext cx="49834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950" b="1" i="0">
                <a:solidFill>
                  <a:srgbClr val="0B6E7A"/>
                </a:solidFill>
                <a:latin typeface="Calibri"/>
              </a:rPr>
              <a:t>ARCHITECTURE-SPREAD RATIO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1A1A1A"/>
                </a:solidFill>
                <a:latin typeface="Consolas"/>
              </a:rPr>
              <a:t>ratioₘ = (max ŷ − min ŷ) / (max y − min y)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444A4E"/>
                </a:solidFill>
                <a:latin typeface="Calibri"/>
              </a:rPr>
              <a:t>Of the true spread between architectures, how much does the model reproduce? 1.00 is perfect; 0 = one value for all; above 1 = exaggeration.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B24B35"/>
                </a:solidFill>
                <a:latin typeface="Calibri"/>
              </a:rPr>
              <a:t>Two-sided — 1.4 is as wrong as 0.71. Summarise with median |log₂ ratio|, where 0 is perfect.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617720"/>
            <a:ext cx="10762488" cy="25603"/>
          </a:xfrm>
          <a:prstGeom prst="rect">
            <a:avLst/>
          </a:prstGeom>
          <a:solidFill>
            <a:srgbClr val="D8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48463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950" b="1" i="0">
                <a:solidFill>
                  <a:srgbClr val="0B6E7A"/>
                </a:solidFill>
                <a:latin typeface="Calibri"/>
              </a:rPr>
              <a:t>PROTOCOL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444A4E"/>
                </a:solidFill>
                <a:latin typeface="Calibri"/>
              </a:rPr>
              <a:t>Three seeds (42/43/44). Predictions averaged first, then the metric computed once — not the other way round. Best-checkpoint predictions, never the final patience-expired model. S and D folds never pooled.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6E7A"/>
                </a:solidFill>
                <a:latin typeface="Calibri"/>
              </a:rP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Baselines blind to the tested property should be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 dirty="0">
                <a:solidFill>
                  <a:srgbClr val="8A9296"/>
                </a:solidFill>
                <a:latin typeface="Calibri"/>
              </a:rPr>
              <a:t>And the </a:t>
            </a:r>
            <a:r>
              <a:rPr sz="1250" b="0" i="0" dirty="0" err="1">
                <a:solidFill>
                  <a:srgbClr val="8A9296"/>
                </a:solidFill>
                <a:latin typeface="Calibri"/>
              </a:rPr>
              <a:t>wD</a:t>
            </a:r>
            <a:r>
              <a:rPr sz="1250" b="0" i="0" dirty="0">
                <a:solidFill>
                  <a:srgbClr val="8A9296"/>
                </a:solidFill>
                <a:latin typeface="Calibri"/>
              </a:rPr>
              <a:t>-MPNN paper already ran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3120"/>
            <a:ext cx="5394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444A4E"/>
                </a:solidFill>
                <a:latin typeface="Calibri"/>
              </a:rPr>
              <a:t>Whenever a paper claims a representation encodes property X, it should report a baseline that cannot encode X — scored identically, on every fold.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517643"/>
              </p:ext>
            </p:extLst>
          </p:nvPr>
        </p:nvGraphicFramePr>
        <p:xfrm>
          <a:off x="6309360" y="2057400"/>
          <a:ext cx="5166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Diblock phase dataset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PRC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Full wD-MPNN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1A1A1A"/>
                          </a:solidFill>
                          <a:latin typeface="Calibri"/>
                        </a:rPr>
                        <a:t>Random forest, </a:t>
                      </a: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/>
                        </a:rPr>
                        <a:t>size </a:t>
                      </a:r>
                      <a:r>
                        <a:rPr sz="1050" b="1" dirty="0">
                          <a:solidFill>
                            <a:srgbClr val="1A1A1A"/>
                          </a:solidFill>
                          <a:latin typeface="Calibri"/>
                        </a:rPr>
                        <a:t>alone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A1A1A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1A1A1A"/>
                          </a:solidFill>
                          <a:latin typeface="Calibri"/>
                        </a:rPr>
                        <a:t>Random forest, </a:t>
                      </a:r>
                      <a:r>
                        <a:rPr lang="en-US" sz="105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stoich</a:t>
                      </a: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1A1A1A"/>
                          </a:solidFill>
                          <a:latin typeface="Calibri"/>
                        </a:rPr>
                        <a:t>alone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444A4E"/>
                          </a:solidFill>
                          <a:latin typeface="Calibri"/>
                        </a:rPr>
                        <a:t>Best RF (</a:t>
                      </a:r>
                      <a:r>
                        <a:rPr sz="1050" b="0" dirty="0" err="1">
                          <a:solidFill>
                            <a:srgbClr val="444A4E"/>
                          </a:solidFill>
                          <a:latin typeface="Calibri"/>
                        </a:rPr>
                        <a:t>stoich</a:t>
                      </a:r>
                      <a:r>
                        <a:rPr sz="1050" b="0" dirty="0">
                          <a:solidFill>
                            <a:srgbClr val="444A4E"/>
                          </a:solidFill>
                          <a:latin typeface="Calibri"/>
                        </a:rPr>
                        <a:t> + size)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444A4E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3566160"/>
            <a:ext cx="5394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B24B35"/>
                </a:solidFill>
                <a:latin typeface="Calibri"/>
              </a:rPr>
              <a:t>A baseline with no architectural information at all scores above the architecture-aware model — on a dataset used to demonstrate architecture awareness.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806440"/>
            <a:ext cx="10765231" cy="62179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5952744"/>
            <a:ext cx="10216591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 dirty="0">
                <a:solidFill>
                  <a:srgbClr val="FFFFFF"/>
                </a:solidFill>
                <a:latin typeface="Georgia"/>
              </a:rPr>
              <a:t>They ran the comparison and reported it</a:t>
            </a:r>
            <a:r>
              <a:rPr lang="en-US" sz="1350" b="1" i="0" dirty="0">
                <a:solidFill>
                  <a:srgbClr val="FFFFFF"/>
                </a:solidFill>
                <a:latin typeface="Georgia"/>
              </a:rPr>
              <a:t> in SI</a:t>
            </a:r>
            <a:r>
              <a:rPr sz="1350" b="1" i="0" dirty="0">
                <a:solidFill>
                  <a:srgbClr val="FFFFFF"/>
                </a:solidFill>
                <a:latin typeface="Georgia"/>
              </a:rPr>
              <a:t>. </a:t>
            </a:r>
            <a:r>
              <a:rPr lang="en-US" sz="1350" b="1" dirty="0">
                <a:solidFill>
                  <a:srgbClr val="FFFFFF"/>
                </a:solidFill>
                <a:latin typeface="Georgia"/>
              </a:rPr>
              <a:t>P</a:t>
            </a:r>
            <a:r>
              <a:rPr sz="1350" b="1" i="0" dirty="0">
                <a:solidFill>
                  <a:srgbClr val="FFFFFF"/>
                </a:solidFill>
                <a:latin typeface="Georgia"/>
              </a:rPr>
              <a:t>ropose making it mandatory.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6E7A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The null floor across every fold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8A9296"/>
                </a:solidFill>
                <a:latin typeface="Calibri"/>
              </a:rPr>
              <a:t>Group-mean R², A split (held-out monomer 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895829"/>
              </p:ext>
            </p:extLst>
          </p:nvPr>
        </p:nvGraphicFramePr>
        <p:xfrm>
          <a:off x="713232" y="2057400"/>
          <a:ext cx="7680960" cy="3369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Fold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EA null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octamer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EA 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wD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-MPNN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null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octamer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wD-MPNN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0.694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0.958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0.882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6E7A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0.748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0.496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0.487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0.991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0.509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0.970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B6E7A"/>
                          </a:solidFill>
                          <a:latin typeface="Calibri"/>
                        </a:rPr>
                        <a:t>0.961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0.986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0.981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−1.019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0.976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B6E7A"/>
                          </a:solidFill>
                          <a:latin typeface="Calibri"/>
                        </a:rPr>
                        <a:t>0.953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0.979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−3.206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0.884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0.947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−0.251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0.918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0.676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0.994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0.970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−7.528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0.977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0.755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444A4E"/>
                          </a:solidFill>
                          <a:latin typeface="Calibri"/>
                        </a:rPr>
                        <a:t>−19.069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0.878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0.569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0.986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0.098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0.846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0.410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0.988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0.482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0.428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−0.034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0.676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0.984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−0.034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0.978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0.971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0" y="2194560"/>
            <a:ext cx="28346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B6E7A"/>
                </a:solidFill>
                <a:latin typeface="Calibri"/>
              </a:rPr>
              <a:t>EA folds 2–3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444A4E"/>
                </a:solidFill>
                <a:latin typeface="Calibri"/>
              </a:rPr>
              <a:t>Lookup table scores 0.96 and 0.95 knowing nothing about the held-out monomer.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B24B35"/>
                </a:solidFill>
                <a:latin typeface="Calibri"/>
              </a:rPr>
              <a:t>IP fold 0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444A4E"/>
                </a:solidFill>
                <a:latin typeface="Calibri"/>
              </a:rPr>
              <a:t>The lookup table (0.969) beats both trained models.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0B6E7A"/>
                </a:solidFill>
                <a:latin typeface="Calibri"/>
              </a:rPr>
              <a:t>Median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444A4E"/>
                </a:solidFill>
                <a:latin typeface="Calibri"/>
              </a:rPr>
              <a:t>0.676 on EA against −0.034 on IP. Same split. You cannot tell without computing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6E7A"/>
                </a:solidFill>
                <a:latin typeface="Calibri"/>
              </a:rPr>
              <a:t>SPLIT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The folds are not exchangeable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8A9296"/>
                </a:solidFill>
                <a:latin typeface="Calibri"/>
              </a:rPr>
              <a:t>62.5% of the 682 B monomers sit in just two scaffold families (317 and 109)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377440"/>
          <a:ext cx="107670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3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26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Fold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Held-out monomers with a scaffold relative in training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0233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444A4E"/>
                </a:solidFill>
                <a:latin typeface="Calibri"/>
              </a:rPr>
              <a:t>Folds 0–3 test interpolation inside a known scaffold family. Folds 5, 7 and 8 test extrapolation to scaffolds never seen. These are different experiments.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5806440"/>
            <a:ext cx="10765231" cy="62179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5952744"/>
            <a:ext cx="1021659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 dirty="0">
                <a:solidFill>
                  <a:srgbClr val="FFFFFF"/>
                </a:solidFill>
                <a:latin typeface="Georgia"/>
              </a:rPr>
              <a:t>A balanced scaffold-disjoint split cannot be built on this benchmark. So S</a:t>
            </a:r>
            <a:r>
              <a:rPr lang="en-US" sz="1350" b="1" i="0" dirty="0">
                <a:solidFill>
                  <a:srgbClr val="FFFFFF"/>
                </a:solidFill>
                <a:latin typeface="Georgia"/>
              </a:rPr>
              <a:t> (same-scaffold)</a:t>
            </a:r>
            <a:r>
              <a:rPr sz="1350" b="1" i="0" dirty="0">
                <a:solidFill>
                  <a:srgbClr val="FFFFFF"/>
                </a:solidFill>
                <a:latin typeface="Georgia"/>
              </a:rPr>
              <a:t> and D</a:t>
            </a:r>
            <a:r>
              <a:rPr lang="en-US" sz="1350" b="1" i="0" dirty="0">
                <a:solidFill>
                  <a:srgbClr val="FFFFFF"/>
                </a:solidFill>
                <a:latin typeface="Georgia"/>
              </a:rPr>
              <a:t> (cross-scaffold)</a:t>
            </a:r>
            <a:r>
              <a:rPr sz="1350" b="1" i="0" dirty="0">
                <a:solidFill>
                  <a:srgbClr val="FFFFFF"/>
                </a:solidFill>
                <a:latin typeface="Georgia"/>
              </a:rPr>
              <a:t> folds are never pooled.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6E7A"/>
                </a:solidFill>
                <a:latin typeface="Calibri"/>
              </a:rPr>
              <a:t>HEADLINE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Under interpolation, every metric agrees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250" b="0" i="0" dirty="0">
                <a:solidFill>
                  <a:srgbClr val="8A9296"/>
                </a:solidFill>
                <a:latin typeface="Calibri"/>
              </a:rPr>
              <a:t>Monomer </a:t>
            </a:r>
            <a:r>
              <a:rPr sz="1250" b="0" i="0" dirty="0">
                <a:solidFill>
                  <a:srgbClr val="8A9296"/>
                </a:solidFill>
                <a:latin typeface="Calibri"/>
              </a:rPr>
              <a:t>A split, 9 folds. Octamer minus </a:t>
            </a:r>
            <a:r>
              <a:rPr sz="1250" b="0" i="0" dirty="0" err="1">
                <a:solidFill>
                  <a:srgbClr val="8A9296"/>
                </a:solidFill>
                <a:latin typeface="Calibri"/>
              </a:rPr>
              <a:t>wD</a:t>
            </a:r>
            <a:r>
              <a:rPr sz="1250" b="0" i="0" dirty="0">
                <a:solidFill>
                  <a:srgbClr val="8A9296"/>
                </a:solidFill>
                <a:latin typeface="Calibri"/>
              </a:rPr>
              <a:t>-MPNN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286000"/>
          <a:ext cx="107624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median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mean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wins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median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mean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wins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Overall R²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+0.017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+0.030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9/9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+0.021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+0.070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8/9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−0.018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−0.023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8/9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−0.026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−0.026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8/9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−0.024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−0.026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9/9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−0.033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−0.030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8/9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Group-mean R²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+0.008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+0.027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8/9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+0.019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+0.060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7/9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ΔR²  (architecture)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+0.190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+0.236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8/9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+0.278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+0.267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9/9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4846320"/>
            <a:ext cx="10765231" cy="62179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992624"/>
            <a:ext cx="102165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Every metric points the same way. Metric choice is immaterial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6E7A"/>
                </a:solidFill>
                <a:latin typeface="Calibri"/>
              </a:rPr>
              <a:t>HEADLINE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Under extrapolation, they come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 dirty="0">
                <a:solidFill>
                  <a:srgbClr val="8A9296"/>
                </a:solidFill>
                <a:latin typeface="Calibri"/>
              </a:rPr>
              <a:t>B split, cross-scaffold D folds, 5 folds.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286000"/>
          <a:ext cx="107442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median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mean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wins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median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mean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wins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Overall R²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−0.006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3/5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+0.010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3/5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−0.000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+0.001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3/5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−0.010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3/5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+0.005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3/5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−0.012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+0.005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3/5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Group-mean R²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+0.002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−0.008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3/5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+0.007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−0.016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4A4E"/>
                          </a:solidFill>
                          <a:latin typeface="Calibri"/>
                        </a:rPr>
                        <a:t>3/5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ΔR²  (architecture)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+0.260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+0.225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+0.152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+0.198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709160"/>
            <a:ext cx="10698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 dirty="0">
                <a:solidFill>
                  <a:srgbClr val="B24B35"/>
                </a:solidFill>
                <a:latin typeface="Calibri"/>
              </a:rPr>
              <a:t>Mean and median disagree in sign on</a:t>
            </a:r>
            <a:r>
              <a:rPr lang="en-US" sz="1300" b="1" i="0" dirty="0">
                <a:solidFill>
                  <a:srgbClr val="B24B35"/>
                </a:solidFill>
                <a:latin typeface="Calibri"/>
              </a:rPr>
              <a:t> 4/4 </a:t>
            </a:r>
            <a:r>
              <a:rPr lang="en-US" sz="1300" b="1" dirty="0">
                <a:solidFill>
                  <a:srgbClr val="B24B35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B24B35"/>
                </a:solidFill>
                <a:latin typeface="Calibri"/>
              </a:rPr>
              <a:t>accuracy metrics (EA) and </a:t>
            </a:r>
            <a:r>
              <a:rPr lang="en-US" sz="1300" b="1" i="0" dirty="0">
                <a:solidFill>
                  <a:srgbClr val="B24B35"/>
                </a:solidFill>
                <a:latin typeface="Calibri"/>
              </a:rPr>
              <a:t>¾ </a:t>
            </a:r>
            <a:r>
              <a:rPr sz="1300" b="1" i="0" dirty="0">
                <a:solidFill>
                  <a:srgbClr val="B24B35"/>
                </a:solidFill>
                <a:latin typeface="Calibri"/>
              </a:rPr>
              <a:t>(IP). ΔR² does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5440680"/>
            <a:ext cx="10765231" cy="62179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5586984"/>
            <a:ext cx="102165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Same predictions. Four metrics say tie; architecture recovery says 5 of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10765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 b="0" i="1">
                <a:solidFill>
                  <a:srgbClr val="8A9296"/>
                </a:solidFill>
                <a:latin typeface="Calibri"/>
              </a:rPr>
              <a:t>Minimum attainable p at 5 folds is 0.0625 — this cannot reach 0.05 by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651760"/>
            <a:ext cx="10765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6EA8B0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063240"/>
            <a:ext cx="939363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Paper strategy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232" y="877824"/>
            <a:ext cx="10765231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2500" b="1" i="0" dirty="0">
                <a:solidFill>
                  <a:srgbClr val="1A1A1A"/>
                </a:solidFill>
                <a:latin typeface="Georgia"/>
              </a:rPr>
              <a:t>Paper Plans</a:t>
            </a:r>
            <a:endParaRPr sz="2500" b="1" i="0" dirty="0">
              <a:solidFill>
                <a:srgbClr val="1A1A1A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942459"/>
              </p:ext>
            </p:extLst>
          </p:nvPr>
        </p:nvGraphicFramePr>
        <p:xfrm>
          <a:off x="713384" y="2214676"/>
          <a:ext cx="10765231" cy="2787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2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0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553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53"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444A4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Review — accepted, Digital Discovery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4E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Argues in the literature that representation quality needs more than accuracy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5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Evaluation framework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A1A1A"/>
                          </a:solidFill>
                          <a:latin typeface="Calibri"/>
                        </a:rPr>
                        <a:t>write now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A1A1A"/>
                          </a:solidFill>
                          <a:latin typeface="Calibri"/>
                        </a:rPr>
                        <a:t>Demonstrates it empirically. 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55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A4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Architecture-aware benchmark dataset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Design to be confirmed</a:t>
                      </a:r>
                      <a:endParaRPr sz="1400" b="0" dirty="0">
                        <a:solidFill>
                          <a:srgbClr val="444A4E"/>
                        </a:solidFill>
                        <a:latin typeface="Calibri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Builds the data the argument requires — and resolves </a:t>
                      </a:r>
                      <a:r>
                        <a:rPr lang="en-US"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question on octamer</a:t>
                      </a:r>
                      <a:endParaRPr sz="1400" b="0" dirty="0">
                        <a:solidFill>
                          <a:srgbClr val="444A4E"/>
                        </a:solidFill>
                        <a:latin typeface="Calibri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55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A4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The model — octamer vs baseline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Potential </a:t>
                      </a:r>
                      <a:endParaRPr sz="1400" b="0" dirty="0">
                        <a:solidFill>
                          <a:srgbClr val="444A4E"/>
                        </a:solidFill>
                        <a:latin typeface="Calibri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Held until external validity is tested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6E7A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What Paper 2 builds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8A9296"/>
                </a:solidFill>
                <a:latin typeface="Calibri"/>
              </a:rPr>
              <a:t>The existing benchmark has three architecture settings — literally three distinct transition matrices across 42,966 rows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915397"/>
              </p:ext>
            </p:extLst>
          </p:nvPr>
        </p:nvGraphicFramePr>
        <p:xfrm>
          <a:off x="713232" y="2331720"/>
          <a:ext cx="1076248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3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endParaRPr sz="2400" dirty="0"/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A4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444A4E"/>
                          </a:solidFill>
                          <a:latin typeface="Calibri"/>
                        </a:rPr>
                        <a:t>Blockiness</a:t>
                      </a:r>
                      <a:r>
                        <a:rPr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 varies continuously at fixed chemistry and composition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Turns a 3-way classification into a real measurement axis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A4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A4E"/>
                          </a:solidFill>
                          <a:latin typeface="Calibri"/>
                        </a:rPr>
                        <a:t>Publish the un-averaged per-chain values, not only the ensemble average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444A4E"/>
                          </a:solidFill>
                          <a:latin typeface="Calibri"/>
                        </a:rPr>
                        <a:t>Share per-label uncertainty/distribution</a:t>
                      </a:r>
                      <a:endParaRPr sz="1400" b="0" dirty="0">
                        <a:solidFill>
                          <a:srgbClr val="444A4E"/>
                        </a:solidFill>
                        <a:latin typeface="Calibri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Sweep the label chain length: 8, 12, 16 and 24 units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A1A1A"/>
                          </a:solidFill>
                          <a:latin typeface="Calibri"/>
                        </a:rPr>
                        <a:t>Resolves </a:t>
                      </a: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/>
                        </a:rPr>
                        <a:t>octamer design</a:t>
                      </a:r>
                      <a:endParaRPr sz="1400" b="1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48056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950" b="1" i="0" dirty="0">
                <a:solidFill>
                  <a:srgbClr val="0B6E7A"/>
                </a:solidFill>
                <a:latin typeface="Calibri"/>
              </a:rPr>
              <a:t>COST</a:t>
            </a:r>
          </a:p>
          <a:p>
            <a:pPr>
              <a:spcAft>
                <a:spcPts val="0"/>
              </a:spcAft>
            </a:pPr>
            <a:r>
              <a:rPr sz="1200" b="0" i="0" dirty="0">
                <a:solidFill>
                  <a:srgbClr val="444A4E"/>
                </a:solidFill>
                <a:latin typeface="Calibri"/>
              </a:rPr>
              <a:t>~2,000 polymers · ≤512,000 structures · ~30 CPU-seconds each  →  ≈ 8–9 </a:t>
            </a:r>
            <a:r>
              <a:rPr sz="1200" b="0" i="0" dirty="0" err="1">
                <a:solidFill>
                  <a:srgbClr val="444A4E"/>
                </a:solidFill>
                <a:latin typeface="Calibri"/>
              </a:rPr>
              <a:t>kSU</a:t>
            </a:r>
            <a:r>
              <a:rPr sz="1200" b="0" i="0" dirty="0">
                <a:solidFill>
                  <a:srgbClr val="444A4E"/>
                </a:solidFill>
                <a:latin typeface="Calibri"/>
              </a:rPr>
              <a:t> CPU. That is a ceiling; a one-day pilot would measure the real figure.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480560"/>
            <a:ext cx="4983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950" b="1" i="0" dirty="0">
                <a:solidFill>
                  <a:srgbClr val="0B6E7A"/>
                </a:solidFill>
                <a:latin typeface="Calibri"/>
              </a:rPr>
              <a:t>FOR SCALE</a:t>
            </a:r>
          </a:p>
          <a:p>
            <a:pPr>
              <a:spcAft>
                <a:spcPts val="0"/>
              </a:spcAft>
            </a:pPr>
            <a:r>
              <a:rPr sz="1200" b="0" i="0" dirty="0">
                <a:solidFill>
                  <a:srgbClr val="444A4E"/>
                </a:solidFill>
                <a:latin typeface="Calibri"/>
              </a:rPr>
              <a:t>Reproducing the full 42,966 would be ~150 </a:t>
            </a:r>
            <a:r>
              <a:rPr sz="1200" b="0" i="0" dirty="0" err="1">
                <a:solidFill>
                  <a:srgbClr val="444A4E"/>
                </a:solidFill>
                <a:latin typeface="Calibri"/>
              </a:rPr>
              <a:t>kSU</a:t>
            </a:r>
            <a:r>
              <a:rPr sz="1200" b="0" i="0" dirty="0">
                <a:solidFill>
                  <a:srgbClr val="444A4E"/>
                </a:solidFill>
                <a:latin typeface="Calibri"/>
              </a:rPr>
              <a:t>. We are proposing about 5% of that — and it is CPU, not GPU.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806440"/>
            <a:ext cx="10765231" cy="62179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5952744"/>
            <a:ext cx="102165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The pipeline is published, verified portable, and runs on monomers we already hold.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651760"/>
            <a:ext cx="10765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6EA8B0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063240"/>
            <a:ext cx="939363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Why does the octamer win?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114800"/>
            <a:ext cx="857067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i="0">
                <a:solidFill>
                  <a:srgbClr val="A8B8BC"/>
                </a:solidFill>
                <a:latin typeface="Calibri"/>
              </a:rPr>
              <a:t>What we have excluded, and what remains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6E7A"/>
                </a:solidFill>
                <a:latin typeface="Calibri"/>
              </a:rPr>
              <a:t>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The result being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 dirty="0">
                <a:solidFill>
                  <a:srgbClr val="8A9296"/>
                </a:solidFill>
                <a:latin typeface="Calibri"/>
              </a:rPr>
              <a:t>Median over 9 A-split folds, baseline at its published configuration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291884"/>
              </p:ext>
            </p:extLst>
          </p:nvPr>
        </p:nvGraphicFramePr>
        <p:xfrm>
          <a:off x="649224" y="1914676"/>
          <a:ext cx="10762488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overall 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MAE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ΔR²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overall 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MAE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ΔR²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Calibri"/>
                        </a:rPr>
                        <a:t>HPG-octamer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0.984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0.849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0.978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0.886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444A4E"/>
                          </a:solidFill>
                          <a:latin typeface="Calibri"/>
                        </a:rPr>
                        <a:t>wD</a:t>
                      </a:r>
                      <a:r>
                        <a:rPr sz="1200" b="0" dirty="0">
                          <a:solidFill>
                            <a:srgbClr val="444A4E"/>
                          </a:solidFill>
                          <a:latin typeface="Calibri"/>
                        </a:rPr>
                        <a:t>-MPNN (published </a:t>
                      </a:r>
                      <a:r>
                        <a:rPr sz="1200" b="0" dirty="0" err="1">
                          <a:solidFill>
                            <a:srgbClr val="444A4E"/>
                          </a:solidFill>
                          <a:latin typeface="Calibri"/>
                        </a:rPr>
                        <a:t>cfg</a:t>
                      </a:r>
                      <a:r>
                        <a:rPr sz="1200" b="0" dirty="0">
                          <a:solidFill>
                            <a:srgbClr val="444A4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0.070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0.397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0.971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0.050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444A4E"/>
                          </a:solidFill>
                          <a:latin typeface="Calibri"/>
                        </a:rPr>
                        <a:t>0.565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" y="64420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 dirty="0">
                <a:solidFill>
                  <a:srgbClr val="444A4E"/>
                </a:solidFill>
                <a:latin typeface="Calibri"/>
              </a:rPr>
              <a:t>The accuracy gap is real but modest. The architecture-recovery gap is more than double.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D5D19C4-E261-D6D7-1E41-2FC7C35CE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429253"/>
              </p:ext>
            </p:extLst>
          </p:nvPr>
        </p:nvGraphicFramePr>
        <p:xfrm>
          <a:off x="649224" y="3456431"/>
          <a:ext cx="10762488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overall 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MAE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ΔR²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overall 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MAE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ΔR²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/>
                        <a:t>HPG-octamer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0.980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0.049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0.836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0.982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0.036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0.909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/>
                        <a:t>wD</a:t>
                      </a:r>
                      <a:r>
                        <a:rPr lang="en-US" sz="1200" dirty="0"/>
                        <a:t>-MPNN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0.065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0.693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0.049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0.755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7339F1-262F-3B6F-4FD9-E62AFBCD5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862748"/>
              </p:ext>
            </p:extLst>
          </p:nvPr>
        </p:nvGraphicFramePr>
        <p:xfrm>
          <a:off x="681228" y="4949251"/>
          <a:ext cx="10762488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overall 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MAE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ΔR²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overall 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MAE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ΔR²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/>
                        <a:t>HPG-octamer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0.951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0.089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0.706</a:t>
                      </a:r>
                      <a:endParaRPr lang="en-US" sz="1200" dirty="0"/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0.924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0.076</a:t>
                      </a:r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0.724</a:t>
                      </a:r>
                      <a:endParaRPr lang="en-US" sz="1200"/>
                    </a:p>
                  </a:txBody>
                  <a:tcPr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/>
                        <a:t>wD</a:t>
                      </a:r>
                      <a:r>
                        <a:rPr lang="en-US" sz="1200" dirty="0"/>
                        <a:t>-MPNN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0.947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0.092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0.528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0.908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0.086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0.525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3B85C3B-1ADE-7A41-1043-30965B47A378}"/>
              </a:ext>
            </a:extLst>
          </p:cNvPr>
          <p:cNvSpPr txBox="1"/>
          <p:nvPr/>
        </p:nvSpPr>
        <p:spPr>
          <a:xfrm>
            <a:off x="681228" y="3249700"/>
            <a:ext cx="1039947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 dirty="0">
                <a:solidFill>
                  <a:srgbClr val="8A9296"/>
                </a:solidFill>
                <a:latin typeface="Calibri"/>
              </a:rPr>
              <a:t>Median over </a:t>
            </a:r>
            <a:r>
              <a:rPr lang="en-US" sz="1250" b="0" i="0" dirty="0">
                <a:solidFill>
                  <a:srgbClr val="8A9296"/>
                </a:solidFill>
                <a:latin typeface="Calibri"/>
              </a:rPr>
              <a:t>4</a:t>
            </a:r>
            <a:r>
              <a:rPr sz="1250" b="0" i="0" dirty="0">
                <a:solidFill>
                  <a:srgbClr val="8A9296"/>
                </a:solidFill>
                <a:latin typeface="Calibri"/>
              </a:rPr>
              <a:t> </a:t>
            </a:r>
            <a:r>
              <a:rPr lang="en-US" sz="1250" b="0" i="0" dirty="0">
                <a:solidFill>
                  <a:srgbClr val="8A9296"/>
                </a:solidFill>
                <a:latin typeface="Calibri"/>
              </a:rPr>
              <a:t>B</a:t>
            </a:r>
            <a:r>
              <a:rPr sz="1250" b="0" i="0" dirty="0">
                <a:solidFill>
                  <a:srgbClr val="8A9296"/>
                </a:solidFill>
                <a:latin typeface="Calibri"/>
              </a:rPr>
              <a:t>-split folds, </a:t>
            </a:r>
            <a:r>
              <a:rPr lang="en-US" sz="1250" b="0" i="0" dirty="0">
                <a:solidFill>
                  <a:srgbClr val="8A9296"/>
                </a:solidFill>
                <a:latin typeface="Calibri"/>
              </a:rPr>
              <a:t>same scaffold</a:t>
            </a:r>
            <a:endParaRPr sz="1250" b="0" i="0" dirty="0">
              <a:solidFill>
                <a:srgbClr val="8A9296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131858-D662-7B3D-A8C8-858C34209643}"/>
              </a:ext>
            </a:extLst>
          </p:cNvPr>
          <p:cNvSpPr txBox="1"/>
          <p:nvPr/>
        </p:nvSpPr>
        <p:spPr>
          <a:xfrm>
            <a:off x="681227" y="4690787"/>
            <a:ext cx="1039947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 dirty="0">
                <a:solidFill>
                  <a:srgbClr val="8A9296"/>
                </a:solidFill>
                <a:latin typeface="Calibri"/>
              </a:rPr>
              <a:t>Median over </a:t>
            </a:r>
            <a:r>
              <a:rPr lang="en-US" sz="1250" dirty="0">
                <a:solidFill>
                  <a:srgbClr val="8A9296"/>
                </a:solidFill>
                <a:latin typeface="Calibri"/>
              </a:rPr>
              <a:t>5</a:t>
            </a:r>
            <a:r>
              <a:rPr sz="1250" b="0" i="0" dirty="0">
                <a:solidFill>
                  <a:srgbClr val="8A9296"/>
                </a:solidFill>
                <a:latin typeface="Calibri"/>
              </a:rPr>
              <a:t> </a:t>
            </a:r>
            <a:r>
              <a:rPr lang="en-US" sz="1250" b="0" i="0" dirty="0">
                <a:solidFill>
                  <a:srgbClr val="8A9296"/>
                </a:solidFill>
                <a:latin typeface="Calibri"/>
              </a:rPr>
              <a:t>B</a:t>
            </a:r>
            <a:r>
              <a:rPr sz="1250" b="0" i="0" dirty="0">
                <a:solidFill>
                  <a:srgbClr val="8A9296"/>
                </a:solidFill>
                <a:latin typeface="Calibri"/>
              </a:rPr>
              <a:t>-split folds, </a:t>
            </a:r>
            <a:r>
              <a:rPr lang="en-US" sz="1250" b="0" i="0" dirty="0">
                <a:solidFill>
                  <a:srgbClr val="8A9296"/>
                </a:solidFill>
                <a:latin typeface="Calibri"/>
              </a:rPr>
              <a:t>cross scaffold</a:t>
            </a:r>
            <a:endParaRPr sz="1250" b="0" i="0" dirty="0">
              <a:solidFill>
                <a:srgbClr val="8A929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000" b="1" i="0" dirty="0">
                <a:solidFill>
                  <a:srgbClr val="0B6E7A"/>
                </a:solidFill>
                <a:latin typeface="Calibri"/>
              </a:rPr>
              <a:t>ABLATION</a:t>
            </a:r>
            <a:endParaRPr sz="1000" b="1" i="0" dirty="0">
              <a:solidFill>
                <a:srgbClr val="0B6E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Five differences, tested one at a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8A9296"/>
                </a:solidFill>
                <a:latin typeface="Calibri"/>
              </a:rPr>
              <a:t>Each elimination pre-registered before running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577432"/>
              </p:ext>
            </p:extLst>
          </p:nvPr>
        </p:nvGraphicFramePr>
        <p:xfrm>
          <a:off x="713232" y="2377440"/>
          <a:ext cx="10762488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444A4E"/>
                          </a:solidFill>
                          <a:latin typeface="Calibri"/>
                        </a:rPr>
                        <a:t>8-slot chain instead of a 2-node graph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Learned position embeddings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Calibri"/>
                        </a:rPr>
                        <a:t>excluded — next slide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444A4E"/>
                          </a:solidFill>
                          <a:latin typeface="Calibri"/>
                        </a:rPr>
                        <a:t>Attention readout instead of stoichiometry-weighted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444A4E"/>
                          </a:solidFill>
                          <a:latin typeface="Calibri"/>
                        </a:rPr>
                        <a:t>Discards the 16-d port-pair edge features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16 sampled sequences averaged, instead of 1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Calibri"/>
                        </a:rPr>
                        <a:t>excluded — next slide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5806440"/>
            <a:ext cx="10765231" cy="62179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5952744"/>
            <a:ext cx="102165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Two excluded, three open — and two of the three are confounded with each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6E7A"/>
                </a:solidFill>
                <a:latin typeface="Calibri"/>
              </a:rPr>
              <a:t>EXCLUDED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Factor 5 — the 16-sequence ensemble is not doing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 dirty="0">
                <a:solidFill>
                  <a:srgbClr val="8A9296"/>
                </a:solidFill>
                <a:latin typeface="Calibri"/>
              </a:rPr>
              <a:t>Retrained with K = 1: one fixed sequence per polymer, never resampled. B split, both targets, three seeds</a:t>
            </a:r>
            <a:r>
              <a:rPr lang="en-US" sz="1250" b="0" i="0" dirty="0">
                <a:solidFill>
                  <a:srgbClr val="8A9296"/>
                </a:solidFill>
                <a:latin typeface="Calibri"/>
              </a:rPr>
              <a:t>, </a:t>
            </a:r>
            <a:r>
              <a:rPr lang="en-US" sz="1250" b="0" i="0">
                <a:solidFill>
                  <a:srgbClr val="8A9296"/>
                </a:solidFill>
                <a:latin typeface="Calibri"/>
              </a:rPr>
              <a:t>random rows</a:t>
            </a:r>
            <a:endParaRPr sz="1250" b="0" i="0" dirty="0">
              <a:solidFill>
                <a:srgbClr val="8A9296"/>
              </a:solidFill>
              <a:latin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468880"/>
          <a:ext cx="1076248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1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Metric  (K=1 minus K=16) — full range across folds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· S folds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· D folds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· S folds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· D folds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Overall R²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−0.010, +0.001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−0.006, +0.018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−0.003, +0.003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−0.006, +0.010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−0.002, +0.011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−0.015, +0.007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−0.004, +0.003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−0.006, +0.008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−0.001, +0.008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−0.010, +0.002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−0.000, +0.002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−0.004, +0.005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Group-mean R²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−0.010, +0.001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−0.006, +0.019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−0.004, +0.003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−0.006, +0.010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ΔR²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−0.002, +0.029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−0.024, +0.032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−0.019, +0.005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−0.062, +0.025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3232" y="5806440"/>
            <a:ext cx="10765231" cy="62179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5952744"/>
            <a:ext cx="102165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The biggest single-fold change anywhere is 0.062. The averaging is not where the advantage comes from.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1941B0-038D-A51F-953F-436CE3DD6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176907"/>
            <a:ext cx="7772400" cy="31449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6E7A"/>
                </a:solidFill>
                <a:latin typeface="Calibri"/>
              </a:rPr>
              <a:t>EXCLUDED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Georgia"/>
              </a:rPr>
              <a:t>Factor 2 — position embeddings are not doing the work either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8A9296"/>
                </a:solidFill>
                <a:latin typeface="Calibri"/>
              </a:rPr>
              <a:t>Retrained with the 8 learned slot vectors removed. A split, 9 folds, both targets, three seeds — 54 runs, completed this week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452017"/>
              </p:ext>
            </p:extLst>
          </p:nvPr>
        </p:nvGraphicFramePr>
        <p:xfrm>
          <a:off x="649224" y="2048255"/>
          <a:ext cx="1076248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  (ablated minus baseline)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EA median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 range across folds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EA p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median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range across folds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IP p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Overall R²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−0.008, +0.035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+0.002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−0.032, +0.088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+0.001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−0.060, +0.012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−0.032, +0.013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+0.001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−0.051, +0.011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−0.027, +0.013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Group-mean R²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−0.008, +0.037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+0.001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−0.032, +0.092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44A4E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ΔR²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−0.010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−0.053, +0.105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−0.010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−0.108, +0.051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45720" marT="18288" marB="18288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3231" y="6084736"/>
            <a:ext cx="10765231" cy="621792"/>
          </a:xfrm>
          <a:prstGeom prst="rect">
            <a:avLst/>
          </a:prstGeom>
          <a:solidFill>
            <a:srgbClr val="1E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1" y="6231040"/>
            <a:ext cx="1021659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 dirty="0">
                <a:solidFill>
                  <a:srgbClr val="FFFFFF"/>
                </a:solidFill>
                <a:latin typeface="Georgia"/>
              </a:rPr>
              <a:t>No consistent effect. Two known-unstable cells account for most of the spread.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91DEF8-6ECB-ED8A-FCB6-50FFDE7F2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703" y="1966071"/>
            <a:ext cx="7772400" cy="31298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6E7A"/>
                </a:solidFill>
                <a:latin typeface="Calibri"/>
              </a:rPr>
              <a:t>THE HONEST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77824"/>
            <a:ext cx="10765231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 dirty="0">
                <a:solidFill>
                  <a:srgbClr val="1A1A1A"/>
                </a:solidFill>
                <a:latin typeface="Georgia"/>
              </a:rPr>
              <a:t>The </a:t>
            </a:r>
            <a:r>
              <a:rPr lang="en-US" sz="2500" b="1" i="0" dirty="0">
                <a:solidFill>
                  <a:srgbClr val="1A1A1A"/>
                </a:solidFill>
                <a:latin typeface="Georgia"/>
              </a:rPr>
              <a:t>issue</a:t>
            </a:r>
            <a:r>
              <a:rPr sz="2500" b="1" i="0" dirty="0">
                <a:solidFill>
                  <a:srgbClr val="1A1A1A"/>
                </a:solidFill>
                <a:latin typeface="Georgia"/>
              </a:rPr>
              <a:t>, and how Paper 2 </a:t>
            </a:r>
            <a:r>
              <a:rPr lang="en-US" sz="2500" b="1" i="0" dirty="0">
                <a:solidFill>
                  <a:srgbClr val="1A1A1A"/>
                </a:solidFill>
                <a:latin typeface="Georgia"/>
              </a:rPr>
              <a:t>could </a:t>
            </a:r>
            <a:r>
              <a:rPr sz="2500" b="1" i="0" dirty="0">
                <a:solidFill>
                  <a:srgbClr val="1A1A1A"/>
                </a:solidFill>
                <a:latin typeface="Georgia"/>
              </a:rPr>
              <a:t>resolves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36192"/>
            <a:ext cx="1371600" cy="20116"/>
          </a:xfrm>
          <a:prstGeom prst="rect">
            <a:avLst/>
          </a:prstGeom>
          <a:solidFill>
            <a:srgbClr val="0B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82495"/>
            <a:ext cx="103994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 i="0">
                <a:solidFill>
                  <a:srgbClr val="8A9296"/>
                </a:solidFill>
                <a:latin typeface="Calibri"/>
              </a:rPr>
              <a:t>Labels were computed on 8-unit chains averaged over up to 32 sequences. The octamer uses an 8-slot chain, 16 sequences, averaged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514600"/>
          <a:ext cx="1076248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9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If the octamer's advantage is…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then as label chain length moves away from 8…</a:t>
                      </a:r>
                    </a:p>
                  </a:txBody>
                  <a:tcPr marL="73152" marR="45720" marT="18288" marB="18288" anchor="ctr">
                    <a:solidFill>
                      <a:srgbClr val="1E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protocol matching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performance peaks sharply at 8 and degrades at 12, 16, 24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correct physics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A4E"/>
                          </a:solidFill>
                          <a:latin typeface="Calibri"/>
                        </a:rPr>
                        <a:t>performance is flat, or improves with longer chains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2062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50" b="0" i="0" dirty="0">
                <a:solidFill>
                  <a:srgbClr val="444A4E"/>
                </a:solidFill>
                <a:latin typeface="Calibri"/>
              </a:rPr>
              <a:t>This is change 3 on the Paper 2 slide. The same monomers, the same pipeline, a subset run at four chain lengths instead of one — a clean, pre-registerable discriminator at no extra cost.</a:t>
            </a:r>
          </a:p>
          <a:p>
            <a:pPr>
              <a:spcAft>
                <a:spcPts val="0"/>
              </a:spcAft>
            </a:pPr>
            <a:r>
              <a:rPr sz="1300" b="0" i="0" dirty="0">
                <a:solidFill>
                  <a:srgbClr val="8A9296"/>
                </a:solidFill>
                <a:latin typeface="Calibri"/>
              </a:rPr>
              <a:t>Cheaper first: test on the glass-transition and block-copolymer datasets we already hold, whose labels have nothing to do with 8-unit averaging.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2979</Words>
  <Application>Microsoft Macintosh PowerPoint</Application>
  <PresentationFormat>Widescreen</PresentationFormat>
  <Paragraphs>588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Chloe Lin</cp:lastModifiedBy>
  <cp:revision>13</cp:revision>
  <dcterms:created xsi:type="dcterms:W3CDTF">2013-01-27T09:14:16Z</dcterms:created>
  <dcterms:modified xsi:type="dcterms:W3CDTF">2026-08-12T03:18:48Z</dcterms:modified>
  <cp:category/>
</cp:coreProperties>
</file>