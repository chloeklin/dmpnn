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this is not 'here are better metrics'. It is 'the metric everyone reports cannot answer the question everyone is asking', and here is the evidence. Rebuilt 11 August against six purpose-built, verified figures.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'selected example' out loud. Base rate is in the manifest: 61 of 6,138 group-folds on EA (1.0%), 54 on IP (0.9%), present in 8 of 9 folds on each target. Median architecture-spread recovery across all groups: octamer 0.768 EA / 0.947 IP, wDMPNN 0.610 / 0.551. That ratio is TWO-SIDED — closer to 1 is better, not larger — so do not quote it as a ranking without the caveat.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the variance is so large on one fold and not the other: we do not fully know. It is a property of that fold's group structure, not of the model. That is itself worth reporting — and it is why every comparison in this work uses three seeds averaged at the prediction level.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0"/>
            <a:ext cx="11185855" cy="365760"/>
          </a:xfrm>
          <a:prstGeom prst="rect">
            <a:avLst/>
          </a:prstGeom>
          <a:noFill/>
        </p:spPr>
        <p:txBody>
          <a:bodyPr wrap="square" lIns="0" rIns="0" tIns="0" bIns="0" anchor="t">
            <a:spAutoFit/>
          </a:bodyPr>
          <a:lstStyle/>
          <a:p>
            <a:pPr>
              <a:spcAft>
                <a:spcPts val="0"/>
              </a:spcAft>
            </a:pPr>
            <a:r>
              <a:rPr sz="1200" b="1" i="0">
                <a:solidFill>
                  <a:srgbClr val="028090"/>
                </a:solidFill>
                <a:latin typeface="Calibri"/>
              </a:rPr>
              <a:t>PAPER 1 — EVALUATION FRAMEWORK</a:t>
            </a:r>
          </a:p>
        </p:txBody>
      </p:sp>
      <p:sp>
        <p:nvSpPr>
          <p:cNvPr id="4" name="TextBox 3"/>
          <p:cNvSpPr txBox="1"/>
          <p:nvPr/>
        </p:nvSpPr>
        <p:spPr>
          <a:xfrm>
            <a:off x="502920" y="2331720"/>
            <a:ext cx="10241280" cy="1828800"/>
          </a:xfrm>
          <a:prstGeom prst="rect">
            <a:avLst/>
          </a:prstGeom>
          <a:noFill/>
        </p:spPr>
        <p:txBody>
          <a:bodyPr wrap="square" lIns="0" rIns="0" tIns="0" bIns="0" anchor="t">
            <a:spAutoFit/>
          </a:bodyPr>
          <a:lstStyle/>
          <a:p>
            <a:pPr>
              <a:spcAft>
                <a:spcPts val="0"/>
              </a:spcAft>
            </a:pPr>
            <a:r>
              <a:rPr sz="3300" b="1" i="0">
                <a:solidFill>
                  <a:srgbClr val="FFFFFF"/>
                </a:solidFill>
                <a:latin typeface="Cambria"/>
              </a:rPr>
              <a:t>Current evaluation cannot see</a:t>
            </a:r>
            <a:br/>
            <a:r>
              <a:rPr sz="3300" b="1" i="0">
                <a:solidFill>
                  <a:srgbClr val="FFFFFF"/>
                </a:solidFill>
                <a:latin typeface="Cambria"/>
              </a:rPr>
              <a:t>the property the field claims to model</a:t>
            </a:r>
          </a:p>
        </p:txBody>
      </p:sp>
      <p:sp>
        <p:nvSpPr>
          <p:cNvPr id="5" name="TextBox 4"/>
          <p:cNvSpPr txBox="1"/>
          <p:nvPr/>
        </p:nvSpPr>
        <p:spPr>
          <a:xfrm>
            <a:off x="502920" y="4480560"/>
            <a:ext cx="9692640" cy="914400"/>
          </a:xfrm>
          <a:prstGeom prst="rect">
            <a:avLst/>
          </a:prstGeom>
          <a:noFill/>
        </p:spPr>
        <p:txBody>
          <a:bodyPr wrap="square" lIns="0" rIns="0" tIns="0" bIns="0" anchor="t">
            <a:spAutoFit/>
          </a:bodyPr>
          <a:lstStyle/>
          <a:p>
            <a:pPr>
              <a:spcAft>
                <a:spcPts val="0"/>
              </a:spcAft>
            </a:pPr>
            <a:r>
              <a:rPr sz="1400" b="0" i="0">
                <a:solidFill>
                  <a:srgbClr val="A7BEAE"/>
                </a:solidFill>
                <a:latin typeface="Calibri"/>
              </a:rPr>
              <a:t>Six components of an evaluation framework for polymer representation learning. All six are built, measured, and demonstrated on data already held.</a:t>
            </a:r>
          </a:p>
        </p:txBody>
      </p:sp>
      <p:sp>
        <p:nvSpPr>
          <p:cNvPr id="6" name="TextBox 5"/>
          <p:cNvSpPr txBox="1"/>
          <p:nvPr/>
        </p:nvSpPr>
        <p:spPr>
          <a:xfrm>
            <a:off x="502920" y="5760720"/>
            <a:ext cx="10515600" cy="548640"/>
          </a:xfrm>
          <a:prstGeom prst="rect">
            <a:avLst/>
          </a:prstGeom>
          <a:noFill/>
        </p:spPr>
        <p:txBody>
          <a:bodyPr wrap="square" lIns="0" rIns="0" tIns="0" bIns="0" anchor="t">
            <a:spAutoFit/>
          </a:bodyPr>
          <a:lstStyle/>
          <a:p>
            <a:pPr>
              <a:spcAft>
                <a:spcPts val="0"/>
              </a:spcAft>
            </a:pPr>
            <a:r>
              <a:rPr sz="1150" b="0" i="1">
                <a:solidFill>
                  <a:srgbClr val="77868E"/>
                </a:solidFill>
                <a:latin typeface="Calibri"/>
              </a:rPr>
              <a:t>Every figure carries a manifest recording its sources and selection rule. No new compute is required to write this paper.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640080"/>
          </a:xfrm>
          <a:prstGeom prst="rect">
            <a:avLst/>
          </a:prstGeom>
          <a:noFill/>
        </p:spPr>
        <p:txBody>
          <a:bodyPr wrap="square" lIns="0" rIns="0" tIns="0" bIns="0" anchor="t">
            <a:spAutoFit/>
          </a:bodyPr>
          <a:lstStyle/>
          <a:p>
            <a:pPr>
              <a:spcAft>
                <a:spcPts val="0"/>
              </a:spcAft>
            </a:pPr>
            <a:r>
              <a:rPr sz="2600" b="1" i="0">
                <a:solidFill>
                  <a:srgbClr val="1A242A"/>
                </a:solidFill>
                <a:latin typeface="Cambria"/>
              </a:rPr>
              <a:t>The problem, and the six things needed to fix it</a:t>
            </a:r>
          </a:p>
        </p:txBody>
      </p:sp>
      <p:sp>
        <p:nvSpPr>
          <p:cNvPr id="3" name="TextBox 2"/>
          <p:cNvSpPr txBox="1"/>
          <p:nvPr/>
        </p:nvSpPr>
        <p:spPr>
          <a:xfrm>
            <a:off x="502920" y="1078992"/>
            <a:ext cx="11185855" cy="365760"/>
          </a:xfrm>
          <a:prstGeom prst="rect">
            <a:avLst/>
          </a:prstGeom>
          <a:noFill/>
        </p:spPr>
        <p:txBody>
          <a:bodyPr wrap="square" lIns="0" rIns="0" tIns="0" bIns="0" anchor="t">
            <a:spAutoFit/>
          </a:bodyPr>
          <a:lstStyle/>
          <a:p>
            <a:pPr>
              <a:spcAft>
                <a:spcPts val="0"/>
              </a:spcAft>
            </a:pPr>
            <a:r>
              <a:rPr sz="1300" b="0" i="0">
                <a:solidFill>
                  <a:srgbClr val="77868E"/>
                </a:solidFill>
                <a:latin typeface="Calibri"/>
              </a:rPr>
              <a:t>Chain architecture is what we claim to model. It is ~1% of the variance in the target.</a:t>
            </a:r>
          </a:p>
        </p:txBody>
      </p:sp>
      <p:sp>
        <p:nvSpPr>
          <p:cNvPr id="4" name="Rounded Rectangle 3"/>
          <p:cNvSpPr/>
          <p:nvPr/>
        </p:nvSpPr>
        <p:spPr>
          <a:xfrm>
            <a:off x="502920" y="1691640"/>
            <a:ext cx="3602736" cy="141732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58952" y="1929384"/>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758952" y="2441448"/>
            <a:ext cx="3108960" cy="59436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Variance decomposition</a:t>
            </a:r>
          </a:p>
          <a:p>
            <a:pPr>
              <a:spcAft>
                <a:spcPts val="0"/>
              </a:spcAft>
            </a:pPr>
            <a:r>
              <a:rPr sz="1050" b="0" i="0">
                <a:solidFill>
                  <a:srgbClr val="3D4C54"/>
                </a:solidFill>
                <a:latin typeface="Calibri"/>
              </a:rPr>
              <a:t>Establishes that the signal is invisible to the standard metric</a:t>
            </a:r>
          </a:p>
        </p:txBody>
      </p:sp>
      <p:sp>
        <p:nvSpPr>
          <p:cNvPr id="7" name="TextBox 6"/>
          <p:cNvSpPr txBox="1"/>
          <p:nvPr/>
        </p:nvSpPr>
        <p:spPr>
          <a:xfrm>
            <a:off x="3566160" y="1947672"/>
            <a:ext cx="457200" cy="274320"/>
          </a:xfrm>
          <a:prstGeom prst="rect">
            <a:avLst/>
          </a:prstGeom>
          <a:noFill/>
        </p:spPr>
        <p:txBody>
          <a:bodyPr wrap="square" lIns="0" rIns="0" tIns="0" bIns="0" anchor="t">
            <a:spAutoFit/>
          </a:bodyPr>
          <a:lstStyle/>
          <a:p>
            <a:pPr>
              <a:spcAft>
                <a:spcPts val="0"/>
              </a:spcAft>
            </a:pPr>
            <a:r>
              <a:rPr sz="1000" b="1" i="0">
                <a:solidFill>
                  <a:srgbClr val="77868E"/>
                </a:solidFill>
                <a:latin typeface="Calibri"/>
              </a:rPr>
              <a:t>F1</a:t>
            </a:r>
          </a:p>
        </p:txBody>
      </p:sp>
      <p:sp>
        <p:nvSpPr>
          <p:cNvPr id="8" name="Rounded Rectangle 7"/>
          <p:cNvSpPr/>
          <p:nvPr/>
        </p:nvSpPr>
        <p:spPr>
          <a:xfrm>
            <a:off x="4288536" y="1691640"/>
            <a:ext cx="3602736" cy="141732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44568" y="1929384"/>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4544568" y="2441448"/>
            <a:ext cx="3108960" cy="59436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Two-axis metric</a:t>
            </a:r>
          </a:p>
          <a:p>
            <a:pPr>
              <a:spcAft>
                <a:spcPts val="0"/>
              </a:spcAft>
            </a:pPr>
            <a:r>
              <a:rPr sz="1050" b="0" i="0">
                <a:solidFill>
                  <a:srgbClr val="3D4C54"/>
                </a:solidFill>
                <a:latin typeface="Calibri"/>
              </a:rPr>
              <a:t>Separates chemistry placement from architecture recovery</a:t>
            </a:r>
          </a:p>
        </p:txBody>
      </p:sp>
      <p:sp>
        <p:nvSpPr>
          <p:cNvPr id="11" name="TextBox 10"/>
          <p:cNvSpPr txBox="1"/>
          <p:nvPr/>
        </p:nvSpPr>
        <p:spPr>
          <a:xfrm>
            <a:off x="7351775" y="1947672"/>
            <a:ext cx="457200" cy="274320"/>
          </a:xfrm>
          <a:prstGeom prst="rect">
            <a:avLst/>
          </a:prstGeom>
          <a:noFill/>
        </p:spPr>
        <p:txBody>
          <a:bodyPr wrap="square" lIns="0" rIns="0" tIns="0" bIns="0" anchor="t">
            <a:spAutoFit/>
          </a:bodyPr>
          <a:lstStyle/>
          <a:p>
            <a:pPr>
              <a:spcAft>
                <a:spcPts val="0"/>
              </a:spcAft>
            </a:pPr>
            <a:r>
              <a:rPr sz="1000" b="1" i="0">
                <a:solidFill>
                  <a:srgbClr val="77868E"/>
                </a:solidFill>
                <a:latin typeface="Calibri"/>
              </a:rPr>
              <a:t>F2</a:t>
            </a:r>
          </a:p>
        </p:txBody>
      </p:sp>
      <p:sp>
        <p:nvSpPr>
          <p:cNvPr id="12" name="Rounded Rectangle 11"/>
          <p:cNvSpPr/>
          <p:nvPr/>
        </p:nvSpPr>
        <p:spPr>
          <a:xfrm>
            <a:off x="8074151" y="1691640"/>
            <a:ext cx="3602736" cy="141732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30183" y="1929384"/>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8330183" y="2441448"/>
            <a:ext cx="3108960" cy="59436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Null floor</a:t>
            </a:r>
          </a:p>
          <a:p>
            <a:pPr>
              <a:spcAft>
                <a:spcPts val="0"/>
              </a:spcAft>
            </a:pPr>
            <a:r>
              <a:rPr sz="1050" b="0" i="0">
                <a:solidFill>
                  <a:srgbClr val="3D4C54"/>
                </a:solidFill>
                <a:latin typeface="Calibri"/>
              </a:rPr>
              <a:t>The best achievable without the thing being tested</a:t>
            </a:r>
          </a:p>
        </p:txBody>
      </p:sp>
      <p:sp>
        <p:nvSpPr>
          <p:cNvPr id="15" name="TextBox 14"/>
          <p:cNvSpPr txBox="1"/>
          <p:nvPr/>
        </p:nvSpPr>
        <p:spPr>
          <a:xfrm>
            <a:off x="11137391" y="1947672"/>
            <a:ext cx="457200" cy="274320"/>
          </a:xfrm>
          <a:prstGeom prst="rect">
            <a:avLst/>
          </a:prstGeom>
          <a:noFill/>
        </p:spPr>
        <p:txBody>
          <a:bodyPr wrap="square" lIns="0" rIns="0" tIns="0" bIns="0" anchor="t">
            <a:spAutoFit/>
          </a:bodyPr>
          <a:lstStyle/>
          <a:p>
            <a:pPr>
              <a:spcAft>
                <a:spcPts val="0"/>
              </a:spcAft>
            </a:pPr>
            <a:r>
              <a:rPr sz="1000" b="1" i="0">
                <a:solidFill>
                  <a:srgbClr val="77868E"/>
                </a:solidFill>
                <a:latin typeface="Calibri"/>
              </a:rPr>
              <a:t>F3</a:t>
            </a:r>
          </a:p>
        </p:txBody>
      </p:sp>
      <p:sp>
        <p:nvSpPr>
          <p:cNvPr id="16" name="Rounded Rectangle 15"/>
          <p:cNvSpPr/>
          <p:nvPr/>
        </p:nvSpPr>
        <p:spPr>
          <a:xfrm>
            <a:off x="502920" y="3291840"/>
            <a:ext cx="3602736" cy="141732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8952" y="3529584"/>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8" name="TextBox 17"/>
          <p:cNvSpPr txBox="1"/>
          <p:nvPr/>
        </p:nvSpPr>
        <p:spPr>
          <a:xfrm>
            <a:off x="758952" y="4041648"/>
            <a:ext cx="3108960" cy="59436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Split design</a:t>
            </a:r>
          </a:p>
          <a:p>
            <a:pPr>
              <a:spcAft>
                <a:spcPts val="0"/>
              </a:spcAft>
            </a:pPr>
            <a:r>
              <a:rPr sz="1050" b="0" i="0">
                <a:solidFill>
                  <a:srgbClr val="3D4C54"/>
                </a:solidFill>
                <a:latin typeface="Calibri"/>
              </a:rPr>
              <a:t>Two chemistry-extrapolation regimes, folds not exchangeable</a:t>
            </a:r>
          </a:p>
        </p:txBody>
      </p:sp>
      <p:sp>
        <p:nvSpPr>
          <p:cNvPr id="19" name="TextBox 18"/>
          <p:cNvSpPr txBox="1"/>
          <p:nvPr/>
        </p:nvSpPr>
        <p:spPr>
          <a:xfrm>
            <a:off x="3566160" y="3547872"/>
            <a:ext cx="457200" cy="274320"/>
          </a:xfrm>
          <a:prstGeom prst="rect">
            <a:avLst/>
          </a:prstGeom>
          <a:noFill/>
        </p:spPr>
        <p:txBody>
          <a:bodyPr wrap="square" lIns="0" rIns="0" tIns="0" bIns="0" anchor="t">
            <a:spAutoFit/>
          </a:bodyPr>
          <a:lstStyle/>
          <a:p>
            <a:pPr>
              <a:spcAft>
                <a:spcPts val="0"/>
              </a:spcAft>
            </a:pPr>
            <a:r>
              <a:rPr sz="1000" b="1" i="0">
                <a:solidFill>
                  <a:srgbClr val="77868E"/>
                </a:solidFill>
                <a:latin typeface="Calibri"/>
              </a:rPr>
              <a:t>F4</a:t>
            </a:r>
          </a:p>
        </p:txBody>
      </p:sp>
      <p:sp>
        <p:nvSpPr>
          <p:cNvPr id="20" name="Rounded Rectangle 19"/>
          <p:cNvSpPr/>
          <p:nvPr/>
        </p:nvSpPr>
        <p:spPr>
          <a:xfrm>
            <a:off x="4288536" y="3291840"/>
            <a:ext cx="3602736" cy="141732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44568" y="3529584"/>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4544568" y="4041648"/>
            <a:ext cx="3108960" cy="59436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Noise floor</a:t>
            </a:r>
          </a:p>
          <a:p>
            <a:pPr>
              <a:spcAft>
                <a:spcPts val="0"/>
              </a:spcAft>
            </a:pPr>
            <a:r>
              <a:rPr sz="1050" b="0" i="0">
                <a:solidFill>
                  <a:srgbClr val="3D4C54"/>
                </a:solidFill>
                <a:latin typeface="Calibri"/>
              </a:rPr>
              <a:t>What difference is measurable at all</a:t>
            </a:r>
          </a:p>
        </p:txBody>
      </p:sp>
      <p:sp>
        <p:nvSpPr>
          <p:cNvPr id="23" name="TextBox 22"/>
          <p:cNvSpPr txBox="1"/>
          <p:nvPr/>
        </p:nvSpPr>
        <p:spPr>
          <a:xfrm>
            <a:off x="7351775" y="3547872"/>
            <a:ext cx="457200" cy="274320"/>
          </a:xfrm>
          <a:prstGeom prst="rect">
            <a:avLst/>
          </a:prstGeom>
          <a:noFill/>
        </p:spPr>
        <p:txBody>
          <a:bodyPr wrap="square" lIns="0" rIns="0" tIns="0" bIns="0" anchor="t">
            <a:spAutoFit/>
          </a:bodyPr>
          <a:lstStyle/>
          <a:p>
            <a:pPr>
              <a:spcAft>
                <a:spcPts val="0"/>
              </a:spcAft>
            </a:pPr>
            <a:r>
              <a:rPr sz="1000" b="1" i="0">
                <a:solidFill>
                  <a:srgbClr val="77868E"/>
                </a:solidFill>
                <a:latin typeface="Calibri"/>
              </a:rPr>
              <a:t>F5</a:t>
            </a:r>
          </a:p>
        </p:txBody>
      </p:sp>
      <p:sp>
        <p:nvSpPr>
          <p:cNvPr id="24" name="Rounded Rectangle 23"/>
          <p:cNvSpPr/>
          <p:nvPr/>
        </p:nvSpPr>
        <p:spPr>
          <a:xfrm>
            <a:off x="8074151" y="3291840"/>
            <a:ext cx="3602736" cy="141732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30183" y="3529584"/>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6" name="TextBox 25"/>
          <p:cNvSpPr txBox="1"/>
          <p:nvPr/>
        </p:nvSpPr>
        <p:spPr>
          <a:xfrm>
            <a:off x="8330183" y="4041648"/>
            <a:ext cx="3108960" cy="59436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The demonstration</a:t>
            </a:r>
          </a:p>
          <a:p>
            <a:pPr>
              <a:spcAft>
                <a:spcPts val="0"/>
              </a:spcAft>
            </a:pPr>
            <a:r>
              <a:rPr sz="1050" b="0" i="0">
                <a:solidFill>
                  <a:srgbClr val="3D4C54"/>
                </a:solidFill>
                <a:latin typeface="Calibri"/>
              </a:rPr>
              <a:t>Two metrics, same predictions, opposite conclusions</a:t>
            </a:r>
          </a:p>
        </p:txBody>
      </p:sp>
      <p:sp>
        <p:nvSpPr>
          <p:cNvPr id="27" name="TextBox 26"/>
          <p:cNvSpPr txBox="1"/>
          <p:nvPr/>
        </p:nvSpPr>
        <p:spPr>
          <a:xfrm>
            <a:off x="11137391" y="3547872"/>
            <a:ext cx="457200" cy="274320"/>
          </a:xfrm>
          <a:prstGeom prst="rect">
            <a:avLst/>
          </a:prstGeom>
          <a:noFill/>
        </p:spPr>
        <p:txBody>
          <a:bodyPr wrap="square" lIns="0" rIns="0" tIns="0" bIns="0" anchor="t">
            <a:spAutoFit/>
          </a:bodyPr>
          <a:lstStyle/>
          <a:p>
            <a:pPr>
              <a:spcAft>
                <a:spcPts val="0"/>
              </a:spcAft>
            </a:pPr>
            <a:r>
              <a:rPr sz="1000" b="1" i="0">
                <a:solidFill>
                  <a:srgbClr val="77868E"/>
                </a:solidFill>
                <a:latin typeface="Calibri"/>
              </a:rPr>
              <a:t>F6</a:t>
            </a:r>
          </a:p>
        </p:txBody>
      </p:sp>
      <p:sp>
        <p:nvSpPr>
          <p:cNvPr id="28" name="Rounded Rectangle 27"/>
          <p:cNvSpPr/>
          <p:nvPr/>
        </p:nvSpPr>
        <p:spPr>
          <a:xfrm>
            <a:off x="502920" y="4956048"/>
            <a:ext cx="11183112" cy="1051560"/>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38928"/>
            <a:ext cx="10607040" cy="731520"/>
          </a:xfrm>
          <a:prstGeom prst="rect">
            <a:avLst/>
          </a:prstGeom>
          <a:noFill/>
        </p:spPr>
        <p:txBody>
          <a:bodyPr wrap="square" lIns="0" rIns="0" tIns="0" bIns="0" anchor="t">
            <a:spAutoFit/>
          </a:bodyPr>
          <a:lstStyle/>
          <a:p>
            <a:pPr>
              <a:spcAft>
                <a:spcPts val="0"/>
              </a:spcAft>
            </a:pPr>
            <a:r>
              <a:rPr sz="1450" b="1" i="0">
                <a:solidFill>
                  <a:srgbClr val="FFFFFF"/>
                </a:solidFill>
                <a:latin typeface="Cambria"/>
              </a:rPr>
              <a:t>Together they answer a question the field currently cannot: is a representation better, or does it merely score higher?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02336"/>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3" name="TextBox 2"/>
          <p:cNvSpPr txBox="1"/>
          <p:nvPr/>
        </p:nvSpPr>
        <p:spPr>
          <a:xfrm>
            <a:off x="1143000" y="384048"/>
            <a:ext cx="10545775" cy="548640"/>
          </a:xfrm>
          <a:prstGeom prst="rect">
            <a:avLst/>
          </a:prstGeom>
          <a:noFill/>
        </p:spPr>
        <p:txBody>
          <a:bodyPr wrap="square" lIns="0" rIns="0" tIns="0" bIns="0" anchor="t">
            <a:spAutoFit/>
          </a:bodyPr>
          <a:lstStyle/>
          <a:p>
            <a:pPr>
              <a:spcAft>
                <a:spcPts val="200"/>
              </a:spcAft>
            </a:pPr>
            <a:r>
              <a:rPr sz="2400" b="1" i="0">
                <a:solidFill>
                  <a:srgbClr val="1A242A"/>
                </a:solidFill>
                <a:latin typeface="Cambria"/>
              </a:rPr>
              <a:t>Variance decomposition — the signal is 1% of the target</a:t>
            </a:r>
          </a:p>
        </p:txBody>
      </p:sp>
      <p:sp>
        <p:nvSpPr>
          <p:cNvPr id="4" name="TextBox 3"/>
          <p:cNvSpPr txBox="1"/>
          <p:nvPr/>
        </p:nvSpPr>
        <p:spPr>
          <a:xfrm>
            <a:off x="1143000" y="1042415"/>
            <a:ext cx="10545775" cy="365760"/>
          </a:xfrm>
          <a:prstGeom prst="rect">
            <a:avLst/>
          </a:prstGeom>
          <a:noFill/>
        </p:spPr>
        <p:txBody>
          <a:bodyPr wrap="square" lIns="0" rIns="0" tIns="0" bIns="0" anchor="t">
            <a:spAutoFit/>
          </a:bodyPr>
          <a:lstStyle/>
          <a:p>
            <a:pPr>
              <a:spcAft>
                <a:spcPts val="0"/>
              </a:spcAft>
            </a:pPr>
            <a:r>
              <a:rPr sz="1250" b="0" i="0">
                <a:solidFill>
                  <a:srgbClr val="77868E"/>
                </a:solidFill>
                <a:latin typeface="Calibri"/>
              </a:rPr>
              <a:t>Why the standard metric cannot see architecture</a:t>
            </a:r>
          </a:p>
        </p:txBody>
      </p:sp>
      <p:pic>
        <p:nvPicPr>
          <p:cNvPr id="5" name="Picture 4" descr="f1_variance_decomposition.png"/>
          <p:cNvPicPr>
            <a:picLocks noChangeAspect="1"/>
          </p:cNvPicPr>
          <p:nvPr/>
        </p:nvPicPr>
        <p:blipFill>
          <a:blip r:embed="rId2"/>
          <a:stretch>
            <a:fillRect/>
          </a:stretch>
        </p:blipFill>
        <p:spPr>
          <a:xfrm>
            <a:off x="502920" y="1572768"/>
            <a:ext cx="7040880" cy="3156916"/>
          </a:xfrm>
          <a:prstGeom prst="rect">
            <a:avLst/>
          </a:prstGeom>
        </p:spPr>
      </p:pic>
      <p:sp>
        <p:nvSpPr>
          <p:cNvPr id="6" name="TextBox 5"/>
          <p:cNvSpPr txBox="1"/>
          <p:nvPr/>
        </p:nvSpPr>
        <p:spPr>
          <a:xfrm>
            <a:off x="502920" y="5074920"/>
            <a:ext cx="7040880" cy="365760"/>
          </a:xfrm>
          <a:prstGeom prst="rect">
            <a:avLst/>
          </a:prstGeom>
          <a:noFill/>
        </p:spPr>
        <p:txBody>
          <a:bodyPr wrap="square" lIns="0" rIns="0" tIns="0" bIns="0" anchor="t">
            <a:spAutoFit/>
          </a:bodyPr>
          <a:lstStyle/>
          <a:p>
            <a:pPr>
              <a:spcAft>
                <a:spcPts val="0"/>
              </a:spcAft>
            </a:pPr>
            <a:r>
              <a:rPr sz="900" b="0" i="1">
                <a:solidFill>
                  <a:srgbClr val="77868E"/>
                </a:solidFill>
                <a:latin typeface="Calibri"/>
              </a:rPr>
              <a:t>F1 · data/ea_ip.csv, 42,966 rows · sequential R² on group-transform means · no model predictions</a:t>
            </a:r>
          </a:p>
        </p:txBody>
      </p:sp>
      <p:sp>
        <p:nvSpPr>
          <p:cNvPr id="7" name="Rounded Rectangle 6"/>
          <p:cNvSpPr/>
          <p:nvPr/>
        </p:nvSpPr>
        <p:spPr>
          <a:xfrm>
            <a:off x="7772400" y="1627632"/>
            <a:ext cx="3913632" cy="146304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10144" y="1792224"/>
            <a:ext cx="3456432" cy="274320"/>
          </a:xfrm>
          <a:prstGeom prst="rect">
            <a:avLst/>
          </a:prstGeom>
          <a:noFill/>
        </p:spPr>
        <p:txBody>
          <a:bodyPr wrap="square" lIns="0" rIns="0" tIns="0" bIns="0" anchor="t">
            <a:spAutoFit/>
          </a:bodyPr>
          <a:lstStyle/>
          <a:p>
            <a:pPr>
              <a:spcAft>
                <a:spcPts val="600"/>
              </a:spcAft>
            </a:pPr>
            <a:r>
              <a:rPr sz="950" b="1" i="0">
                <a:solidFill>
                  <a:srgbClr val="B85042"/>
                </a:solidFill>
                <a:latin typeface="Calibri"/>
              </a:rPr>
              <a:t>ARCHITECTURE, SHARE OF TOTAL VARIANCE</a:t>
            </a:r>
          </a:p>
        </p:txBody>
      </p:sp>
      <p:sp>
        <p:nvSpPr>
          <p:cNvPr id="9" name="TextBox 8"/>
          <p:cNvSpPr txBox="1"/>
          <p:nvPr/>
        </p:nvSpPr>
        <p:spPr>
          <a:xfrm>
            <a:off x="8010144" y="2103120"/>
            <a:ext cx="3456432" cy="457200"/>
          </a:xfrm>
          <a:prstGeom prst="rect">
            <a:avLst/>
          </a:prstGeom>
          <a:noFill/>
        </p:spPr>
        <p:txBody>
          <a:bodyPr wrap="square" lIns="0" rIns="0" tIns="0" bIns="0" anchor="t">
            <a:spAutoFit/>
          </a:bodyPr>
          <a:lstStyle/>
          <a:p>
            <a:pPr>
              <a:spcAft>
                <a:spcPts val="400"/>
              </a:spcAft>
            </a:pPr>
            <a:r>
              <a:rPr sz="2300" b="1" i="0">
                <a:solidFill>
                  <a:srgbClr val="1A242A"/>
                </a:solidFill>
                <a:latin typeface="Cambria"/>
              </a:rPr>
              <a:t>0.98%  /  1.46%</a:t>
            </a:r>
          </a:p>
        </p:txBody>
      </p:sp>
      <p:sp>
        <p:nvSpPr>
          <p:cNvPr id="10" name="TextBox 9"/>
          <p:cNvSpPr txBox="1"/>
          <p:nvPr/>
        </p:nvSpPr>
        <p:spPr>
          <a:xfrm>
            <a:off x="8010144" y="2596896"/>
            <a:ext cx="3456432" cy="384048"/>
          </a:xfrm>
          <a:prstGeom prst="rect">
            <a:avLst/>
          </a:prstGeom>
          <a:noFill/>
        </p:spPr>
        <p:txBody>
          <a:bodyPr wrap="square" lIns="0" rIns="0" tIns="0" bIns="0" anchor="t">
            <a:spAutoFit/>
          </a:bodyPr>
          <a:lstStyle/>
          <a:p>
            <a:pPr>
              <a:spcAft>
                <a:spcPts val="0"/>
              </a:spcAft>
            </a:pPr>
            <a:r>
              <a:rPr sz="1050" b="0" i="0">
                <a:solidFill>
                  <a:srgbClr val="3D4C54"/>
                </a:solidFill>
                <a:latin typeface="Calibri"/>
              </a:rPr>
              <a:t>EA / IP. Monomer identity alone accounts for 92.9% (EA) and 89.7% (IP).</a:t>
            </a:r>
          </a:p>
        </p:txBody>
      </p:sp>
      <p:sp>
        <p:nvSpPr>
          <p:cNvPr id="11" name="Rounded Rectangle 10"/>
          <p:cNvSpPr/>
          <p:nvPr/>
        </p:nvSpPr>
        <p:spPr>
          <a:xfrm>
            <a:off x="7772400" y="3218688"/>
            <a:ext cx="3913632" cy="146304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10144" y="3383280"/>
            <a:ext cx="3456432" cy="274320"/>
          </a:xfrm>
          <a:prstGeom prst="rect">
            <a:avLst/>
          </a:prstGeom>
          <a:noFill/>
        </p:spPr>
        <p:txBody>
          <a:bodyPr wrap="square" lIns="0" rIns="0" tIns="0" bIns="0" anchor="t">
            <a:spAutoFit/>
          </a:bodyPr>
          <a:lstStyle/>
          <a:p>
            <a:pPr>
              <a:spcAft>
                <a:spcPts val="600"/>
              </a:spcAft>
            </a:pPr>
            <a:r>
              <a:rPr sz="950" b="1" i="0">
                <a:solidFill>
                  <a:srgbClr val="028090"/>
                </a:solidFill>
                <a:latin typeface="Calibri"/>
              </a:rPr>
              <a:t>ARCHITECTURE, SHARE OF POST-AB RESIDUAL</a:t>
            </a:r>
          </a:p>
        </p:txBody>
      </p:sp>
      <p:sp>
        <p:nvSpPr>
          <p:cNvPr id="13" name="TextBox 12"/>
          <p:cNvSpPr txBox="1"/>
          <p:nvPr/>
        </p:nvSpPr>
        <p:spPr>
          <a:xfrm>
            <a:off x="8010144" y="3694176"/>
            <a:ext cx="3456432" cy="457200"/>
          </a:xfrm>
          <a:prstGeom prst="rect">
            <a:avLst/>
          </a:prstGeom>
          <a:noFill/>
        </p:spPr>
        <p:txBody>
          <a:bodyPr wrap="square" lIns="0" rIns="0" tIns="0" bIns="0" anchor="t">
            <a:spAutoFit/>
          </a:bodyPr>
          <a:lstStyle/>
          <a:p>
            <a:pPr>
              <a:spcAft>
                <a:spcPts val="400"/>
              </a:spcAft>
            </a:pPr>
            <a:r>
              <a:rPr sz="2300" b="1" i="0">
                <a:solidFill>
                  <a:srgbClr val="1A242A"/>
                </a:solidFill>
                <a:latin typeface="Cambria"/>
              </a:rPr>
              <a:t>13.9%  /  14.1%</a:t>
            </a:r>
          </a:p>
        </p:txBody>
      </p:sp>
      <p:sp>
        <p:nvSpPr>
          <p:cNvPr id="14" name="TextBox 13"/>
          <p:cNvSpPr txBox="1"/>
          <p:nvPr/>
        </p:nvSpPr>
        <p:spPr>
          <a:xfrm>
            <a:off x="8010144" y="4187952"/>
            <a:ext cx="3456432" cy="384048"/>
          </a:xfrm>
          <a:prstGeom prst="rect">
            <a:avLst/>
          </a:prstGeom>
          <a:noFill/>
        </p:spPr>
        <p:txBody>
          <a:bodyPr wrap="square" lIns="0" rIns="0" tIns="0" bIns="0" anchor="t">
            <a:spAutoFit/>
          </a:bodyPr>
          <a:lstStyle/>
          <a:p>
            <a:pPr>
              <a:spcAft>
                <a:spcPts val="0"/>
              </a:spcAft>
            </a:pPr>
            <a:r>
              <a:rPr sz="1050" b="0" i="0">
                <a:solidFill>
                  <a:srgbClr val="3D4C54"/>
                </a:solidFill>
                <a:latin typeface="Calibri"/>
              </a:rPr>
              <a:t>Once monomer identity is removed, architecture is a seventh of what remains.</a:t>
            </a:r>
          </a:p>
        </p:txBody>
      </p:sp>
      <p:sp>
        <p:nvSpPr>
          <p:cNvPr id="15" name="Rounded Rectangle 14"/>
          <p:cNvSpPr/>
          <p:nvPr/>
        </p:nvSpPr>
        <p:spPr>
          <a:xfrm>
            <a:off x="7772400" y="4809744"/>
            <a:ext cx="3913632" cy="141732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10144" y="4974336"/>
            <a:ext cx="3474720" cy="1097280"/>
          </a:xfrm>
          <a:prstGeom prst="rect">
            <a:avLst/>
          </a:prstGeom>
          <a:noFill/>
        </p:spPr>
        <p:txBody>
          <a:bodyPr wrap="square" lIns="0" rIns="0" tIns="0" bIns="0" anchor="t">
            <a:spAutoFit/>
          </a:bodyPr>
          <a:lstStyle/>
          <a:p>
            <a:pPr>
              <a:spcAft>
                <a:spcPts val="700"/>
              </a:spcAft>
            </a:pPr>
            <a:r>
              <a:rPr sz="1000" b="1" i="0">
                <a:solidFill>
                  <a:srgbClr val="028090"/>
                </a:solidFill>
                <a:latin typeface="Calibri"/>
              </a:rPr>
              <a:t>Why this matters</a:t>
            </a:r>
          </a:p>
          <a:p>
            <a:pPr>
              <a:spcAft>
                <a:spcPts val="0"/>
              </a:spcAft>
            </a:pPr>
            <a:r>
              <a:rPr sz="1100" b="0" i="0">
                <a:solidFill>
                  <a:srgbClr val="3D4C54"/>
                </a:solidFill>
                <a:latin typeface="Calibri"/>
              </a:rPr>
              <a:t>A metric dominated by a 90% term cannot resolve a 1% term. Overall R² is not a weak measure of architecture — it is not a measure of it.</a:t>
            </a:r>
          </a:p>
        </p:txBody>
      </p:sp>
      <p:sp>
        <p:nvSpPr>
          <p:cNvPr id="17" name="TextBox 16"/>
          <p:cNvSpPr txBox="1"/>
          <p:nvPr/>
        </p:nvSpPr>
        <p:spPr>
          <a:xfrm>
            <a:off x="502920" y="6437376"/>
            <a:ext cx="11185855" cy="274320"/>
          </a:xfrm>
          <a:prstGeom prst="rect">
            <a:avLst/>
          </a:prstGeom>
          <a:noFill/>
        </p:spPr>
        <p:txBody>
          <a:bodyPr wrap="square" lIns="0" rIns="0" tIns="0" bIns="0" anchor="t">
            <a:spAutoFit/>
          </a:bodyPr>
          <a:lstStyle/>
          <a:p>
            <a:pPr>
              <a:spcAft>
                <a:spcPts val="0"/>
              </a:spcAft>
            </a:pPr>
            <a:r>
              <a:rPr sz="900" b="0" i="1">
                <a:solidFill>
                  <a:srgbClr val="77868E"/>
                </a:solidFill>
                <a:latin typeface="Calibri"/>
              </a:rPr>
              <a:t>Component shares sum to 1.000 on both targets; residual is 0.000 — the four factors are exhaustive.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02336"/>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3" name="TextBox 2"/>
          <p:cNvSpPr txBox="1"/>
          <p:nvPr/>
        </p:nvSpPr>
        <p:spPr>
          <a:xfrm>
            <a:off x="1143000" y="384048"/>
            <a:ext cx="10545775" cy="548640"/>
          </a:xfrm>
          <a:prstGeom prst="rect">
            <a:avLst/>
          </a:prstGeom>
          <a:noFill/>
        </p:spPr>
        <p:txBody>
          <a:bodyPr wrap="square" lIns="0" rIns="0" tIns="0" bIns="0" anchor="t">
            <a:spAutoFit/>
          </a:bodyPr>
          <a:lstStyle/>
          <a:p>
            <a:pPr>
              <a:spcAft>
                <a:spcPts val="200"/>
              </a:spcAft>
            </a:pPr>
            <a:r>
              <a:rPr sz="2400" b="1" i="0">
                <a:solidFill>
                  <a:srgbClr val="1A242A"/>
                </a:solidFill>
                <a:latin typeface="Cambria"/>
              </a:rPr>
              <a:t>Two-axis metric — separate placement from recovery</a:t>
            </a:r>
          </a:p>
        </p:txBody>
      </p:sp>
      <p:sp>
        <p:nvSpPr>
          <p:cNvPr id="4" name="TextBox 3"/>
          <p:cNvSpPr txBox="1"/>
          <p:nvPr/>
        </p:nvSpPr>
        <p:spPr>
          <a:xfrm>
            <a:off x="1143000" y="1042415"/>
            <a:ext cx="10545775" cy="365760"/>
          </a:xfrm>
          <a:prstGeom prst="rect">
            <a:avLst/>
          </a:prstGeom>
          <a:noFill/>
        </p:spPr>
        <p:txBody>
          <a:bodyPr wrap="square" lIns="0" rIns="0" tIns="0" bIns="0" anchor="t">
            <a:spAutoFit/>
          </a:bodyPr>
          <a:lstStyle/>
          <a:p>
            <a:pPr>
              <a:spcAft>
                <a:spcPts val="0"/>
              </a:spcAft>
            </a:pPr>
            <a:r>
              <a:rPr sz="1250" b="0" i="0">
                <a:solidFill>
                  <a:srgbClr val="77868E"/>
                </a:solidFill>
                <a:latin typeface="Calibri"/>
              </a:rPr>
              <a:t>One group of three polymers: same chemistry, same composition, different architecture</a:t>
            </a:r>
          </a:p>
        </p:txBody>
      </p:sp>
      <p:pic>
        <p:nvPicPr>
          <p:cNvPr id="5" name="Picture 4" descr="f2_worked_example.png"/>
          <p:cNvPicPr>
            <a:picLocks noChangeAspect="1"/>
          </p:cNvPicPr>
          <p:nvPr/>
        </p:nvPicPr>
        <p:blipFill>
          <a:blip r:embed="rId2"/>
          <a:stretch>
            <a:fillRect/>
          </a:stretch>
        </p:blipFill>
        <p:spPr>
          <a:xfrm>
            <a:off x="502920" y="1572768"/>
            <a:ext cx="6949440" cy="3542852"/>
          </a:xfrm>
          <a:prstGeom prst="rect">
            <a:avLst/>
          </a:prstGeom>
        </p:spPr>
      </p:pic>
      <p:sp>
        <p:nvSpPr>
          <p:cNvPr id="6" name="TextBox 5"/>
          <p:cNvSpPr txBox="1"/>
          <p:nvPr/>
        </p:nvSpPr>
        <p:spPr>
          <a:xfrm>
            <a:off x="502920" y="5212080"/>
            <a:ext cx="6949440" cy="365760"/>
          </a:xfrm>
          <a:prstGeom prst="rect">
            <a:avLst/>
          </a:prstGeom>
          <a:noFill/>
        </p:spPr>
        <p:txBody>
          <a:bodyPr wrap="square" lIns="0" rIns="0" tIns="0" bIns="0" anchor="t">
            <a:spAutoFit/>
          </a:bodyPr>
          <a:lstStyle/>
          <a:p>
            <a:pPr>
              <a:spcAft>
                <a:spcPts val="0"/>
              </a:spcAft>
            </a:pPr>
            <a:r>
              <a:rPr sz="900" b="0" i="1">
                <a:solidFill>
                  <a:srgbClr val="77868E"/>
                </a:solidFill>
                <a:latin typeface="Calibri"/>
              </a:rPr>
              <a:t>F2 · selected example · R1 fold 2, EA · three seeds averaged at prediction level · 1 of 61 eligible group-folds (1.0%)</a:t>
            </a:r>
          </a:p>
        </p:txBody>
      </p:sp>
      <p:sp>
        <p:nvSpPr>
          <p:cNvPr id="7" name="Rounded Rectangle 6"/>
          <p:cNvSpPr/>
          <p:nvPr/>
        </p:nvSpPr>
        <p:spPr>
          <a:xfrm>
            <a:off x="7955279" y="1627632"/>
            <a:ext cx="3730752" cy="214884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93024" y="1792224"/>
            <a:ext cx="3291840" cy="1828800"/>
          </a:xfrm>
          <a:prstGeom prst="rect">
            <a:avLst/>
          </a:prstGeom>
          <a:noFill/>
        </p:spPr>
        <p:txBody>
          <a:bodyPr wrap="square" lIns="0" rIns="0" tIns="0" bIns="0" anchor="t">
            <a:spAutoFit/>
          </a:bodyPr>
          <a:lstStyle/>
          <a:p>
            <a:pPr>
              <a:spcAft>
                <a:spcPts val="800"/>
              </a:spcAft>
            </a:pPr>
            <a:r>
              <a:rPr sz="1000" b="1" i="0">
                <a:solidFill>
                  <a:srgbClr val="028090"/>
                </a:solidFill>
                <a:latin typeface="Calibri"/>
              </a:rPr>
              <a:t>THE TWO AXES</a:t>
            </a:r>
          </a:p>
          <a:p>
            <a:pPr>
              <a:spcAft>
                <a:spcPts val="600"/>
              </a:spcAft>
            </a:pPr>
            <a:r>
              <a:rPr sz="1150" b="0" i="0">
                <a:solidFill>
                  <a:srgbClr val="3D4C54"/>
                </a:solidFill>
                <a:latin typeface="Calibri"/>
              </a:rPr>
              <a:t>Group-mean R² — did the model put the chemistry in the right place?</a:t>
            </a:r>
          </a:p>
          <a:p>
            <a:pPr>
              <a:spcAft>
                <a:spcPts val="600"/>
              </a:spcAft>
            </a:pPr>
            <a:r>
              <a:rPr sz="1150" b="0" i="0">
                <a:solidFill>
                  <a:srgbClr val="3D4C54"/>
                </a:solidFill>
                <a:latin typeface="Calibri"/>
              </a:rPr>
              <a:t>ΔR² — within a group, did it recover the architecture ordering?</a:t>
            </a:r>
          </a:p>
          <a:p>
            <a:pPr>
              <a:spcAft>
                <a:spcPts val="0"/>
              </a:spcAft>
            </a:pPr>
            <a:r>
              <a:rPr sz="1100" b="0" i="1">
                <a:solidFill>
                  <a:srgbClr val="77868E"/>
                </a:solidFill>
                <a:latin typeface="Calibri"/>
              </a:rPr>
              <a:t>The second is computed on the residual after the first is removed.</a:t>
            </a:r>
          </a:p>
        </p:txBody>
      </p:sp>
      <p:sp>
        <p:nvSpPr>
          <p:cNvPr id="9" name="Rounded Rectangle 8"/>
          <p:cNvSpPr/>
          <p:nvPr/>
        </p:nvSpPr>
        <p:spPr>
          <a:xfrm>
            <a:off x="7955279" y="3904487"/>
            <a:ext cx="3730752" cy="137160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4069080"/>
            <a:ext cx="3291840" cy="1051560"/>
          </a:xfrm>
          <a:prstGeom prst="rect">
            <a:avLst/>
          </a:prstGeom>
          <a:noFill/>
        </p:spPr>
        <p:txBody>
          <a:bodyPr wrap="square" lIns="0" rIns="0" tIns="0" bIns="0" anchor="t">
            <a:spAutoFit/>
          </a:bodyPr>
          <a:lstStyle/>
          <a:p>
            <a:pPr>
              <a:spcAft>
                <a:spcPts val="700"/>
              </a:spcAft>
            </a:pPr>
            <a:r>
              <a:rPr sz="1000" b="1" i="0">
                <a:solidFill>
                  <a:srgbClr val="B85042"/>
                </a:solidFill>
                <a:latin typeface="Calibri"/>
              </a:rPr>
              <a:t>ON THIS GROUP</a:t>
            </a:r>
          </a:p>
          <a:p>
            <a:pPr>
              <a:spcAft>
                <a:spcPts val="0"/>
              </a:spcAft>
            </a:pPr>
            <a:r>
              <a:rPr sz="1100" b="0" i="0">
                <a:solidFill>
                  <a:srgbClr val="3D4C54"/>
                </a:solidFill>
                <a:latin typeface="Calibri"/>
              </a:rPr>
              <a:t>Both models place the chemistry within 0.05 eV. The octamer recovers 99% of the true architecture range; wDMPNN recovers 7%.</a:t>
            </a:r>
          </a:p>
        </p:txBody>
      </p:sp>
      <p:sp>
        <p:nvSpPr>
          <p:cNvPr id="11" name="Rounded Rectangle 10"/>
          <p:cNvSpPr/>
          <p:nvPr/>
        </p:nvSpPr>
        <p:spPr>
          <a:xfrm>
            <a:off x="7955279" y="5404104"/>
            <a:ext cx="3730752" cy="868680"/>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5559552"/>
            <a:ext cx="3291840" cy="640080"/>
          </a:xfrm>
          <a:prstGeom prst="rect">
            <a:avLst/>
          </a:prstGeom>
          <a:noFill/>
        </p:spPr>
        <p:txBody>
          <a:bodyPr wrap="square" lIns="0" rIns="0" tIns="0" bIns="0" anchor="t">
            <a:spAutoFit/>
          </a:bodyPr>
          <a:lstStyle/>
          <a:p>
            <a:pPr>
              <a:spcAft>
                <a:spcPts val="0"/>
              </a:spcAft>
            </a:pPr>
            <a:r>
              <a:rPr sz="1100" b="1" i="0">
                <a:solidFill>
                  <a:srgbClr val="FFFFFF"/>
                </a:solidFill>
                <a:latin typeface="Calibri"/>
              </a:rPr>
              <a:t>wDMPNN does not rank the architectures wrongly — it predicts nearly one value for all three.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02336"/>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3" name="TextBox 2"/>
          <p:cNvSpPr txBox="1"/>
          <p:nvPr/>
        </p:nvSpPr>
        <p:spPr>
          <a:xfrm>
            <a:off x="1143000" y="384048"/>
            <a:ext cx="10545775" cy="548640"/>
          </a:xfrm>
          <a:prstGeom prst="rect">
            <a:avLst/>
          </a:prstGeom>
          <a:noFill/>
        </p:spPr>
        <p:txBody>
          <a:bodyPr wrap="square" lIns="0" rIns="0" tIns="0" bIns="0" anchor="t">
            <a:spAutoFit/>
          </a:bodyPr>
          <a:lstStyle/>
          <a:p>
            <a:pPr>
              <a:spcAft>
                <a:spcPts val="200"/>
              </a:spcAft>
            </a:pPr>
            <a:r>
              <a:rPr sz="2400" b="1" i="0">
                <a:solidFill>
                  <a:srgbClr val="1A242A"/>
                </a:solidFill>
                <a:latin typeface="Cambria"/>
              </a:rPr>
              <a:t>Null floor — the best achievable without the thing being tested</a:t>
            </a:r>
          </a:p>
        </p:txBody>
      </p:sp>
      <p:sp>
        <p:nvSpPr>
          <p:cNvPr id="4" name="TextBox 3"/>
          <p:cNvSpPr txBox="1"/>
          <p:nvPr/>
        </p:nvSpPr>
        <p:spPr>
          <a:xfrm>
            <a:off x="1143000" y="1042415"/>
            <a:ext cx="10545775" cy="365760"/>
          </a:xfrm>
          <a:prstGeom prst="rect">
            <a:avLst/>
          </a:prstGeom>
          <a:noFill/>
        </p:spPr>
        <p:txBody>
          <a:bodyPr wrap="square" lIns="0" rIns="0" tIns="0" bIns="0" anchor="t">
            <a:spAutoFit/>
          </a:bodyPr>
          <a:lstStyle/>
          <a:p>
            <a:pPr>
              <a:spcAft>
                <a:spcPts val="0"/>
              </a:spcAft>
            </a:pPr>
            <a:r>
              <a:rPr sz="1250" b="0" i="0">
                <a:solidFill>
                  <a:srgbClr val="77868E"/>
                </a:solidFill>
                <a:latin typeface="Calibri"/>
              </a:rPr>
              <a:t>A parameter-free group-mean lookup table that never sees the held-out monomer</a:t>
            </a:r>
          </a:p>
        </p:txBody>
      </p:sp>
      <p:pic>
        <p:nvPicPr>
          <p:cNvPr id="5" name="Picture 4" descr="f3_null_floor.png"/>
          <p:cNvPicPr>
            <a:picLocks noChangeAspect="1"/>
          </p:cNvPicPr>
          <p:nvPr/>
        </p:nvPicPr>
        <p:blipFill>
          <a:blip r:embed="rId2"/>
          <a:stretch>
            <a:fillRect/>
          </a:stretch>
        </p:blipFill>
        <p:spPr>
          <a:xfrm>
            <a:off x="502920" y="1572768"/>
            <a:ext cx="7315200" cy="2871196"/>
          </a:xfrm>
          <a:prstGeom prst="rect">
            <a:avLst/>
          </a:prstGeom>
        </p:spPr>
      </p:pic>
      <p:sp>
        <p:nvSpPr>
          <p:cNvPr id="6" name="TextBox 5"/>
          <p:cNvSpPr txBox="1"/>
          <p:nvPr/>
        </p:nvSpPr>
        <p:spPr>
          <a:xfrm>
            <a:off x="502920" y="5029200"/>
            <a:ext cx="7315200" cy="365760"/>
          </a:xfrm>
          <a:prstGeom prst="rect">
            <a:avLst/>
          </a:prstGeom>
          <a:noFill/>
        </p:spPr>
        <p:txBody>
          <a:bodyPr wrap="square" lIns="0" rIns="0" tIns="0" bIns="0" anchor="t">
            <a:spAutoFit/>
          </a:bodyPr>
          <a:lstStyle/>
          <a:p>
            <a:pPr>
              <a:spcAft>
                <a:spcPts val="0"/>
              </a:spcAft>
            </a:pPr>
            <a:r>
              <a:rPr sz="900" b="0" i="1">
                <a:solidFill>
                  <a:srgbClr val="77868E"/>
                </a:solidFill>
                <a:latin typeface="Calibri"/>
              </a:rPr>
              <a:t>F3 · A split, 9 folds × 2 targets × 3 series · null reused from aggregate_lomo_seeds.null_floor · no missing cells</a:t>
            </a:r>
          </a:p>
        </p:txBody>
      </p:sp>
      <p:sp>
        <p:nvSpPr>
          <p:cNvPr id="7" name="Rounded Rectangle 6"/>
          <p:cNvSpPr/>
          <p:nvPr/>
        </p:nvSpPr>
        <p:spPr>
          <a:xfrm>
            <a:off x="8046720" y="1627632"/>
            <a:ext cx="3639312" cy="1481328"/>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4464" y="1792224"/>
            <a:ext cx="3182112" cy="274320"/>
          </a:xfrm>
          <a:prstGeom prst="rect">
            <a:avLst/>
          </a:prstGeom>
          <a:noFill/>
        </p:spPr>
        <p:txBody>
          <a:bodyPr wrap="square" lIns="0" rIns="0" tIns="0" bIns="0" anchor="t">
            <a:spAutoFit/>
          </a:bodyPr>
          <a:lstStyle/>
          <a:p>
            <a:pPr>
              <a:spcAft>
                <a:spcPts val="600"/>
              </a:spcAft>
            </a:pPr>
            <a:r>
              <a:rPr sz="950" b="1" i="0">
                <a:solidFill>
                  <a:srgbClr val="028090"/>
                </a:solidFill>
                <a:latin typeface="Calibri"/>
              </a:rPr>
              <a:t>NULL MEDIAN GROUP-MEAN R²</a:t>
            </a:r>
          </a:p>
        </p:txBody>
      </p:sp>
      <p:sp>
        <p:nvSpPr>
          <p:cNvPr id="9" name="TextBox 8"/>
          <p:cNvSpPr txBox="1"/>
          <p:nvPr/>
        </p:nvSpPr>
        <p:spPr>
          <a:xfrm>
            <a:off x="8284464" y="2103120"/>
            <a:ext cx="3182112" cy="457200"/>
          </a:xfrm>
          <a:prstGeom prst="rect">
            <a:avLst/>
          </a:prstGeom>
          <a:noFill/>
        </p:spPr>
        <p:txBody>
          <a:bodyPr wrap="square" lIns="0" rIns="0" tIns="0" bIns="0" anchor="t">
            <a:spAutoFit/>
          </a:bodyPr>
          <a:lstStyle/>
          <a:p>
            <a:pPr>
              <a:spcAft>
                <a:spcPts val="400"/>
              </a:spcAft>
            </a:pPr>
            <a:r>
              <a:rPr sz="2300" b="1" i="0">
                <a:solidFill>
                  <a:srgbClr val="1A242A"/>
                </a:solidFill>
                <a:latin typeface="Cambria"/>
              </a:rPr>
              <a:t>0.676   vs   −0.034</a:t>
            </a:r>
          </a:p>
        </p:txBody>
      </p:sp>
      <p:sp>
        <p:nvSpPr>
          <p:cNvPr id="10" name="TextBox 9"/>
          <p:cNvSpPr txBox="1"/>
          <p:nvPr/>
        </p:nvSpPr>
        <p:spPr>
          <a:xfrm>
            <a:off x="8284464" y="2596896"/>
            <a:ext cx="3182112" cy="402336"/>
          </a:xfrm>
          <a:prstGeom prst="rect">
            <a:avLst/>
          </a:prstGeom>
          <a:noFill/>
        </p:spPr>
        <p:txBody>
          <a:bodyPr wrap="square" lIns="0" rIns="0" tIns="0" bIns="0" anchor="t">
            <a:spAutoFit/>
          </a:bodyPr>
          <a:lstStyle/>
          <a:p>
            <a:pPr>
              <a:spcAft>
                <a:spcPts val="0"/>
              </a:spcAft>
            </a:pPr>
            <a:r>
              <a:rPr sz="1050" b="0" i="0">
                <a:solidFill>
                  <a:srgbClr val="3D4C54"/>
                </a:solidFill>
                <a:latin typeface="Calibri"/>
              </a:rPr>
              <a:t>EA / IP. Same benchmark, same split design, opposite conclusions about difficulty.</a:t>
            </a:r>
          </a:p>
        </p:txBody>
      </p:sp>
      <p:sp>
        <p:nvSpPr>
          <p:cNvPr id="11" name="Rounded Rectangle 10"/>
          <p:cNvSpPr/>
          <p:nvPr/>
        </p:nvSpPr>
        <p:spPr>
          <a:xfrm>
            <a:off x="8046720" y="3236976"/>
            <a:ext cx="3639312" cy="1572768"/>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3401568"/>
            <a:ext cx="3200400" cy="1280160"/>
          </a:xfrm>
          <a:prstGeom prst="rect">
            <a:avLst/>
          </a:prstGeom>
          <a:noFill/>
        </p:spPr>
        <p:txBody>
          <a:bodyPr wrap="square" lIns="0" rIns="0" tIns="0" bIns="0" anchor="t">
            <a:spAutoFit/>
          </a:bodyPr>
          <a:lstStyle/>
          <a:p>
            <a:pPr>
              <a:spcAft>
                <a:spcPts val="700"/>
              </a:spcAft>
            </a:pPr>
            <a:r>
              <a:rPr sz="1000" b="1" i="0">
                <a:solidFill>
                  <a:srgbClr val="B85042"/>
                </a:solidFill>
                <a:latin typeface="Calibri"/>
              </a:rPr>
              <a:t>THE HEADLINE CASE</a:t>
            </a:r>
          </a:p>
          <a:p>
            <a:pPr>
              <a:spcAft>
                <a:spcPts val="600"/>
              </a:spcAft>
            </a:pPr>
            <a:r>
              <a:rPr sz="1150" b="1" i="0">
                <a:solidFill>
                  <a:srgbClr val="1A242A"/>
                </a:solidFill>
                <a:latin typeface="Calibri"/>
              </a:rPr>
              <a:t>On IP fold 0 the null scores 0.969 — beating both trained models.</a:t>
            </a:r>
          </a:p>
          <a:p>
            <a:pPr>
              <a:spcAft>
                <a:spcPts val="0"/>
              </a:spcAft>
            </a:pPr>
            <a:r>
              <a:rPr sz="1100" b="0" i="0">
                <a:solidFill>
                  <a:srgbClr val="3D4C54"/>
                </a:solidFill>
                <a:latin typeface="Calibri"/>
              </a:rPr>
              <a:t>On EA folds 2 and 3 it reaches 0.961 and 0.953 while knowing nothing about the held-out monomer.</a:t>
            </a:r>
          </a:p>
        </p:txBody>
      </p:sp>
      <p:sp>
        <p:nvSpPr>
          <p:cNvPr id="13" name="Rounded Rectangle 12"/>
          <p:cNvSpPr/>
          <p:nvPr/>
        </p:nvSpPr>
        <p:spPr>
          <a:xfrm>
            <a:off x="8046720" y="4937760"/>
            <a:ext cx="3639312" cy="1335024"/>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4464" y="5102352"/>
            <a:ext cx="3200400" cy="1005840"/>
          </a:xfrm>
          <a:prstGeom prst="rect">
            <a:avLst/>
          </a:prstGeom>
          <a:noFill/>
        </p:spPr>
        <p:txBody>
          <a:bodyPr wrap="square" lIns="0" rIns="0" tIns="0" bIns="0" anchor="t">
            <a:spAutoFit/>
          </a:bodyPr>
          <a:lstStyle/>
          <a:p>
            <a:pPr>
              <a:spcAft>
                <a:spcPts val="0"/>
              </a:spcAft>
            </a:pPr>
            <a:r>
              <a:rPr sz="1150" b="1" i="0">
                <a:solidFill>
                  <a:srgbClr val="FFFFFF"/>
                </a:solidFill>
                <a:latin typeface="Calibri"/>
              </a:rPr>
              <a:t>A reported group-mean R² of 0.95 on those folds is a number a lookup table matches. Without a null floor you cannot tell.</a:t>
            </a:r>
          </a:p>
        </p:txBody>
      </p:sp>
      <p:sp>
        <p:nvSpPr>
          <p:cNvPr id="15" name="TextBox 14"/>
          <p:cNvSpPr txBox="1"/>
          <p:nvPr/>
        </p:nvSpPr>
        <p:spPr>
          <a:xfrm>
            <a:off x="502920" y="6437376"/>
            <a:ext cx="11185855" cy="274320"/>
          </a:xfrm>
          <a:prstGeom prst="rect">
            <a:avLst/>
          </a:prstGeom>
          <a:noFill/>
        </p:spPr>
        <p:txBody>
          <a:bodyPr wrap="square" lIns="0" rIns="0" tIns="0" bIns="0" anchor="t">
            <a:spAutoFit/>
          </a:bodyPr>
          <a:lstStyle/>
          <a:p>
            <a:pPr>
              <a:spcAft>
                <a:spcPts val="0"/>
              </a:spcAft>
            </a:pPr>
            <a:r>
              <a:rPr sz="900" b="0" i="1">
                <a:solidFill>
                  <a:srgbClr val="B85042"/>
                </a:solidFill>
                <a:latin typeface="Calibri"/>
              </a:rPr>
              <a:t>Values below the axis limit are clipped — EA fold 6 null = −19.07; IP folds 2, 3, 5 = −1.02, −3.21, −7.53.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02336"/>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3" name="TextBox 2"/>
          <p:cNvSpPr txBox="1"/>
          <p:nvPr/>
        </p:nvSpPr>
        <p:spPr>
          <a:xfrm>
            <a:off x="1143000" y="384048"/>
            <a:ext cx="10545775" cy="548640"/>
          </a:xfrm>
          <a:prstGeom prst="rect">
            <a:avLst/>
          </a:prstGeom>
          <a:noFill/>
        </p:spPr>
        <p:txBody>
          <a:bodyPr wrap="square" lIns="0" rIns="0" tIns="0" bIns="0" anchor="t">
            <a:spAutoFit/>
          </a:bodyPr>
          <a:lstStyle/>
          <a:p>
            <a:pPr>
              <a:spcAft>
                <a:spcPts val="200"/>
              </a:spcAft>
            </a:pPr>
            <a:r>
              <a:rPr sz="2400" b="1" i="0">
                <a:solidFill>
                  <a:srgbClr val="1A242A"/>
                </a:solidFill>
                <a:latin typeface="Cambria"/>
              </a:rPr>
              <a:t>Split design — two extrapolation regimes, folds not exchangeable</a:t>
            </a:r>
          </a:p>
        </p:txBody>
      </p:sp>
      <p:sp>
        <p:nvSpPr>
          <p:cNvPr id="4" name="TextBox 3"/>
          <p:cNvSpPr txBox="1"/>
          <p:nvPr/>
        </p:nvSpPr>
        <p:spPr>
          <a:xfrm>
            <a:off x="1143000" y="1042415"/>
            <a:ext cx="10545775" cy="365760"/>
          </a:xfrm>
          <a:prstGeom prst="rect">
            <a:avLst/>
          </a:prstGeom>
          <a:noFill/>
        </p:spPr>
        <p:txBody>
          <a:bodyPr wrap="square" lIns="0" rIns="0" tIns="0" bIns="0" anchor="t">
            <a:spAutoFit/>
          </a:bodyPr>
          <a:lstStyle/>
          <a:p>
            <a:pPr>
              <a:spcAft>
                <a:spcPts val="0"/>
              </a:spcAft>
            </a:pPr>
            <a:r>
              <a:rPr sz="1250" b="0" i="0">
                <a:solidFill>
                  <a:srgbClr val="77868E"/>
                </a:solidFill>
                <a:latin typeface="Calibri"/>
              </a:rPr>
              <a:t>The benchmark's B-monomer space is dominated by two scaffold families</a:t>
            </a:r>
          </a:p>
        </p:txBody>
      </p:sp>
      <p:pic>
        <p:nvPicPr>
          <p:cNvPr id="5" name="Picture 4" descr="f4_split_design.png"/>
          <p:cNvPicPr>
            <a:picLocks noChangeAspect="1"/>
          </p:cNvPicPr>
          <p:nvPr/>
        </p:nvPicPr>
        <p:blipFill>
          <a:blip r:embed="rId2"/>
          <a:stretch>
            <a:fillRect/>
          </a:stretch>
        </p:blipFill>
        <p:spPr>
          <a:xfrm>
            <a:off x="502920" y="1572768"/>
            <a:ext cx="7315200" cy="2871196"/>
          </a:xfrm>
          <a:prstGeom prst="rect">
            <a:avLst/>
          </a:prstGeom>
        </p:spPr>
      </p:pic>
      <p:sp>
        <p:nvSpPr>
          <p:cNvPr id="6" name="TextBox 5"/>
          <p:cNvSpPr txBox="1"/>
          <p:nvPr/>
        </p:nvSpPr>
        <p:spPr>
          <a:xfrm>
            <a:off x="502920" y="4937760"/>
            <a:ext cx="7315200" cy="365760"/>
          </a:xfrm>
          <a:prstGeom prst="rect">
            <a:avLst/>
          </a:prstGeom>
          <a:noFill/>
        </p:spPr>
        <p:txBody>
          <a:bodyPr wrap="square" lIns="0" rIns="0" tIns="0" bIns="0" anchor="t">
            <a:spAutoFit/>
          </a:bodyPr>
          <a:lstStyle/>
          <a:p>
            <a:pPr>
              <a:spcAft>
                <a:spcPts val="0"/>
              </a:spcAft>
            </a:pPr>
            <a:r>
              <a:rPr sz="900" b="0" i="1">
                <a:solidFill>
                  <a:srgbClr val="77868E"/>
                </a:solidFill>
                <a:latin typeface="Calibri"/>
              </a:rPr>
              <a:t>F4 · Murcko scaffolds over 682 B monomers · split monomer_b_heldout_clustered</a:t>
            </a:r>
          </a:p>
        </p:txBody>
      </p:sp>
      <p:sp>
        <p:nvSpPr>
          <p:cNvPr id="7" name="Rounded Rectangle 6"/>
          <p:cNvSpPr/>
          <p:nvPr/>
        </p:nvSpPr>
        <p:spPr>
          <a:xfrm>
            <a:off x="8046720" y="1627632"/>
            <a:ext cx="3639312" cy="146304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4464" y="1792224"/>
            <a:ext cx="3182112" cy="274320"/>
          </a:xfrm>
          <a:prstGeom prst="rect">
            <a:avLst/>
          </a:prstGeom>
          <a:noFill/>
        </p:spPr>
        <p:txBody>
          <a:bodyPr wrap="square" lIns="0" rIns="0" tIns="0" bIns="0" anchor="t">
            <a:spAutoFit/>
          </a:bodyPr>
          <a:lstStyle/>
          <a:p>
            <a:pPr>
              <a:spcAft>
                <a:spcPts val="600"/>
              </a:spcAft>
            </a:pPr>
            <a:r>
              <a:rPr sz="950" b="1" i="0">
                <a:solidFill>
                  <a:srgbClr val="B85042"/>
                </a:solidFill>
                <a:latin typeface="Calibri"/>
              </a:rPr>
              <a:t>TOP TWO SCAFFOLD FAMILIES</a:t>
            </a:r>
          </a:p>
        </p:txBody>
      </p:sp>
      <p:sp>
        <p:nvSpPr>
          <p:cNvPr id="9" name="TextBox 8"/>
          <p:cNvSpPr txBox="1"/>
          <p:nvPr/>
        </p:nvSpPr>
        <p:spPr>
          <a:xfrm>
            <a:off x="8284464" y="2103120"/>
            <a:ext cx="3182112" cy="457200"/>
          </a:xfrm>
          <a:prstGeom prst="rect">
            <a:avLst/>
          </a:prstGeom>
          <a:noFill/>
        </p:spPr>
        <p:txBody>
          <a:bodyPr wrap="square" lIns="0" rIns="0" tIns="0" bIns="0" anchor="t">
            <a:spAutoFit/>
          </a:bodyPr>
          <a:lstStyle/>
          <a:p>
            <a:pPr>
              <a:spcAft>
                <a:spcPts val="400"/>
              </a:spcAft>
            </a:pPr>
            <a:r>
              <a:rPr sz="2300" b="1" i="0">
                <a:solidFill>
                  <a:srgbClr val="1A242A"/>
                </a:solidFill>
                <a:latin typeface="Cambria"/>
              </a:rPr>
              <a:t>62.5%</a:t>
            </a:r>
          </a:p>
        </p:txBody>
      </p:sp>
      <p:sp>
        <p:nvSpPr>
          <p:cNvPr id="10" name="TextBox 9"/>
          <p:cNvSpPr txBox="1"/>
          <p:nvPr/>
        </p:nvSpPr>
        <p:spPr>
          <a:xfrm>
            <a:off x="8284464" y="2596896"/>
            <a:ext cx="3182112" cy="384048"/>
          </a:xfrm>
          <a:prstGeom prst="rect">
            <a:avLst/>
          </a:prstGeom>
          <a:noFill/>
        </p:spPr>
        <p:txBody>
          <a:bodyPr wrap="square" lIns="0" rIns="0" tIns="0" bIns="0" anchor="t">
            <a:spAutoFit/>
          </a:bodyPr>
          <a:lstStyle/>
          <a:p>
            <a:pPr>
              <a:spcAft>
                <a:spcPts val="0"/>
              </a:spcAft>
            </a:pPr>
            <a:r>
              <a:rPr sz="1050" b="0" i="0">
                <a:solidFill>
                  <a:srgbClr val="3D4C54"/>
                </a:solidFill>
                <a:latin typeface="Calibri"/>
              </a:rPr>
              <a:t>317 and 109 of 682 B monomers. A balanced scaffold-disjoint split is therefore impossible.</a:t>
            </a:r>
          </a:p>
        </p:txBody>
      </p:sp>
      <p:sp>
        <p:nvSpPr>
          <p:cNvPr id="11" name="Rounded Rectangle 10"/>
          <p:cNvSpPr/>
          <p:nvPr/>
        </p:nvSpPr>
        <p:spPr>
          <a:xfrm>
            <a:off x="8046720" y="3218688"/>
            <a:ext cx="3639312" cy="173736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3383280"/>
            <a:ext cx="3200400" cy="1463040"/>
          </a:xfrm>
          <a:prstGeom prst="rect">
            <a:avLst/>
          </a:prstGeom>
          <a:noFill/>
        </p:spPr>
        <p:txBody>
          <a:bodyPr wrap="square" lIns="0" rIns="0" tIns="0" bIns="0" anchor="t">
            <a:spAutoFit/>
          </a:bodyPr>
          <a:lstStyle/>
          <a:p>
            <a:pPr>
              <a:spcAft>
                <a:spcPts val="700"/>
              </a:spcAft>
            </a:pPr>
            <a:r>
              <a:rPr sz="1000" b="1" i="0">
                <a:solidFill>
                  <a:srgbClr val="028090"/>
                </a:solidFill>
                <a:latin typeface="Calibri"/>
              </a:rPr>
              <a:t>FOLDS ARE NOT EXCHANGEABLE</a:t>
            </a:r>
          </a:p>
          <a:p>
            <a:pPr>
              <a:spcAft>
                <a:spcPts val="600"/>
              </a:spcAft>
            </a:pPr>
            <a:r>
              <a:rPr sz="1150" b="0" i="0">
                <a:solidFill>
                  <a:srgbClr val="3D4C54"/>
                </a:solidFill>
                <a:latin typeface="Calibri"/>
              </a:rPr>
              <a:t>S folds (0–3): every held-out B monomer has a same-scaffold relative in training.</a:t>
            </a:r>
          </a:p>
          <a:p>
            <a:pPr>
              <a:spcAft>
                <a:spcPts val="600"/>
              </a:spcAft>
            </a:pPr>
            <a:r>
              <a:rPr sz="1150" b="1" i="0">
                <a:solidFill>
                  <a:srgbClr val="1A242A"/>
                </a:solidFill>
                <a:latin typeface="Calibri"/>
              </a:rPr>
              <a:t>D folds (5, 7, 8): none do.</a:t>
            </a:r>
          </a:p>
          <a:p>
            <a:pPr>
              <a:spcAft>
                <a:spcPts val="0"/>
              </a:spcAft>
            </a:pPr>
            <a:r>
              <a:rPr sz="1100" b="0" i="1">
                <a:solidFill>
                  <a:srgbClr val="77868E"/>
                </a:solidFill>
                <a:latin typeface="Calibri"/>
              </a:rPr>
              <a:t>Pooling them averages two different experiments.</a:t>
            </a:r>
          </a:p>
        </p:txBody>
      </p:sp>
      <p:sp>
        <p:nvSpPr>
          <p:cNvPr id="13" name="Rounded Rectangle 12"/>
          <p:cNvSpPr/>
          <p:nvPr/>
        </p:nvSpPr>
        <p:spPr>
          <a:xfrm>
            <a:off x="8046720" y="5084064"/>
            <a:ext cx="3639312" cy="1188720"/>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4464" y="5248656"/>
            <a:ext cx="3200400" cy="868680"/>
          </a:xfrm>
          <a:prstGeom prst="rect">
            <a:avLst/>
          </a:prstGeom>
          <a:noFill/>
        </p:spPr>
        <p:txBody>
          <a:bodyPr wrap="square" lIns="0" rIns="0" tIns="0" bIns="0" anchor="t">
            <a:spAutoFit/>
          </a:bodyPr>
          <a:lstStyle/>
          <a:p>
            <a:pPr>
              <a:spcAft>
                <a:spcPts val="0"/>
              </a:spcAft>
            </a:pPr>
            <a:r>
              <a:rPr sz="1150" b="1" i="0">
                <a:solidFill>
                  <a:srgbClr val="FFFFFF"/>
                </a:solidFill>
                <a:latin typeface="Calibri"/>
              </a:rPr>
              <a:t>So S and D folds are reported separately throughout, never pooled.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02336"/>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3" name="TextBox 2"/>
          <p:cNvSpPr txBox="1"/>
          <p:nvPr/>
        </p:nvSpPr>
        <p:spPr>
          <a:xfrm>
            <a:off x="1143000" y="384048"/>
            <a:ext cx="10545775" cy="548640"/>
          </a:xfrm>
          <a:prstGeom prst="rect">
            <a:avLst/>
          </a:prstGeom>
          <a:noFill/>
        </p:spPr>
        <p:txBody>
          <a:bodyPr wrap="square" lIns="0" rIns="0" tIns="0" bIns="0" anchor="t">
            <a:spAutoFit/>
          </a:bodyPr>
          <a:lstStyle/>
          <a:p>
            <a:pPr>
              <a:spcAft>
                <a:spcPts val="200"/>
              </a:spcAft>
            </a:pPr>
            <a:r>
              <a:rPr sz="2400" b="1" i="0">
                <a:solidFill>
                  <a:srgbClr val="1A242A"/>
                </a:solidFill>
                <a:latin typeface="Cambria"/>
              </a:rPr>
              <a:t>Noise floor — what difference is measurable at all</a:t>
            </a:r>
          </a:p>
        </p:txBody>
      </p:sp>
      <p:sp>
        <p:nvSpPr>
          <p:cNvPr id="4" name="TextBox 3"/>
          <p:cNvSpPr txBox="1"/>
          <p:nvPr/>
        </p:nvSpPr>
        <p:spPr>
          <a:xfrm>
            <a:off x="1143000" y="1042415"/>
            <a:ext cx="10545775" cy="365760"/>
          </a:xfrm>
          <a:prstGeom prst="rect">
            <a:avLst/>
          </a:prstGeom>
          <a:noFill/>
        </p:spPr>
        <p:txBody>
          <a:bodyPr wrap="square" lIns="0" rIns="0" tIns="0" bIns="0" anchor="t">
            <a:spAutoFit/>
          </a:bodyPr>
          <a:lstStyle/>
          <a:p>
            <a:pPr>
              <a:spcAft>
                <a:spcPts val="0"/>
              </a:spcAft>
            </a:pPr>
            <a:r>
              <a:rPr sz="1250" b="0" i="0">
                <a:solidFill>
                  <a:srgbClr val="77868E"/>
                </a:solidFill>
                <a:latin typeface="Calibri"/>
              </a:rPr>
              <a:t>Identical configuration, identical seed, three repeats</a:t>
            </a:r>
          </a:p>
        </p:txBody>
      </p:sp>
      <p:pic>
        <p:nvPicPr>
          <p:cNvPr id="5" name="Picture 4" descr="f5_noise_floor.png"/>
          <p:cNvPicPr>
            <a:picLocks noChangeAspect="1"/>
          </p:cNvPicPr>
          <p:nvPr/>
        </p:nvPicPr>
        <p:blipFill>
          <a:blip r:embed="rId2"/>
          <a:stretch>
            <a:fillRect/>
          </a:stretch>
        </p:blipFill>
        <p:spPr>
          <a:xfrm>
            <a:off x="502920" y="1572768"/>
            <a:ext cx="7315200" cy="2871196"/>
          </a:xfrm>
          <a:prstGeom prst="rect">
            <a:avLst/>
          </a:prstGeom>
        </p:spPr>
      </p:pic>
      <p:sp>
        <p:nvSpPr>
          <p:cNvPr id="6" name="TextBox 5"/>
          <p:cNvSpPr txBox="1"/>
          <p:nvPr/>
        </p:nvSpPr>
        <p:spPr>
          <a:xfrm>
            <a:off x="502920" y="4983480"/>
            <a:ext cx="7315200" cy="365760"/>
          </a:xfrm>
          <a:prstGeom prst="rect">
            <a:avLst/>
          </a:prstGeom>
          <a:noFill/>
        </p:spPr>
        <p:txBody>
          <a:bodyPr wrap="square" lIns="0" rIns="0" tIns="0" bIns="0" anchor="t">
            <a:spAutoFit/>
          </a:bodyPr>
          <a:lstStyle/>
          <a:p>
            <a:pPr>
              <a:spcAft>
                <a:spcPts val="0"/>
              </a:spcAft>
            </a:pPr>
            <a:r>
              <a:rPr sz="900" b="0" i="1">
                <a:solidFill>
                  <a:srgbClr val="77868E"/>
                </a:solidFill>
                <a:latin typeface="Calibri"/>
              </a:rPr>
              <a:t>F5 · left: 2 folds × 3 repeats, HPG-octamer A-split EA · right: across-seed SD of ΔR², all 9 folds, both models</a:t>
            </a:r>
          </a:p>
        </p:txBody>
      </p:sp>
      <p:sp>
        <p:nvSpPr>
          <p:cNvPr id="7" name="Rounded Rectangle 6"/>
          <p:cNvSpPr/>
          <p:nvPr/>
        </p:nvSpPr>
        <p:spPr>
          <a:xfrm>
            <a:off x="8046720" y="1627632"/>
            <a:ext cx="3639312" cy="1481328"/>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4464" y="1792224"/>
            <a:ext cx="3182112" cy="274320"/>
          </a:xfrm>
          <a:prstGeom prst="rect">
            <a:avLst/>
          </a:prstGeom>
          <a:noFill/>
        </p:spPr>
        <p:txBody>
          <a:bodyPr wrap="square" lIns="0" rIns="0" tIns="0" bIns="0" anchor="t">
            <a:spAutoFit/>
          </a:bodyPr>
          <a:lstStyle/>
          <a:p>
            <a:pPr>
              <a:spcAft>
                <a:spcPts val="600"/>
              </a:spcAft>
            </a:pPr>
            <a:r>
              <a:rPr sz="950" b="1" i="0">
                <a:solidFill>
                  <a:srgbClr val="B85042"/>
                </a:solidFill>
                <a:latin typeface="Calibri"/>
              </a:rPr>
              <a:t>GROUP-MEAN R², EA FOLD 1, THREE REPEATS</a:t>
            </a:r>
          </a:p>
        </p:txBody>
      </p:sp>
      <p:sp>
        <p:nvSpPr>
          <p:cNvPr id="9" name="TextBox 8"/>
          <p:cNvSpPr txBox="1"/>
          <p:nvPr/>
        </p:nvSpPr>
        <p:spPr>
          <a:xfrm>
            <a:off x="8284464" y="2103120"/>
            <a:ext cx="3182112" cy="457200"/>
          </a:xfrm>
          <a:prstGeom prst="rect">
            <a:avLst/>
          </a:prstGeom>
          <a:noFill/>
        </p:spPr>
        <p:txBody>
          <a:bodyPr wrap="square" lIns="0" rIns="0" tIns="0" bIns="0" anchor="t">
            <a:spAutoFit/>
          </a:bodyPr>
          <a:lstStyle/>
          <a:p>
            <a:pPr>
              <a:spcAft>
                <a:spcPts val="400"/>
              </a:spcAft>
            </a:pPr>
            <a:r>
              <a:rPr sz="2300" b="1" i="0">
                <a:solidFill>
                  <a:srgbClr val="1A242A"/>
                </a:solidFill>
                <a:latin typeface="Cambria"/>
              </a:rPr>
              <a:t>0.450 / 0.790 / 0.978</a:t>
            </a:r>
          </a:p>
        </p:txBody>
      </p:sp>
      <p:sp>
        <p:nvSpPr>
          <p:cNvPr id="10" name="TextBox 9"/>
          <p:cNvSpPr txBox="1"/>
          <p:nvPr/>
        </p:nvSpPr>
        <p:spPr>
          <a:xfrm>
            <a:off x="8284464" y="2596896"/>
            <a:ext cx="3182112" cy="402336"/>
          </a:xfrm>
          <a:prstGeom prst="rect">
            <a:avLst/>
          </a:prstGeom>
          <a:noFill/>
        </p:spPr>
        <p:txBody>
          <a:bodyPr wrap="square" lIns="0" rIns="0" tIns="0" bIns="0" anchor="t">
            <a:spAutoFit/>
          </a:bodyPr>
          <a:lstStyle/>
          <a:p>
            <a:pPr>
              <a:spcAft>
                <a:spcPts val="0"/>
              </a:spcAft>
            </a:pPr>
            <a:r>
              <a:rPr sz="1050" b="0" i="0">
                <a:solidFill>
                  <a:srgbClr val="3D4C54"/>
                </a:solidFill>
                <a:latin typeface="Calibri"/>
              </a:rPr>
              <a:t>SD 0.268. Same configuration, same seed.</a:t>
            </a:r>
          </a:p>
        </p:txBody>
      </p:sp>
      <p:sp>
        <p:nvSpPr>
          <p:cNvPr id="11" name="Rounded Rectangle 10"/>
          <p:cNvSpPr/>
          <p:nvPr/>
        </p:nvSpPr>
        <p:spPr>
          <a:xfrm>
            <a:off x="8046720" y="3236976"/>
            <a:ext cx="3639312" cy="1572768"/>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3401568"/>
            <a:ext cx="3200400" cy="1280160"/>
          </a:xfrm>
          <a:prstGeom prst="rect">
            <a:avLst/>
          </a:prstGeom>
          <a:noFill/>
        </p:spPr>
        <p:txBody>
          <a:bodyPr wrap="square" lIns="0" rIns="0" tIns="0" bIns="0" anchor="t">
            <a:spAutoFit/>
          </a:bodyPr>
          <a:lstStyle/>
          <a:p>
            <a:pPr>
              <a:spcAft>
                <a:spcPts val="700"/>
              </a:spcAft>
            </a:pPr>
            <a:r>
              <a:rPr sz="1000" b="1" i="0">
                <a:solidFill>
                  <a:srgbClr val="028090"/>
                </a:solidFill>
                <a:latin typeface="Calibri"/>
              </a:rPr>
              <a:t>WHAT THIS BOUNDS</a:t>
            </a:r>
          </a:p>
          <a:p>
            <a:pPr>
              <a:spcAft>
                <a:spcPts val="600"/>
              </a:spcAft>
            </a:pPr>
            <a:r>
              <a:rPr sz="1150" b="1" i="0">
                <a:solidFill>
                  <a:srgbClr val="1A242A"/>
                </a:solidFill>
                <a:latin typeface="Calibri"/>
              </a:rPr>
              <a:t>Any single-run comparison smaller than ~0.27 on this metric is unmeasurable.</a:t>
            </a:r>
          </a:p>
          <a:p>
            <a:pPr>
              <a:spcAft>
                <a:spcPts val="0"/>
              </a:spcAft>
            </a:pPr>
            <a:r>
              <a:rPr sz="1100" b="0" i="0">
                <a:solidFill>
                  <a:srgbClr val="3D4C54"/>
                </a:solidFill>
                <a:latin typeface="Calibri"/>
              </a:rPr>
              <a:t>MAE is far more stable — SD 0.091 eV on the same cell, 0.018 eV on fold 0. Stability is metric-specific.</a:t>
            </a:r>
          </a:p>
        </p:txBody>
      </p:sp>
      <p:sp>
        <p:nvSpPr>
          <p:cNvPr id="13" name="Rounded Rectangle 12"/>
          <p:cNvSpPr/>
          <p:nvPr/>
        </p:nvSpPr>
        <p:spPr>
          <a:xfrm>
            <a:off x="8046720" y="4937760"/>
            <a:ext cx="3639312" cy="1335024"/>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4464" y="5102352"/>
            <a:ext cx="3200400" cy="1005840"/>
          </a:xfrm>
          <a:prstGeom prst="rect">
            <a:avLst/>
          </a:prstGeom>
          <a:noFill/>
        </p:spPr>
        <p:txBody>
          <a:bodyPr wrap="square" lIns="0" rIns="0" tIns="0" bIns="0" anchor="t">
            <a:spAutoFit/>
          </a:bodyPr>
          <a:lstStyle/>
          <a:p>
            <a:pPr>
              <a:spcAft>
                <a:spcPts val="0"/>
              </a:spcAft>
            </a:pPr>
            <a:r>
              <a:rPr sz="1150" b="1" i="0">
                <a:solidFill>
                  <a:srgbClr val="FFFFFF"/>
                </a:solidFill>
                <a:latin typeface="Calibri"/>
              </a:rPr>
              <a:t>Nobody in this literature publishes a noise floor. Most reported improvements are smaller than this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02336"/>
            <a:ext cx="457200" cy="45720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3" name="TextBox 2"/>
          <p:cNvSpPr txBox="1"/>
          <p:nvPr/>
        </p:nvSpPr>
        <p:spPr>
          <a:xfrm>
            <a:off x="1143000" y="384048"/>
            <a:ext cx="10545775" cy="548640"/>
          </a:xfrm>
          <a:prstGeom prst="rect">
            <a:avLst/>
          </a:prstGeom>
          <a:noFill/>
        </p:spPr>
        <p:txBody>
          <a:bodyPr wrap="square" lIns="0" rIns="0" tIns="0" bIns="0" anchor="t">
            <a:spAutoFit/>
          </a:bodyPr>
          <a:lstStyle/>
          <a:p>
            <a:pPr>
              <a:spcAft>
                <a:spcPts val="200"/>
              </a:spcAft>
            </a:pPr>
            <a:r>
              <a:rPr sz="2400" b="1" i="0">
                <a:solidFill>
                  <a:srgbClr val="1A242A"/>
                </a:solidFill>
                <a:latin typeface="Cambria"/>
              </a:rPr>
              <a:t>The demonstration — same predictions, opposite conclusions</a:t>
            </a:r>
          </a:p>
        </p:txBody>
      </p:sp>
      <p:sp>
        <p:nvSpPr>
          <p:cNvPr id="4" name="TextBox 3"/>
          <p:cNvSpPr txBox="1"/>
          <p:nvPr/>
        </p:nvSpPr>
        <p:spPr>
          <a:xfrm>
            <a:off x="1143000" y="1042415"/>
            <a:ext cx="10545775" cy="365760"/>
          </a:xfrm>
          <a:prstGeom prst="rect">
            <a:avLst/>
          </a:prstGeom>
          <a:noFill/>
        </p:spPr>
        <p:txBody>
          <a:bodyPr wrap="square" lIns="0" rIns="0" tIns="0" bIns="0" anchor="t">
            <a:spAutoFit/>
          </a:bodyPr>
          <a:lstStyle/>
          <a:p>
            <a:pPr>
              <a:spcAft>
                <a:spcPts val="0"/>
              </a:spcAft>
            </a:pPr>
            <a:r>
              <a:rPr sz="1250" b="0" i="0">
                <a:solidFill>
                  <a:srgbClr val="77868E"/>
                </a:solidFill>
                <a:latin typeface="Calibri"/>
              </a:rPr>
              <a:t>B split, cross-scaffold D folds: octamer against wDMPNN at its published configuration</a:t>
            </a:r>
          </a:p>
        </p:txBody>
      </p:sp>
      <p:pic>
        <p:nvPicPr>
          <p:cNvPr id="5" name="Picture 4" descr="f6_demonstration.png"/>
          <p:cNvPicPr>
            <a:picLocks noChangeAspect="1"/>
          </p:cNvPicPr>
          <p:nvPr/>
        </p:nvPicPr>
        <p:blipFill>
          <a:blip r:embed="rId2"/>
          <a:stretch>
            <a:fillRect/>
          </a:stretch>
        </p:blipFill>
        <p:spPr>
          <a:xfrm>
            <a:off x="502920" y="1572768"/>
            <a:ext cx="7589520" cy="3042247"/>
          </a:xfrm>
          <a:prstGeom prst="rect">
            <a:avLst/>
          </a:prstGeom>
        </p:spPr>
      </p:pic>
      <p:sp>
        <p:nvSpPr>
          <p:cNvPr id="6" name="TextBox 5"/>
          <p:cNvSpPr txBox="1"/>
          <p:nvPr/>
        </p:nvSpPr>
        <p:spPr>
          <a:xfrm>
            <a:off x="502920" y="4892040"/>
            <a:ext cx="7589520" cy="365760"/>
          </a:xfrm>
          <a:prstGeom prst="rect">
            <a:avLst/>
          </a:prstGeom>
          <a:noFill/>
        </p:spPr>
        <p:txBody>
          <a:bodyPr wrap="square" lIns="0" rIns="0" tIns="0" bIns="0" anchor="t">
            <a:spAutoFit/>
          </a:bodyPr>
          <a:lstStyle/>
          <a:p>
            <a:pPr>
              <a:spcAft>
                <a:spcPts val="0"/>
              </a:spcAft>
            </a:pPr>
            <a:r>
              <a:rPr sz="900" b="0" i="1">
                <a:solidFill>
                  <a:srgbClr val="77868E"/>
                </a:solidFill>
                <a:latin typeface="Calibri"/>
              </a:rPr>
              <a:t>F6 · paired per-fold differences, D folds [4,5,6,7,8] · three seeds averaged at prediction level</a:t>
            </a:r>
          </a:p>
        </p:txBody>
      </p:sp>
      <p:sp>
        <p:nvSpPr>
          <p:cNvPr id="7" name="Rounded Rectangle 6"/>
          <p:cNvSpPr/>
          <p:nvPr/>
        </p:nvSpPr>
        <p:spPr>
          <a:xfrm>
            <a:off x="8321040" y="1627632"/>
            <a:ext cx="3364992" cy="214884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58784" y="1792224"/>
            <a:ext cx="2926080" cy="1828800"/>
          </a:xfrm>
          <a:prstGeom prst="rect">
            <a:avLst/>
          </a:prstGeom>
          <a:noFill/>
        </p:spPr>
        <p:txBody>
          <a:bodyPr wrap="square" lIns="0" rIns="0" tIns="0" bIns="0" anchor="t">
            <a:spAutoFit/>
          </a:bodyPr>
          <a:lstStyle/>
          <a:p>
            <a:pPr>
              <a:spcAft>
                <a:spcPts val="800"/>
              </a:spcAft>
            </a:pPr>
            <a:r>
              <a:rPr sz="1000" b="1" i="0">
                <a:solidFill>
                  <a:srgbClr val="77868E"/>
                </a:solidFill>
                <a:latin typeface="Calibri"/>
              </a:rPr>
              <a:t>FOUR METRICS SAY 'TIE'</a:t>
            </a:r>
          </a:p>
          <a:p>
            <a:pPr>
              <a:spcAft>
                <a:spcPts val="600"/>
              </a:spcAft>
            </a:pPr>
            <a:r>
              <a:rPr sz="1150" b="0" i="0">
                <a:solidFill>
                  <a:srgbClr val="3D4C54"/>
                </a:solidFill>
                <a:latin typeface="Calibri"/>
              </a:rPr>
              <a:t>Overall R², MAE, RMSE and group-mean R² each split 3 of 5 folds — exactly what a coin does.</a:t>
            </a:r>
          </a:p>
          <a:p>
            <a:pPr>
              <a:spcAft>
                <a:spcPts val="0"/>
              </a:spcAft>
            </a:pPr>
            <a:r>
              <a:rPr sz="1100" b="0" i="1">
                <a:solidFill>
                  <a:srgbClr val="77868E"/>
                </a:solidFill>
                <a:latin typeface="Calibri"/>
              </a:rPr>
              <a:t>Medians: EA +0.003, IP +0.010 on overall R².</a:t>
            </a:r>
          </a:p>
        </p:txBody>
      </p:sp>
      <p:sp>
        <p:nvSpPr>
          <p:cNvPr id="9" name="Rounded Rectangle 8"/>
          <p:cNvSpPr/>
          <p:nvPr/>
        </p:nvSpPr>
        <p:spPr>
          <a:xfrm>
            <a:off x="8321040" y="3904487"/>
            <a:ext cx="3364992" cy="160020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58784" y="4069080"/>
            <a:ext cx="2926080" cy="1325880"/>
          </a:xfrm>
          <a:prstGeom prst="rect">
            <a:avLst/>
          </a:prstGeom>
          <a:noFill/>
        </p:spPr>
        <p:txBody>
          <a:bodyPr wrap="square" lIns="0" rIns="0" tIns="0" bIns="0" anchor="t">
            <a:spAutoFit/>
          </a:bodyPr>
          <a:lstStyle/>
          <a:p>
            <a:pPr>
              <a:spcAft>
                <a:spcPts val="700"/>
              </a:spcAft>
            </a:pPr>
            <a:r>
              <a:rPr sz="1000" b="1" i="0">
                <a:solidFill>
                  <a:srgbClr val="B85042"/>
                </a:solidFill>
                <a:latin typeface="Calibri"/>
              </a:rPr>
              <a:t>ΔR² SAYS OTHERWISE</a:t>
            </a:r>
          </a:p>
          <a:p>
            <a:pPr>
              <a:spcAft>
                <a:spcPts val="600"/>
              </a:spcAft>
            </a:pPr>
            <a:r>
              <a:rPr sz="1150" b="1" i="0">
                <a:solidFill>
                  <a:srgbClr val="1A242A"/>
                </a:solidFill>
                <a:latin typeface="Calibri"/>
              </a:rPr>
              <a:t>5 of 5 folds, both targets.</a:t>
            </a:r>
          </a:p>
          <a:p>
            <a:pPr>
              <a:spcAft>
                <a:spcPts val="0"/>
              </a:spcAft>
            </a:pPr>
            <a:r>
              <a:rPr sz="1100" b="0" i="0">
                <a:solidFill>
                  <a:srgbClr val="3D4C54"/>
                </a:solidFill>
                <a:latin typeface="Calibri"/>
              </a:rPr>
              <a:t>Median +0.2597 (EA) and +0.1518 (IP) — two orders of magnitude larger than the accuracy differences.</a:t>
            </a:r>
          </a:p>
        </p:txBody>
      </p:sp>
      <p:sp>
        <p:nvSpPr>
          <p:cNvPr id="11" name="Rounded Rectangle 10"/>
          <p:cNvSpPr/>
          <p:nvPr/>
        </p:nvSpPr>
        <p:spPr>
          <a:xfrm>
            <a:off x="8321040" y="5532120"/>
            <a:ext cx="3364992" cy="786384"/>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58784" y="5678424"/>
            <a:ext cx="2926080" cy="566928"/>
          </a:xfrm>
          <a:prstGeom prst="rect">
            <a:avLst/>
          </a:prstGeom>
          <a:noFill/>
        </p:spPr>
        <p:txBody>
          <a:bodyPr wrap="square" lIns="0" rIns="0" tIns="0" bIns="0" anchor="t">
            <a:spAutoFit/>
          </a:bodyPr>
          <a:lstStyle/>
          <a:p>
            <a:pPr>
              <a:spcAft>
                <a:spcPts val="0"/>
              </a:spcAft>
            </a:pPr>
            <a:r>
              <a:rPr sz="1150" b="1" i="0">
                <a:solidFill>
                  <a:srgbClr val="FFFFFF"/>
                </a:solidFill>
                <a:latin typeface="Calibri"/>
              </a:rPr>
              <a:t>One set of predictions. Two defensible metrics. Opposite answers.</a:t>
            </a:r>
          </a:p>
        </p:txBody>
      </p:sp>
      <p:sp>
        <p:nvSpPr>
          <p:cNvPr id="13" name="TextBox 12"/>
          <p:cNvSpPr txBox="1"/>
          <p:nvPr/>
        </p:nvSpPr>
        <p:spPr>
          <a:xfrm>
            <a:off x="502920" y="6437376"/>
            <a:ext cx="11185855" cy="274320"/>
          </a:xfrm>
          <a:prstGeom prst="rect">
            <a:avLst/>
          </a:prstGeom>
          <a:noFill/>
        </p:spPr>
        <p:txBody>
          <a:bodyPr wrap="square" lIns="0" rIns="0" tIns="0" bIns="0" anchor="t">
            <a:spAutoFit/>
          </a:bodyPr>
          <a:lstStyle/>
          <a:p>
            <a:pPr>
              <a:spcAft>
                <a:spcPts val="0"/>
              </a:spcAft>
            </a:pPr>
            <a:r>
              <a:rPr sz="900" b="0" i="1">
                <a:solidFill>
                  <a:srgbClr val="77868E"/>
                </a:solidFill>
                <a:latin typeface="Calibri"/>
              </a:rPr>
              <a:t>5 folds gives a minimum attainable two-sided sign-test p of 0.0625 — 5/5 is the strongest result the design permits, and is reported as such.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640080"/>
          </a:xfrm>
          <a:prstGeom prst="rect">
            <a:avLst/>
          </a:prstGeom>
          <a:noFill/>
        </p:spPr>
        <p:txBody>
          <a:bodyPr wrap="square" lIns="0" rIns="0" tIns="0" bIns="0" anchor="t">
            <a:spAutoFit/>
          </a:bodyPr>
          <a:lstStyle/>
          <a:p>
            <a:pPr>
              <a:spcAft>
                <a:spcPts val="0"/>
              </a:spcAft>
            </a:pPr>
            <a:r>
              <a:rPr sz="2600" b="1" i="0">
                <a:solidFill>
                  <a:srgbClr val="1A242A"/>
                </a:solidFill>
                <a:latin typeface="Cambria"/>
              </a:rPr>
              <a:t>What the framework establishes</a:t>
            </a:r>
          </a:p>
        </p:txBody>
      </p:sp>
      <p:sp>
        <p:nvSpPr>
          <p:cNvPr id="3" name="TextBox 2"/>
          <p:cNvSpPr txBox="1"/>
          <p:nvPr/>
        </p:nvSpPr>
        <p:spPr>
          <a:xfrm>
            <a:off x="502920" y="1078992"/>
            <a:ext cx="11185855" cy="365760"/>
          </a:xfrm>
          <a:prstGeom prst="rect">
            <a:avLst/>
          </a:prstGeom>
          <a:noFill/>
        </p:spPr>
        <p:txBody>
          <a:bodyPr wrap="square" lIns="0" rIns="0" tIns="0" bIns="0" anchor="t">
            <a:spAutoFit/>
          </a:bodyPr>
          <a:lstStyle/>
          <a:p>
            <a:pPr>
              <a:spcAft>
                <a:spcPts val="0"/>
              </a:spcAft>
            </a:pPr>
            <a:r>
              <a:rPr sz="1300" b="0" i="0">
                <a:solidFill>
                  <a:srgbClr val="77868E"/>
                </a:solidFill>
                <a:latin typeface="Calibri"/>
              </a:rPr>
              <a:t>Four claims, each tied to one figure</a:t>
            </a:r>
          </a:p>
        </p:txBody>
      </p:sp>
      <p:sp>
        <p:nvSpPr>
          <p:cNvPr id="4" name="Rounded Rectangle 3"/>
          <p:cNvSpPr/>
          <p:nvPr/>
        </p:nvSpPr>
        <p:spPr>
          <a:xfrm>
            <a:off x="502920" y="1691640"/>
            <a:ext cx="11183112" cy="1060704"/>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1874520"/>
            <a:ext cx="4572000" cy="731520"/>
          </a:xfrm>
          <a:prstGeom prst="rect">
            <a:avLst/>
          </a:prstGeom>
          <a:noFill/>
        </p:spPr>
        <p:txBody>
          <a:bodyPr wrap="square" lIns="0" rIns="0" tIns="0" bIns="0" anchor="t">
            <a:spAutoFit/>
          </a:bodyPr>
          <a:lstStyle/>
          <a:p>
            <a:pPr>
              <a:spcAft>
                <a:spcPts val="400"/>
              </a:spcAft>
            </a:pPr>
            <a:r>
              <a:rPr sz="1300" b="1" i="0">
                <a:solidFill>
                  <a:srgbClr val="1A242A"/>
                </a:solidFill>
                <a:latin typeface="Cambria"/>
              </a:rPr>
              <a:t>The standard metric cannot see the property</a:t>
            </a:r>
          </a:p>
          <a:p>
            <a:pPr>
              <a:spcAft>
                <a:spcPts val="0"/>
              </a:spcAft>
            </a:pPr>
            <a:r>
              <a:rPr sz="1000" b="1" i="0">
                <a:solidFill>
                  <a:srgbClr val="028090"/>
                </a:solidFill>
                <a:latin typeface="Calibri"/>
              </a:rPr>
              <a:t>F1</a:t>
            </a:r>
          </a:p>
        </p:txBody>
      </p:sp>
      <p:sp>
        <p:nvSpPr>
          <p:cNvPr id="6" name="TextBox 5"/>
          <p:cNvSpPr txBox="1"/>
          <p:nvPr/>
        </p:nvSpPr>
        <p:spPr>
          <a:xfrm>
            <a:off x="5486400" y="1947672"/>
            <a:ext cx="6035040" cy="731520"/>
          </a:xfrm>
          <a:prstGeom prst="rect">
            <a:avLst/>
          </a:prstGeom>
          <a:noFill/>
        </p:spPr>
        <p:txBody>
          <a:bodyPr wrap="square" lIns="0" rIns="0" tIns="0" bIns="0" anchor="t">
            <a:spAutoFit/>
          </a:bodyPr>
          <a:lstStyle/>
          <a:p>
            <a:pPr>
              <a:spcAft>
                <a:spcPts val="0"/>
              </a:spcAft>
            </a:pPr>
            <a:r>
              <a:rPr sz="1100" b="0" i="0">
                <a:solidFill>
                  <a:srgbClr val="3D4C54"/>
                </a:solidFill>
                <a:latin typeface="Calibri"/>
              </a:rPr>
              <a:t>Architecture is 0.98% (EA) and 1.46% (IP) of total variance. Overall R² is dominated by a term two orders of magnitude larger.</a:t>
            </a:r>
          </a:p>
        </p:txBody>
      </p:sp>
      <p:sp>
        <p:nvSpPr>
          <p:cNvPr id="7" name="Rounded Rectangle 6"/>
          <p:cNvSpPr/>
          <p:nvPr/>
        </p:nvSpPr>
        <p:spPr>
          <a:xfrm>
            <a:off x="502920" y="2843784"/>
            <a:ext cx="11183112" cy="1060704"/>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3026664"/>
            <a:ext cx="4572000" cy="731520"/>
          </a:xfrm>
          <a:prstGeom prst="rect">
            <a:avLst/>
          </a:prstGeom>
          <a:noFill/>
        </p:spPr>
        <p:txBody>
          <a:bodyPr wrap="square" lIns="0" rIns="0" tIns="0" bIns="0" anchor="t">
            <a:spAutoFit/>
          </a:bodyPr>
          <a:lstStyle/>
          <a:p>
            <a:pPr>
              <a:spcAft>
                <a:spcPts val="400"/>
              </a:spcAft>
            </a:pPr>
            <a:r>
              <a:rPr sz="1300" b="1" i="0">
                <a:solidFill>
                  <a:srgbClr val="1A242A"/>
                </a:solidFill>
                <a:latin typeface="Cambria"/>
              </a:rPr>
              <a:t>A split can be degenerate for one target and not another</a:t>
            </a:r>
          </a:p>
          <a:p>
            <a:pPr>
              <a:spcAft>
                <a:spcPts val="0"/>
              </a:spcAft>
            </a:pPr>
            <a:r>
              <a:rPr sz="1000" b="1" i="0">
                <a:solidFill>
                  <a:srgbClr val="028090"/>
                </a:solidFill>
                <a:latin typeface="Calibri"/>
              </a:rPr>
              <a:t>F3</a:t>
            </a:r>
          </a:p>
        </p:txBody>
      </p:sp>
      <p:sp>
        <p:nvSpPr>
          <p:cNvPr id="9" name="TextBox 8"/>
          <p:cNvSpPr txBox="1"/>
          <p:nvPr/>
        </p:nvSpPr>
        <p:spPr>
          <a:xfrm>
            <a:off x="5486400" y="3099816"/>
            <a:ext cx="6035040" cy="731520"/>
          </a:xfrm>
          <a:prstGeom prst="rect">
            <a:avLst/>
          </a:prstGeom>
          <a:noFill/>
        </p:spPr>
        <p:txBody>
          <a:bodyPr wrap="square" lIns="0" rIns="0" tIns="0" bIns="0" anchor="t">
            <a:spAutoFit/>
          </a:bodyPr>
          <a:lstStyle/>
          <a:p>
            <a:pPr>
              <a:spcAft>
                <a:spcPts val="0"/>
              </a:spcAft>
            </a:pPr>
            <a:r>
              <a:rPr sz="1100" b="0" i="0">
                <a:solidFill>
                  <a:srgbClr val="3D4C54"/>
                </a:solidFill>
                <a:latin typeface="Calibri"/>
              </a:rPr>
              <a:t>A-blind null median group-mean R² is 0.676 on EA against −0.034 on IP. On IP fold 0 the null beats every trained model.</a:t>
            </a:r>
          </a:p>
        </p:txBody>
      </p:sp>
      <p:sp>
        <p:nvSpPr>
          <p:cNvPr id="10" name="Rounded Rectangle 9"/>
          <p:cNvSpPr/>
          <p:nvPr/>
        </p:nvSpPr>
        <p:spPr>
          <a:xfrm>
            <a:off x="502920" y="3995928"/>
            <a:ext cx="11183112" cy="1060704"/>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4178808"/>
            <a:ext cx="4572000" cy="731520"/>
          </a:xfrm>
          <a:prstGeom prst="rect">
            <a:avLst/>
          </a:prstGeom>
          <a:noFill/>
        </p:spPr>
        <p:txBody>
          <a:bodyPr wrap="square" lIns="0" rIns="0" tIns="0" bIns="0" anchor="t">
            <a:spAutoFit/>
          </a:bodyPr>
          <a:lstStyle/>
          <a:p>
            <a:pPr>
              <a:spcAft>
                <a:spcPts val="400"/>
              </a:spcAft>
            </a:pPr>
            <a:r>
              <a:rPr sz="1300" b="1" i="0">
                <a:solidFill>
                  <a:srgbClr val="1A242A"/>
                </a:solidFill>
                <a:latin typeface="Cambria"/>
              </a:rPr>
              <a:t>Benchmark numbers at this scale are not measurable single-run</a:t>
            </a:r>
          </a:p>
          <a:p>
            <a:pPr>
              <a:spcAft>
                <a:spcPts val="0"/>
              </a:spcAft>
            </a:pPr>
            <a:r>
              <a:rPr sz="1000" b="1" i="0">
                <a:solidFill>
                  <a:srgbClr val="028090"/>
                </a:solidFill>
                <a:latin typeface="Calibri"/>
              </a:rPr>
              <a:t>F5</a:t>
            </a:r>
          </a:p>
        </p:txBody>
      </p:sp>
      <p:sp>
        <p:nvSpPr>
          <p:cNvPr id="12" name="TextBox 11"/>
          <p:cNvSpPr txBox="1"/>
          <p:nvPr/>
        </p:nvSpPr>
        <p:spPr>
          <a:xfrm>
            <a:off x="5486400" y="4251960"/>
            <a:ext cx="6035040" cy="731520"/>
          </a:xfrm>
          <a:prstGeom prst="rect">
            <a:avLst/>
          </a:prstGeom>
          <a:noFill/>
        </p:spPr>
        <p:txBody>
          <a:bodyPr wrap="square" lIns="0" rIns="0" tIns="0" bIns="0" anchor="t">
            <a:spAutoFit/>
          </a:bodyPr>
          <a:lstStyle/>
          <a:p>
            <a:pPr>
              <a:spcAft>
                <a:spcPts val="0"/>
              </a:spcAft>
            </a:pPr>
            <a:r>
              <a:rPr sz="1100" b="0" i="0">
                <a:solidFill>
                  <a:srgbClr val="3D4C54"/>
                </a:solidFill>
                <a:latin typeface="Calibri"/>
              </a:rPr>
              <a:t>Three identical repeats give group-mean R² of 0.450, 0.790 and 0.978 — SD 0.268, larger than any improvement in the literature.</a:t>
            </a:r>
          </a:p>
        </p:txBody>
      </p:sp>
      <p:sp>
        <p:nvSpPr>
          <p:cNvPr id="13" name="Rounded Rectangle 12"/>
          <p:cNvSpPr/>
          <p:nvPr/>
        </p:nvSpPr>
        <p:spPr>
          <a:xfrm>
            <a:off x="502920" y="5148072"/>
            <a:ext cx="11183112" cy="1060704"/>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5330952"/>
            <a:ext cx="4572000" cy="731520"/>
          </a:xfrm>
          <a:prstGeom prst="rect">
            <a:avLst/>
          </a:prstGeom>
          <a:noFill/>
        </p:spPr>
        <p:txBody>
          <a:bodyPr wrap="square" lIns="0" rIns="0" tIns="0" bIns="0" anchor="t">
            <a:spAutoFit/>
          </a:bodyPr>
          <a:lstStyle/>
          <a:p>
            <a:pPr>
              <a:spcAft>
                <a:spcPts val="400"/>
              </a:spcAft>
            </a:pPr>
            <a:r>
              <a:rPr sz="1300" b="1" i="0">
                <a:solidFill>
                  <a:srgbClr val="1A242A"/>
                </a:solidFill>
                <a:latin typeface="Cambria"/>
              </a:rPr>
              <a:t>Two defensible metrics disagree on the same predictions</a:t>
            </a:r>
          </a:p>
          <a:p>
            <a:pPr>
              <a:spcAft>
                <a:spcPts val="0"/>
              </a:spcAft>
            </a:pPr>
            <a:r>
              <a:rPr sz="1000" b="1" i="0">
                <a:solidFill>
                  <a:srgbClr val="028090"/>
                </a:solidFill>
                <a:latin typeface="Calibri"/>
              </a:rPr>
              <a:t>F6</a:t>
            </a:r>
          </a:p>
        </p:txBody>
      </p:sp>
      <p:sp>
        <p:nvSpPr>
          <p:cNvPr id="15" name="TextBox 14"/>
          <p:cNvSpPr txBox="1"/>
          <p:nvPr/>
        </p:nvSpPr>
        <p:spPr>
          <a:xfrm>
            <a:off x="5486400" y="5404104"/>
            <a:ext cx="6035040" cy="731520"/>
          </a:xfrm>
          <a:prstGeom prst="rect">
            <a:avLst/>
          </a:prstGeom>
          <a:noFill/>
        </p:spPr>
        <p:txBody>
          <a:bodyPr wrap="square" lIns="0" rIns="0" tIns="0" bIns="0" anchor="t">
            <a:spAutoFit/>
          </a:bodyPr>
          <a:lstStyle/>
          <a:p>
            <a:pPr>
              <a:spcAft>
                <a:spcPts val="0"/>
              </a:spcAft>
            </a:pPr>
            <a:r>
              <a:rPr sz="1100" b="0" i="0">
                <a:solidFill>
                  <a:srgbClr val="3D4C54"/>
                </a:solidFill>
                <a:latin typeface="Calibri"/>
              </a:rPr>
              <a:t>Four accuracy metrics split 3/5 folds. ΔR² splits 5/5 on both targets, with medians of +0.26 and +0.15.</a:t>
            </a:r>
          </a:p>
        </p:txBody>
      </p:sp>
      <p:sp>
        <p:nvSpPr>
          <p:cNvPr id="16" name="Rounded Rectangle 15"/>
          <p:cNvSpPr/>
          <p:nvPr/>
        </p:nvSpPr>
        <p:spPr>
          <a:xfrm>
            <a:off x="502920" y="5943600"/>
            <a:ext cx="11183112" cy="658368"/>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6089904"/>
            <a:ext cx="10561320" cy="457200"/>
          </a:xfrm>
          <a:prstGeom prst="rect">
            <a:avLst/>
          </a:prstGeom>
          <a:noFill/>
        </p:spPr>
        <p:txBody>
          <a:bodyPr wrap="square" lIns="0" rIns="0" tIns="0" bIns="0" anchor="t">
            <a:spAutoFit/>
          </a:bodyPr>
          <a:lstStyle/>
          <a:p>
            <a:pPr>
              <a:spcAft>
                <a:spcPts val="0"/>
              </a:spcAft>
            </a:pPr>
            <a:r>
              <a:rPr sz="1350" b="1" i="0">
                <a:solidFill>
                  <a:srgbClr val="FFFFFF"/>
                </a:solidFill>
                <a:latin typeface="Cambria"/>
              </a:rPr>
              <a:t>None of these depends on which model wins.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640080"/>
          </a:xfrm>
          <a:prstGeom prst="rect">
            <a:avLst/>
          </a:prstGeom>
          <a:noFill/>
        </p:spPr>
        <p:txBody>
          <a:bodyPr wrap="square" lIns="0" rIns="0" tIns="0" bIns="0" anchor="t">
            <a:spAutoFit/>
          </a:bodyPr>
          <a:lstStyle/>
          <a:p>
            <a:pPr>
              <a:spcAft>
                <a:spcPts val="0"/>
              </a:spcAft>
            </a:pPr>
            <a:r>
              <a:rPr sz="2600" b="1" i="0">
                <a:solidFill>
                  <a:srgbClr val="1A242A"/>
                </a:solidFill>
                <a:latin typeface="Cambria"/>
              </a:rPr>
              <a:t>Where this sits — four papers, and why this one goes first</a:t>
            </a:r>
          </a:p>
        </p:txBody>
      </p:sp>
      <p:sp>
        <p:nvSpPr>
          <p:cNvPr id="3" name="TextBox 2"/>
          <p:cNvSpPr txBox="1"/>
          <p:nvPr/>
        </p:nvSpPr>
        <p:spPr>
          <a:xfrm>
            <a:off x="502920" y="1078992"/>
            <a:ext cx="11185855" cy="365760"/>
          </a:xfrm>
          <a:prstGeom prst="rect">
            <a:avLst/>
          </a:prstGeom>
          <a:noFill/>
        </p:spPr>
        <p:txBody>
          <a:bodyPr wrap="square" lIns="0" rIns="0" tIns="0" bIns="0" anchor="t">
            <a:spAutoFit/>
          </a:bodyPr>
          <a:lstStyle/>
          <a:p>
            <a:pPr>
              <a:spcAft>
                <a:spcPts val="0"/>
              </a:spcAft>
            </a:pPr>
            <a:r>
              <a:rPr sz="1300" b="0" i="0">
                <a:solidFill>
                  <a:srgbClr val="77868E"/>
                </a:solidFill>
                <a:latin typeface="Calibri"/>
              </a:rPr>
              <a:t>The through-line comes from the accepted review's own Future Perspectives section</a:t>
            </a:r>
          </a:p>
        </p:txBody>
      </p:sp>
      <p:sp>
        <p:nvSpPr>
          <p:cNvPr id="4" name="Rounded Rectangle 3"/>
          <p:cNvSpPr/>
          <p:nvPr/>
        </p:nvSpPr>
        <p:spPr>
          <a:xfrm>
            <a:off x="502920" y="1691640"/>
            <a:ext cx="11183112" cy="932688"/>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29384"/>
            <a:ext cx="384048" cy="38404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0</a:t>
            </a:r>
          </a:p>
        </p:txBody>
      </p:sp>
      <p:sp>
        <p:nvSpPr>
          <p:cNvPr id="6" name="TextBox 5"/>
          <p:cNvSpPr txBox="1"/>
          <p:nvPr/>
        </p:nvSpPr>
        <p:spPr>
          <a:xfrm>
            <a:off x="1344168" y="1819656"/>
            <a:ext cx="4663440" cy="73152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Review — accepted, Digital Discovery</a:t>
            </a:r>
          </a:p>
          <a:p>
            <a:pPr>
              <a:spcAft>
                <a:spcPts val="0"/>
              </a:spcAft>
            </a:pPr>
            <a:r>
              <a:rPr sz="1000" b="1" i="0">
                <a:solidFill>
                  <a:srgbClr val="028090"/>
                </a:solidFill>
                <a:latin typeface="Calibri"/>
              </a:rPr>
              <a:t>DONE</a:t>
            </a:r>
          </a:p>
        </p:txBody>
      </p:sp>
      <p:sp>
        <p:nvSpPr>
          <p:cNvPr id="7" name="TextBox 6"/>
          <p:cNvSpPr txBox="1"/>
          <p:nvPr/>
        </p:nvSpPr>
        <p:spPr>
          <a:xfrm>
            <a:off x="5852160" y="1892808"/>
            <a:ext cx="5760720" cy="685800"/>
          </a:xfrm>
          <a:prstGeom prst="rect">
            <a:avLst/>
          </a:prstGeom>
          <a:noFill/>
        </p:spPr>
        <p:txBody>
          <a:bodyPr wrap="square" lIns="0" rIns="0" tIns="0" bIns="0" anchor="t">
            <a:spAutoFit/>
          </a:bodyPr>
          <a:lstStyle/>
          <a:p>
            <a:pPr>
              <a:spcAft>
                <a:spcPts val="0"/>
              </a:spcAft>
            </a:pPr>
            <a:r>
              <a:rPr sz="1100" b="0" i="0">
                <a:solidFill>
                  <a:srgbClr val="3D4C54"/>
                </a:solidFill>
                <a:latin typeface="Calibri"/>
              </a:rPr>
              <a:t>Argues in the literature that representation quality needs evaluating beyond predictive accuracy. Contains a section titled exactly that.</a:t>
            </a:r>
          </a:p>
        </p:txBody>
      </p:sp>
      <p:sp>
        <p:nvSpPr>
          <p:cNvPr id="8" name="Rounded Rectangle 7"/>
          <p:cNvSpPr/>
          <p:nvPr/>
        </p:nvSpPr>
        <p:spPr>
          <a:xfrm>
            <a:off x="502920" y="2715768"/>
            <a:ext cx="11183112" cy="932688"/>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2953512"/>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0" name="TextBox 9"/>
          <p:cNvSpPr txBox="1"/>
          <p:nvPr/>
        </p:nvSpPr>
        <p:spPr>
          <a:xfrm>
            <a:off x="1344168" y="2843784"/>
            <a:ext cx="4663440" cy="73152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Evaluation framework  —  this deck</a:t>
            </a:r>
          </a:p>
          <a:p>
            <a:pPr>
              <a:spcAft>
                <a:spcPts val="0"/>
              </a:spcAft>
            </a:pPr>
            <a:r>
              <a:rPr sz="1000" b="1" i="0">
                <a:solidFill>
                  <a:srgbClr val="B85042"/>
                </a:solidFill>
                <a:latin typeface="Calibri"/>
              </a:rPr>
              <a:t>WRITE NOW</a:t>
            </a:r>
          </a:p>
        </p:txBody>
      </p:sp>
      <p:sp>
        <p:nvSpPr>
          <p:cNvPr id="11" name="TextBox 10"/>
          <p:cNvSpPr txBox="1"/>
          <p:nvPr/>
        </p:nvSpPr>
        <p:spPr>
          <a:xfrm>
            <a:off x="5852160" y="2916936"/>
            <a:ext cx="5760720" cy="685800"/>
          </a:xfrm>
          <a:prstGeom prst="rect">
            <a:avLst/>
          </a:prstGeom>
          <a:noFill/>
        </p:spPr>
        <p:txBody>
          <a:bodyPr wrap="square" lIns="0" rIns="0" tIns="0" bIns="0" anchor="t">
            <a:spAutoFit/>
          </a:bodyPr>
          <a:lstStyle/>
          <a:p>
            <a:pPr>
              <a:spcAft>
                <a:spcPts val="0"/>
              </a:spcAft>
            </a:pPr>
            <a:r>
              <a:rPr sz="1100" b="0" i="0">
                <a:solidFill>
                  <a:srgbClr val="3D4C54"/>
                </a:solidFill>
                <a:latin typeface="Calibri"/>
              </a:rPr>
              <a:t>Demonstrates that argument empirically on the field's standard copolymer benchmark. All six components built and verified; no new compute needed.</a:t>
            </a:r>
          </a:p>
        </p:txBody>
      </p:sp>
      <p:sp>
        <p:nvSpPr>
          <p:cNvPr id="12" name="Rounded Rectangle 11"/>
          <p:cNvSpPr/>
          <p:nvPr/>
        </p:nvSpPr>
        <p:spPr>
          <a:xfrm>
            <a:off x="502920" y="3739896"/>
            <a:ext cx="11183112" cy="932688"/>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3977639"/>
            <a:ext cx="384048" cy="384048"/>
          </a:xfrm>
          <a:prstGeom prst="ellipse">
            <a:avLst/>
          </a:prstGeom>
          <a:solidFill>
            <a:srgbClr val="C48B0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4" name="TextBox 13"/>
          <p:cNvSpPr txBox="1"/>
          <p:nvPr/>
        </p:nvSpPr>
        <p:spPr>
          <a:xfrm>
            <a:off x="1344168" y="3867911"/>
            <a:ext cx="4663440" cy="73152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Architecture-aware benchmark dataset</a:t>
            </a:r>
          </a:p>
          <a:p>
            <a:pPr>
              <a:spcAft>
                <a:spcPts val="0"/>
              </a:spcAft>
            </a:pPr>
            <a:r>
              <a:rPr sz="1000" b="1" i="0">
                <a:solidFill>
                  <a:srgbClr val="C48B0E"/>
                </a:solidFill>
                <a:latin typeface="Calibri"/>
              </a:rPr>
              <a:t>COSTED</a:t>
            </a:r>
          </a:p>
        </p:txBody>
      </p:sp>
      <p:sp>
        <p:nvSpPr>
          <p:cNvPr id="15" name="TextBox 14"/>
          <p:cNvSpPr txBox="1"/>
          <p:nvPr/>
        </p:nvSpPr>
        <p:spPr>
          <a:xfrm>
            <a:off x="5852160" y="3941063"/>
            <a:ext cx="5760720" cy="685800"/>
          </a:xfrm>
          <a:prstGeom prst="rect">
            <a:avLst/>
          </a:prstGeom>
          <a:noFill/>
        </p:spPr>
        <p:txBody>
          <a:bodyPr wrap="square" lIns="0" rIns="0" tIns="0" bIns="0" anchor="t">
            <a:spAutoFit/>
          </a:bodyPr>
          <a:lstStyle/>
          <a:p>
            <a:pPr>
              <a:spcAft>
                <a:spcPts val="0"/>
              </a:spcAft>
            </a:pPr>
            <a:r>
              <a:rPr sz="1100" b="0" i="0">
                <a:solidFill>
                  <a:srgbClr val="3D4C54"/>
                </a:solidFill>
                <a:latin typeface="Calibri"/>
              </a:rPr>
              <a:t>Enables the architecture-held-out split that Paper 1 shows is missing. ~8–9 kSU CPU, pipeline verified portable.</a:t>
            </a:r>
          </a:p>
        </p:txBody>
      </p:sp>
      <p:sp>
        <p:nvSpPr>
          <p:cNvPr id="16" name="Rounded Rectangle 15"/>
          <p:cNvSpPr/>
          <p:nvPr/>
        </p:nvSpPr>
        <p:spPr>
          <a:xfrm>
            <a:off x="502920" y="4764024"/>
            <a:ext cx="11183112" cy="932688"/>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5001768"/>
            <a:ext cx="384048" cy="384048"/>
          </a:xfrm>
          <a:prstGeom prst="ellipse">
            <a:avLst/>
          </a:prstGeom>
          <a:solidFill>
            <a:srgbClr val="C48B0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1344168" y="4892040"/>
            <a:ext cx="4663440" cy="731520"/>
          </a:xfrm>
          <a:prstGeom prst="rect">
            <a:avLst/>
          </a:prstGeom>
          <a:noFill/>
        </p:spPr>
        <p:txBody>
          <a:bodyPr wrap="square" lIns="0" rIns="0" tIns="0" bIns="0" anchor="t">
            <a:spAutoFit/>
          </a:bodyPr>
          <a:lstStyle/>
          <a:p>
            <a:pPr>
              <a:spcAft>
                <a:spcPts val="400"/>
              </a:spcAft>
            </a:pPr>
            <a:r>
              <a:rPr sz="1350" b="1" i="0">
                <a:solidFill>
                  <a:srgbClr val="1A242A"/>
                </a:solidFill>
                <a:latin typeface="Cambria"/>
              </a:rPr>
              <a:t>The model — octamer versus baseline</a:t>
            </a:r>
          </a:p>
          <a:p>
            <a:pPr>
              <a:spcAft>
                <a:spcPts val="0"/>
              </a:spcAft>
            </a:pPr>
            <a:r>
              <a:rPr sz="1000" b="1" i="0">
                <a:solidFill>
                  <a:srgbClr val="C48B0E"/>
                </a:solidFill>
                <a:latin typeface="Calibri"/>
              </a:rPr>
              <a:t>EVIDENCE IN HAND</a:t>
            </a:r>
          </a:p>
        </p:txBody>
      </p:sp>
      <p:sp>
        <p:nvSpPr>
          <p:cNvPr id="19" name="TextBox 18"/>
          <p:cNvSpPr txBox="1"/>
          <p:nvPr/>
        </p:nvSpPr>
        <p:spPr>
          <a:xfrm>
            <a:off x="5852160" y="4965192"/>
            <a:ext cx="5760720" cy="685800"/>
          </a:xfrm>
          <a:prstGeom prst="rect">
            <a:avLst/>
          </a:prstGeom>
          <a:noFill/>
        </p:spPr>
        <p:txBody>
          <a:bodyPr wrap="square" lIns="0" rIns="0" tIns="0" bIns="0" anchor="t">
            <a:spAutoFit/>
          </a:bodyPr>
          <a:lstStyle/>
          <a:p>
            <a:pPr>
              <a:spcAft>
                <a:spcPts val="0"/>
              </a:spcAft>
            </a:pPr>
            <a:r>
              <a:rPr sz="1100" b="0" i="0">
                <a:solidFill>
                  <a:srgbClr val="3D4C54"/>
                </a:solidFill>
                <a:latin typeface="Calibri"/>
              </a:rPr>
              <a:t>Significant on two comparisons at p = 0.004. Held until external validity is tested, so it does not carry the protocol-matching confound alone.</a:t>
            </a:r>
          </a:p>
        </p:txBody>
      </p:sp>
      <p:sp>
        <p:nvSpPr>
          <p:cNvPr id="20" name="Rounded Rectangle 19"/>
          <p:cNvSpPr/>
          <p:nvPr/>
        </p:nvSpPr>
        <p:spPr>
          <a:xfrm>
            <a:off x="502920" y="5852160"/>
            <a:ext cx="11183112" cy="685800"/>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6016752"/>
            <a:ext cx="10607040" cy="457200"/>
          </a:xfrm>
          <a:prstGeom prst="rect">
            <a:avLst/>
          </a:prstGeom>
          <a:noFill/>
        </p:spPr>
        <p:txBody>
          <a:bodyPr wrap="square" lIns="0" rIns="0" tIns="0" bIns="0" anchor="t">
            <a:spAutoFit/>
          </a:bodyPr>
          <a:lstStyle/>
          <a:p>
            <a:pPr>
              <a:spcAft>
                <a:spcPts val="0"/>
              </a:spcAft>
            </a:pPr>
            <a:r>
              <a:rPr sz="1350" b="1" i="0">
                <a:solidFill>
                  <a:srgbClr val="FFFFFF"/>
                </a:solidFill>
                <a:latin typeface="Cambria"/>
              </a:rPr>
              <a:t>Year 1 argues it in the literature. Year 2 demonstrates it on the benchmark everyone uses. Year 3 builds the dataset the argument requires.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640080"/>
          </a:xfrm>
          <a:prstGeom prst="rect">
            <a:avLst/>
          </a:prstGeom>
          <a:noFill/>
        </p:spPr>
        <p:txBody>
          <a:bodyPr wrap="square" lIns="0" rIns="0" tIns="0" bIns="0" anchor="t">
            <a:spAutoFit/>
          </a:bodyPr>
          <a:lstStyle/>
          <a:p>
            <a:pPr>
              <a:spcAft>
                <a:spcPts val="0"/>
              </a:spcAft>
            </a:pPr>
            <a:r>
              <a:rPr sz="2600" b="1" i="0">
                <a:solidFill>
                  <a:srgbClr val="1A242A"/>
                </a:solidFill>
                <a:latin typeface="Cambria"/>
              </a:rPr>
              <a:t>Why Paper 1 first — three reasons, one of them defensive</a:t>
            </a:r>
          </a:p>
        </p:txBody>
      </p:sp>
      <p:sp>
        <p:nvSpPr>
          <p:cNvPr id="3" name="TextBox 2"/>
          <p:cNvSpPr txBox="1"/>
          <p:nvPr/>
        </p:nvSpPr>
        <p:spPr>
          <a:xfrm>
            <a:off x="502920" y="1078992"/>
            <a:ext cx="11185855" cy="365760"/>
          </a:xfrm>
          <a:prstGeom prst="rect">
            <a:avLst/>
          </a:prstGeom>
          <a:noFill/>
        </p:spPr>
        <p:txBody>
          <a:bodyPr wrap="square" lIns="0" rIns="0" tIns="0" bIns="0" anchor="t">
            <a:spAutoFit/>
          </a:bodyPr>
          <a:lstStyle/>
          <a:p>
            <a:pPr>
              <a:spcAft>
                <a:spcPts val="0"/>
              </a:spcAft>
            </a:pPr>
            <a:r>
              <a:rPr sz="1300" b="0" i="0">
                <a:solidFill>
                  <a:srgbClr val="77868E"/>
                </a:solidFill>
                <a:latin typeface="Calibri"/>
              </a:rPr>
              <a:t>The alternative was to lead with the model result</a:t>
            </a:r>
          </a:p>
        </p:txBody>
      </p:sp>
      <p:sp>
        <p:nvSpPr>
          <p:cNvPr id="4" name="Rounded Rectangle 3"/>
          <p:cNvSpPr/>
          <p:nvPr/>
        </p:nvSpPr>
        <p:spPr>
          <a:xfrm>
            <a:off x="502920" y="1691640"/>
            <a:ext cx="3602736" cy="228600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20240"/>
            <a:ext cx="164592" cy="164592"/>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267712"/>
            <a:ext cx="3063240" cy="1554480"/>
          </a:xfrm>
          <a:prstGeom prst="rect">
            <a:avLst/>
          </a:prstGeom>
          <a:noFill/>
        </p:spPr>
        <p:txBody>
          <a:bodyPr wrap="square" lIns="0" rIns="0" tIns="0" bIns="0" anchor="t">
            <a:spAutoFit/>
          </a:bodyPr>
          <a:lstStyle/>
          <a:p>
            <a:pPr>
              <a:spcAft>
                <a:spcPts val="800"/>
              </a:spcAft>
            </a:pPr>
            <a:r>
              <a:rPr sz="1400" b="1" i="0">
                <a:solidFill>
                  <a:srgbClr val="1A242A"/>
                </a:solidFill>
                <a:latin typeface="Cambria"/>
              </a:rPr>
              <a:t>It is writable today</a:t>
            </a:r>
          </a:p>
          <a:p>
            <a:pPr>
              <a:spcAft>
                <a:spcPts val="0"/>
              </a:spcAft>
            </a:pPr>
            <a:r>
              <a:rPr sz="1100" b="0" i="0">
                <a:solidFill>
                  <a:srgbClr val="3D4C54"/>
                </a:solidFill>
                <a:latin typeface="Calibri"/>
              </a:rPr>
              <a:t>Every component is built, measured and verified against a manifest. The model paper depends on external-validity tests not yet run; the dataset paper depends on compute not yet approved.</a:t>
            </a:r>
          </a:p>
        </p:txBody>
      </p:sp>
      <p:sp>
        <p:nvSpPr>
          <p:cNvPr id="7" name="Rounded Rectangle 6"/>
          <p:cNvSpPr/>
          <p:nvPr/>
        </p:nvSpPr>
        <p:spPr>
          <a:xfrm>
            <a:off x="4288536" y="1691640"/>
            <a:ext cx="3602736" cy="228600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62855" y="1920240"/>
            <a:ext cx="164592" cy="164592"/>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5" y="2267712"/>
            <a:ext cx="3063240" cy="1554480"/>
          </a:xfrm>
          <a:prstGeom prst="rect">
            <a:avLst/>
          </a:prstGeom>
          <a:noFill/>
        </p:spPr>
        <p:txBody>
          <a:bodyPr wrap="square" lIns="0" rIns="0" tIns="0" bIns="0" anchor="t">
            <a:spAutoFit/>
          </a:bodyPr>
          <a:lstStyle/>
          <a:p>
            <a:pPr>
              <a:spcAft>
                <a:spcPts val="800"/>
              </a:spcAft>
            </a:pPr>
            <a:r>
              <a:rPr sz="1400" b="1" i="0">
                <a:solidFill>
                  <a:srgbClr val="1A242A"/>
                </a:solidFill>
                <a:latin typeface="Cambria"/>
              </a:rPr>
              <a:t>It does not depend on which model wins</a:t>
            </a:r>
          </a:p>
          <a:p>
            <a:pPr>
              <a:spcAft>
                <a:spcPts val="0"/>
              </a:spcAft>
            </a:pPr>
            <a:r>
              <a:rPr sz="1100" b="0" i="0">
                <a:solidFill>
                  <a:srgbClr val="3D4C54"/>
                </a:solidFill>
                <a:latin typeface="Calibri"/>
              </a:rPr>
              <a:t>The framework stands whether the octamer, HPG-hier or something later turns out best. That insulates it entirely from the protocol-matching confound, which is the largest threat to the model paper.</a:t>
            </a:r>
          </a:p>
        </p:txBody>
      </p:sp>
      <p:sp>
        <p:nvSpPr>
          <p:cNvPr id="10" name="Rounded Rectangle 9"/>
          <p:cNvSpPr/>
          <p:nvPr/>
        </p:nvSpPr>
        <p:spPr>
          <a:xfrm>
            <a:off x="8074151" y="1691640"/>
            <a:ext cx="3602736" cy="2286000"/>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48471" y="1920240"/>
            <a:ext cx="164592" cy="164592"/>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8471" y="2267712"/>
            <a:ext cx="3063240" cy="1554480"/>
          </a:xfrm>
          <a:prstGeom prst="rect">
            <a:avLst/>
          </a:prstGeom>
          <a:noFill/>
        </p:spPr>
        <p:txBody>
          <a:bodyPr wrap="square" lIns="0" rIns="0" tIns="0" bIns="0" anchor="t">
            <a:spAutoFit/>
          </a:bodyPr>
          <a:lstStyle/>
          <a:p>
            <a:pPr>
              <a:spcAft>
                <a:spcPts val="800"/>
              </a:spcAft>
            </a:pPr>
            <a:r>
              <a:rPr sz="1400" b="1" i="0">
                <a:solidFill>
                  <a:srgbClr val="1A242A"/>
                </a:solidFill>
                <a:latin typeface="Cambria"/>
              </a:rPr>
              <a:t>The measurement work invalidates the modelling work</a:t>
            </a:r>
          </a:p>
          <a:p>
            <a:pPr>
              <a:spcAft>
                <a:spcPts val="0"/>
              </a:spcAft>
            </a:pPr>
            <a:r>
              <a:rPr sz="1100" b="0" i="0">
                <a:solidFill>
                  <a:srgbClr val="3D4C54"/>
                </a:solidFill>
                <a:latin typeface="Calibri"/>
              </a:rPr>
              <a:t>The noise floor, the checkpoint bug, the null floors and the split design collectively void most of the earlier model comparisons. The stronger contribution is the one that did the invalidating.</a:t>
            </a:r>
          </a:p>
        </p:txBody>
      </p:sp>
      <p:sp>
        <p:nvSpPr>
          <p:cNvPr id="13" name="Rounded Rectangle 12"/>
          <p:cNvSpPr/>
          <p:nvPr/>
        </p:nvSpPr>
        <p:spPr>
          <a:xfrm>
            <a:off x="502920" y="4206240"/>
            <a:ext cx="11183112" cy="123444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4407408"/>
            <a:ext cx="10607040" cy="914400"/>
          </a:xfrm>
          <a:prstGeom prst="rect">
            <a:avLst/>
          </a:prstGeom>
          <a:noFill/>
        </p:spPr>
        <p:txBody>
          <a:bodyPr wrap="square" lIns="0" rIns="0" tIns="0" bIns="0" anchor="t">
            <a:spAutoFit/>
          </a:bodyPr>
          <a:lstStyle/>
          <a:p>
            <a:pPr>
              <a:spcAft>
                <a:spcPts val="700"/>
              </a:spcAft>
            </a:pPr>
            <a:r>
              <a:rPr sz="1350" b="1" i="0">
                <a:solidFill>
                  <a:srgbClr val="B85042"/>
                </a:solidFill>
                <a:latin typeface="Cambria"/>
              </a:rPr>
              <a:t>What Paper 1 deliberately does not claim</a:t>
            </a:r>
          </a:p>
          <a:p>
            <a:pPr>
              <a:spcAft>
                <a:spcPts val="0"/>
              </a:spcAft>
            </a:pPr>
            <a:r>
              <a:rPr sz="1200" b="0" i="0">
                <a:solidFill>
                  <a:srgbClr val="3D4C54"/>
                </a:solidFill>
                <a:latin typeface="Calibri"/>
              </a:rPr>
              <a:t>That our model is the best. The octamer appears only as one of the models used to demonstrate that two metrics can disagree on the same predictions. Its own significance result belongs to Paper 3, after external validity has been tested.</a:t>
            </a:r>
          </a:p>
        </p:txBody>
      </p:sp>
      <p:sp>
        <p:nvSpPr>
          <p:cNvPr id="15" name="Rounded Rectangle 14"/>
          <p:cNvSpPr/>
          <p:nvPr/>
        </p:nvSpPr>
        <p:spPr>
          <a:xfrm>
            <a:off x="502920" y="5669280"/>
            <a:ext cx="11183112" cy="822960"/>
          </a:xfrm>
          <a:prstGeom prst="roundRect">
            <a:avLst>
              <a:gd name="adj" fmla="val 5000"/>
            </a:avLst>
          </a:prstGeom>
          <a:solidFill>
            <a:srgbClr val="2B3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5852160"/>
            <a:ext cx="10607040" cy="502920"/>
          </a:xfrm>
          <a:prstGeom prst="rect">
            <a:avLst/>
          </a:prstGeom>
          <a:noFill/>
        </p:spPr>
        <p:txBody>
          <a:bodyPr wrap="square" lIns="0" rIns="0" tIns="0" bIns="0" anchor="t">
            <a:spAutoFit/>
          </a:bodyPr>
          <a:lstStyle/>
          <a:p>
            <a:pPr>
              <a:spcAft>
                <a:spcPts val="0"/>
              </a:spcAft>
            </a:pPr>
            <a:r>
              <a:rPr sz="1350" b="1" i="0">
                <a:solidFill>
                  <a:srgbClr val="FFFFFF"/>
                </a:solidFill>
                <a:latin typeface="Cambria"/>
              </a:rPr>
              <a:t>Target: submit in the first quarter of Year 3. No experiments block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84048"/>
            <a:ext cx="11185855" cy="640080"/>
          </a:xfrm>
          <a:prstGeom prst="rect">
            <a:avLst/>
          </a:prstGeom>
          <a:noFill/>
        </p:spPr>
        <p:txBody>
          <a:bodyPr wrap="square" lIns="0" rIns="0" tIns="0" bIns="0" anchor="t">
            <a:spAutoFit/>
          </a:bodyPr>
          <a:lstStyle/>
          <a:p>
            <a:pPr>
              <a:spcAft>
                <a:spcPts val="0"/>
              </a:spcAft>
            </a:pPr>
            <a:r>
              <a:rPr sz="2600" b="1" i="0">
                <a:solidFill>
                  <a:srgbClr val="1A242A"/>
                </a:solidFill>
                <a:latin typeface="Cambria"/>
              </a:rPr>
              <a:t>Provenance — what stands behind each figure</a:t>
            </a:r>
          </a:p>
        </p:txBody>
      </p:sp>
      <p:sp>
        <p:nvSpPr>
          <p:cNvPr id="3" name="TextBox 2"/>
          <p:cNvSpPr txBox="1"/>
          <p:nvPr/>
        </p:nvSpPr>
        <p:spPr>
          <a:xfrm>
            <a:off x="502920" y="1078992"/>
            <a:ext cx="11185855" cy="365760"/>
          </a:xfrm>
          <a:prstGeom prst="rect">
            <a:avLst/>
          </a:prstGeom>
          <a:noFill/>
        </p:spPr>
        <p:txBody>
          <a:bodyPr wrap="square" lIns="0" rIns="0" tIns="0" bIns="0" anchor="t">
            <a:spAutoFit/>
          </a:bodyPr>
          <a:lstStyle/>
          <a:p>
            <a:pPr>
              <a:spcAft>
                <a:spcPts val="0"/>
              </a:spcAft>
            </a:pPr>
            <a:r>
              <a:rPr sz="1300" b="0" i="0">
                <a:solidFill>
                  <a:srgbClr val="77868E"/>
                </a:solidFill>
                <a:latin typeface="Calibri"/>
              </a:rPr>
              <a:t>Every figure has a manifest in analysis/paper1_figures/ recording sources, selection rule and cell count</a:t>
            </a:r>
          </a:p>
        </p:txBody>
      </p:sp>
      <p:sp>
        <p:nvSpPr>
          <p:cNvPr id="4" name="Rounded Rectangle 3"/>
          <p:cNvSpPr/>
          <p:nvPr/>
        </p:nvSpPr>
        <p:spPr>
          <a:xfrm>
            <a:off x="502920" y="1645920"/>
            <a:ext cx="11183112" cy="694944"/>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548640" cy="365760"/>
          </a:xfrm>
          <a:prstGeom prst="rect">
            <a:avLst/>
          </a:prstGeom>
          <a:noFill/>
        </p:spPr>
        <p:txBody>
          <a:bodyPr wrap="square" lIns="0" rIns="0" tIns="0" bIns="0" anchor="t">
            <a:spAutoFit/>
          </a:bodyPr>
          <a:lstStyle/>
          <a:p>
            <a:pPr>
              <a:spcAft>
                <a:spcPts val="0"/>
              </a:spcAft>
            </a:pPr>
            <a:r>
              <a:rPr sz="1200" b="1" i="0">
                <a:solidFill>
                  <a:srgbClr val="028090"/>
                </a:solidFill>
                <a:latin typeface="Cambria"/>
              </a:rPr>
              <a:t>F1</a:t>
            </a:r>
          </a:p>
        </p:txBody>
      </p:sp>
      <p:sp>
        <p:nvSpPr>
          <p:cNvPr id="6" name="TextBox 5"/>
          <p:cNvSpPr txBox="1"/>
          <p:nvPr/>
        </p:nvSpPr>
        <p:spPr>
          <a:xfrm>
            <a:off x="1417320" y="1828800"/>
            <a:ext cx="2743200" cy="365760"/>
          </a:xfrm>
          <a:prstGeom prst="rect">
            <a:avLst/>
          </a:prstGeom>
          <a:noFill/>
        </p:spPr>
        <p:txBody>
          <a:bodyPr wrap="square" lIns="0" rIns="0" tIns="0" bIns="0" anchor="t">
            <a:spAutoFit/>
          </a:bodyPr>
          <a:lstStyle/>
          <a:p>
            <a:pPr>
              <a:spcAft>
                <a:spcPts val="0"/>
              </a:spcAft>
            </a:pPr>
            <a:r>
              <a:rPr sz="1150" b="1" i="0">
                <a:solidFill>
                  <a:srgbClr val="1A242A"/>
                </a:solidFill>
                <a:latin typeface="Calibri"/>
              </a:rPr>
              <a:t>Variance decomposition</a:t>
            </a:r>
          </a:p>
        </p:txBody>
      </p:sp>
      <p:sp>
        <p:nvSpPr>
          <p:cNvPr id="7" name="TextBox 6"/>
          <p:cNvSpPr txBox="1"/>
          <p:nvPr/>
        </p:nvSpPr>
        <p:spPr>
          <a:xfrm>
            <a:off x="4480560" y="1828800"/>
            <a:ext cx="7132320" cy="457200"/>
          </a:xfrm>
          <a:prstGeom prst="rect">
            <a:avLst/>
          </a:prstGeom>
          <a:noFill/>
        </p:spPr>
        <p:txBody>
          <a:bodyPr wrap="square" lIns="0" rIns="0" tIns="0" bIns="0" anchor="t">
            <a:spAutoFit/>
          </a:bodyPr>
          <a:lstStyle/>
          <a:p>
            <a:pPr>
              <a:spcAft>
                <a:spcPts val="0"/>
              </a:spcAft>
            </a:pPr>
            <a:r>
              <a:rPr sz="1050" b="0" i="0">
                <a:solidFill>
                  <a:srgbClr val="3D4C54"/>
                </a:solidFill>
                <a:latin typeface="Calibri"/>
              </a:rPr>
              <a:t>data/ea_ip.csv, 42,966 rows. No model predictions. Shares sum to 1.000.</a:t>
            </a:r>
          </a:p>
        </p:txBody>
      </p:sp>
      <p:sp>
        <p:nvSpPr>
          <p:cNvPr id="8" name="Rounded Rectangle 7"/>
          <p:cNvSpPr/>
          <p:nvPr/>
        </p:nvSpPr>
        <p:spPr>
          <a:xfrm>
            <a:off x="502920" y="2432304"/>
            <a:ext cx="11183112" cy="694944"/>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15184"/>
            <a:ext cx="548640" cy="365760"/>
          </a:xfrm>
          <a:prstGeom prst="rect">
            <a:avLst/>
          </a:prstGeom>
          <a:noFill/>
        </p:spPr>
        <p:txBody>
          <a:bodyPr wrap="square" lIns="0" rIns="0" tIns="0" bIns="0" anchor="t">
            <a:spAutoFit/>
          </a:bodyPr>
          <a:lstStyle/>
          <a:p>
            <a:pPr>
              <a:spcAft>
                <a:spcPts val="0"/>
              </a:spcAft>
            </a:pPr>
            <a:r>
              <a:rPr sz="1200" b="1" i="0">
                <a:solidFill>
                  <a:srgbClr val="028090"/>
                </a:solidFill>
                <a:latin typeface="Cambria"/>
              </a:rPr>
              <a:t>F2</a:t>
            </a:r>
          </a:p>
        </p:txBody>
      </p:sp>
      <p:sp>
        <p:nvSpPr>
          <p:cNvPr id="10" name="TextBox 9"/>
          <p:cNvSpPr txBox="1"/>
          <p:nvPr/>
        </p:nvSpPr>
        <p:spPr>
          <a:xfrm>
            <a:off x="1417320" y="2615184"/>
            <a:ext cx="2743200" cy="365760"/>
          </a:xfrm>
          <a:prstGeom prst="rect">
            <a:avLst/>
          </a:prstGeom>
          <a:noFill/>
        </p:spPr>
        <p:txBody>
          <a:bodyPr wrap="square" lIns="0" rIns="0" tIns="0" bIns="0" anchor="t">
            <a:spAutoFit/>
          </a:bodyPr>
          <a:lstStyle/>
          <a:p>
            <a:pPr>
              <a:spcAft>
                <a:spcPts val="0"/>
              </a:spcAft>
            </a:pPr>
            <a:r>
              <a:rPr sz="1150" b="1" i="0">
                <a:solidFill>
                  <a:srgbClr val="1A242A"/>
                </a:solidFill>
                <a:latin typeface="Calibri"/>
              </a:rPr>
              <a:t>Worked example</a:t>
            </a:r>
          </a:p>
        </p:txBody>
      </p:sp>
      <p:sp>
        <p:nvSpPr>
          <p:cNvPr id="11" name="TextBox 10"/>
          <p:cNvSpPr txBox="1"/>
          <p:nvPr/>
        </p:nvSpPr>
        <p:spPr>
          <a:xfrm>
            <a:off x="4480560" y="2615184"/>
            <a:ext cx="7132320" cy="457200"/>
          </a:xfrm>
          <a:prstGeom prst="rect">
            <a:avLst/>
          </a:prstGeom>
          <a:noFill/>
        </p:spPr>
        <p:txBody>
          <a:bodyPr wrap="square" lIns="0" rIns="0" tIns="0" bIns="0" anchor="t">
            <a:spAutoFit/>
          </a:bodyPr>
          <a:lstStyle/>
          <a:p>
            <a:pPr>
              <a:spcAft>
                <a:spcPts val="0"/>
              </a:spcAft>
            </a:pPr>
            <a:r>
              <a:rPr sz="1050" b="0" i="0">
                <a:solidFill>
                  <a:srgbClr val="3D4C54"/>
                </a:solidFill>
                <a:latin typeface="Calibri"/>
              </a:rPr>
              <a:t>Selected example, criterion stated. 1 of 61 eligible group-folds; base rate reported.</a:t>
            </a:r>
          </a:p>
        </p:txBody>
      </p:sp>
      <p:sp>
        <p:nvSpPr>
          <p:cNvPr id="12" name="Rounded Rectangle 11"/>
          <p:cNvSpPr/>
          <p:nvPr/>
        </p:nvSpPr>
        <p:spPr>
          <a:xfrm>
            <a:off x="502920" y="3218688"/>
            <a:ext cx="11183112" cy="694944"/>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401568"/>
            <a:ext cx="548640" cy="365760"/>
          </a:xfrm>
          <a:prstGeom prst="rect">
            <a:avLst/>
          </a:prstGeom>
          <a:noFill/>
        </p:spPr>
        <p:txBody>
          <a:bodyPr wrap="square" lIns="0" rIns="0" tIns="0" bIns="0" anchor="t">
            <a:spAutoFit/>
          </a:bodyPr>
          <a:lstStyle/>
          <a:p>
            <a:pPr>
              <a:spcAft>
                <a:spcPts val="0"/>
              </a:spcAft>
            </a:pPr>
            <a:r>
              <a:rPr sz="1200" b="1" i="0">
                <a:solidFill>
                  <a:srgbClr val="028090"/>
                </a:solidFill>
                <a:latin typeface="Cambria"/>
              </a:rPr>
              <a:t>F3</a:t>
            </a:r>
          </a:p>
        </p:txBody>
      </p:sp>
      <p:sp>
        <p:nvSpPr>
          <p:cNvPr id="14" name="TextBox 13"/>
          <p:cNvSpPr txBox="1"/>
          <p:nvPr/>
        </p:nvSpPr>
        <p:spPr>
          <a:xfrm>
            <a:off x="1417320" y="3401568"/>
            <a:ext cx="2743200" cy="365760"/>
          </a:xfrm>
          <a:prstGeom prst="rect">
            <a:avLst/>
          </a:prstGeom>
          <a:noFill/>
        </p:spPr>
        <p:txBody>
          <a:bodyPr wrap="square" lIns="0" rIns="0" tIns="0" bIns="0" anchor="t">
            <a:spAutoFit/>
          </a:bodyPr>
          <a:lstStyle/>
          <a:p>
            <a:pPr>
              <a:spcAft>
                <a:spcPts val="0"/>
              </a:spcAft>
            </a:pPr>
            <a:r>
              <a:rPr sz="1150" b="1" i="0">
                <a:solidFill>
                  <a:srgbClr val="1A242A"/>
                </a:solidFill>
                <a:latin typeface="Calibri"/>
              </a:rPr>
              <a:t>Null floor</a:t>
            </a:r>
          </a:p>
        </p:txBody>
      </p:sp>
      <p:sp>
        <p:nvSpPr>
          <p:cNvPr id="15" name="TextBox 14"/>
          <p:cNvSpPr txBox="1"/>
          <p:nvPr/>
        </p:nvSpPr>
        <p:spPr>
          <a:xfrm>
            <a:off x="4480560" y="3401568"/>
            <a:ext cx="7132320" cy="457200"/>
          </a:xfrm>
          <a:prstGeom prst="rect">
            <a:avLst/>
          </a:prstGeom>
          <a:noFill/>
        </p:spPr>
        <p:txBody>
          <a:bodyPr wrap="square" lIns="0" rIns="0" tIns="0" bIns="0" anchor="t">
            <a:spAutoFit/>
          </a:bodyPr>
          <a:lstStyle/>
          <a:p>
            <a:pPr>
              <a:spcAft>
                <a:spcPts val="0"/>
              </a:spcAft>
            </a:pPr>
            <a:r>
              <a:rPr sz="1050" b="0" i="0">
                <a:solidFill>
                  <a:srgbClr val="3D4C54"/>
                </a:solidFill>
                <a:latin typeface="Calibri"/>
              </a:rPr>
              <a:t>9 folds × 2 targets × 3 series = 54 cells, none missing. Null reused, not rebuilt.</a:t>
            </a:r>
          </a:p>
        </p:txBody>
      </p:sp>
      <p:sp>
        <p:nvSpPr>
          <p:cNvPr id="16" name="Rounded Rectangle 15"/>
          <p:cNvSpPr/>
          <p:nvPr/>
        </p:nvSpPr>
        <p:spPr>
          <a:xfrm>
            <a:off x="502920" y="4005072"/>
            <a:ext cx="11183112" cy="694944"/>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87952"/>
            <a:ext cx="548640" cy="365760"/>
          </a:xfrm>
          <a:prstGeom prst="rect">
            <a:avLst/>
          </a:prstGeom>
          <a:noFill/>
        </p:spPr>
        <p:txBody>
          <a:bodyPr wrap="square" lIns="0" rIns="0" tIns="0" bIns="0" anchor="t">
            <a:spAutoFit/>
          </a:bodyPr>
          <a:lstStyle/>
          <a:p>
            <a:pPr>
              <a:spcAft>
                <a:spcPts val="0"/>
              </a:spcAft>
            </a:pPr>
            <a:r>
              <a:rPr sz="1200" b="1" i="0">
                <a:solidFill>
                  <a:srgbClr val="028090"/>
                </a:solidFill>
                <a:latin typeface="Cambria"/>
              </a:rPr>
              <a:t>F4</a:t>
            </a:r>
          </a:p>
        </p:txBody>
      </p:sp>
      <p:sp>
        <p:nvSpPr>
          <p:cNvPr id="18" name="TextBox 17"/>
          <p:cNvSpPr txBox="1"/>
          <p:nvPr/>
        </p:nvSpPr>
        <p:spPr>
          <a:xfrm>
            <a:off x="1417320" y="4187952"/>
            <a:ext cx="2743200" cy="365760"/>
          </a:xfrm>
          <a:prstGeom prst="rect">
            <a:avLst/>
          </a:prstGeom>
          <a:noFill/>
        </p:spPr>
        <p:txBody>
          <a:bodyPr wrap="square" lIns="0" rIns="0" tIns="0" bIns="0" anchor="t">
            <a:spAutoFit/>
          </a:bodyPr>
          <a:lstStyle/>
          <a:p>
            <a:pPr>
              <a:spcAft>
                <a:spcPts val="0"/>
              </a:spcAft>
            </a:pPr>
            <a:r>
              <a:rPr sz="1150" b="1" i="0">
                <a:solidFill>
                  <a:srgbClr val="1A242A"/>
                </a:solidFill>
                <a:latin typeface="Calibri"/>
              </a:rPr>
              <a:t>Split design</a:t>
            </a:r>
          </a:p>
        </p:txBody>
      </p:sp>
      <p:sp>
        <p:nvSpPr>
          <p:cNvPr id="19" name="TextBox 18"/>
          <p:cNvSpPr txBox="1"/>
          <p:nvPr/>
        </p:nvSpPr>
        <p:spPr>
          <a:xfrm>
            <a:off x="4480560" y="4187952"/>
            <a:ext cx="7132320" cy="457200"/>
          </a:xfrm>
          <a:prstGeom prst="rect">
            <a:avLst/>
          </a:prstGeom>
          <a:noFill/>
        </p:spPr>
        <p:txBody>
          <a:bodyPr wrap="square" lIns="0" rIns="0" tIns="0" bIns="0" anchor="t">
            <a:spAutoFit/>
          </a:bodyPr>
          <a:lstStyle/>
          <a:p>
            <a:pPr>
              <a:spcAft>
                <a:spcPts val="0"/>
              </a:spcAft>
            </a:pPr>
            <a:r>
              <a:rPr sz="1050" b="0" i="0">
                <a:solidFill>
                  <a:srgbClr val="3D4C54"/>
                </a:solidFill>
                <a:latin typeface="Calibri"/>
              </a:rPr>
              <a:t>682 B monomers, Murcko scaffolds. Fold composition verified against split metadata.</a:t>
            </a:r>
          </a:p>
        </p:txBody>
      </p:sp>
      <p:sp>
        <p:nvSpPr>
          <p:cNvPr id="20" name="Rounded Rectangle 19"/>
          <p:cNvSpPr/>
          <p:nvPr/>
        </p:nvSpPr>
        <p:spPr>
          <a:xfrm>
            <a:off x="502920" y="4791456"/>
            <a:ext cx="11183112" cy="694944"/>
          </a:xfrm>
          <a:prstGeom prst="roundRect">
            <a:avLst>
              <a:gd name="adj" fmla="val 5000"/>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974336"/>
            <a:ext cx="548640" cy="365760"/>
          </a:xfrm>
          <a:prstGeom prst="rect">
            <a:avLst/>
          </a:prstGeom>
          <a:noFill/>
        </p:spPr>
        <p:txBody>
          <a:bodyPr wrap="square" lIns="0" rIns="0" tIns="0" bIns="0" anchor="t">
            <a:spAutoFit/>
          </a:bodyPr>
          <a:lstStyle/>
          <a:p>
            <a:pPr>
              <a:spcAft>
                <a:spcPts val="0"/>
              </a:spcAft>
            </a:pPr>
            <a:r>
              <a:rPr sz="1200" b="1" i="0">
                <a:solidFill>
                  <a:srgbClr val="028090"/>
                </a:solidFill>
                <a:latin typeface="Cambria"/>
              </a:rPr>
              <a:t>F5</a:t>
            </a:r>
          </a:p>
        </p:txBody>
      </p:sp>
      <p:sp>
        <p:nvSpPr>
          <p:cNvPr id="22" name="TextBox 21"/>
          <p:cNvSpPr txBox="1"/>
          <p:nvPr/>
        </p:nvSpPr>
        <p:spPr>
          <a:xfrm>
            <a:off x="1417320" y="4974336"/>
            <a:ext cx="2743200" cy="365760"/>
          </a:xfrm>
          <a:prstGeom prst="rect">
            <a:avLst/>
          </a:prstGeom>
          <a:noFill/>
        </p:spPr>
        <p:txBody>
          <a:bodyPr wrap="square" lIns="0" rIns="0" tIns="0" bIns="0" anchor="t">
            <a:spAutoFit/>
          </a:bodyPr>
          <a:lstStyle/>
          <a:p>
            <a:pPr>
              <a:spcAft>
                <a:spcPts val="0"/>
              </a:spcAft>
            </a:pPr>
            <a:r>
              <a:rPr sz="1150" b="1" i="0">
                <a:solidFill>
                  <a:srgbClr val="1A242A"/>
                </a:solidFill>
                <a:latin typeface="Calibri"/>
              </a:rPr>
              <a:t>Noise floor</a:t>
            </a:r>
          </a:p>
        </p:txBody>
      </p:sp>
      <p:sp>
        <p:nvSpPr>
          <p:cNvPr id="23" name="TextBox 22"/>
          <p:cNvSpPr txBox="1"/>
          <p:nvPr/>
        </p:nvSpPr>
        <p:spPr>
          <a:xfrm>
            <a:off x="4480560" y="4974336"/>
            <a:ext cx="7132320" cy="457200"/>
          </a:xfrm>
          <a:prstGeom prst="rect">
            <a:avLst/>
          </a:prstGeom>
          <a:noFill/>
        </p:spPr>
        <p:txBody>
          <a:bodyPr wrap="square" lIns="0" rIns="0" tIns="0" bIns="0" anchor="t">
            <a:spAutoFit/>
          </a:bodyPr>
          <a:lstStyle/>
          <a:p>
            <a:pPr>
              <a:spcAft>
                <a:spcPts val="0"/>
              </a:spcAft>
            </a:pPr>
            <a:r>
              <a:rPr sz="1050" b="0" i="0">
                <a:solidFill>
                  <a:srgbClr val="3D4C54"/>
                </a:solidFill>
                <a:latin typeface="Calibri"/>
              </a:rPr>
              <a:t>2 folds × 3 repeats, plus across-seed SD over all 9 folds and both models.</a:t>
            </a:r>
          </a:p>
        </p:txBody>
      </p:sp>
      <p:sp>
        <p:nvSpPr>
          <p:cNvPr id="24" name="Rounded Rectangle 23"/>
          <p:cNvSpPr/>
          <p:nvPr/>
        </p:nvSpPr>
        <p:spPr>
          <a:xfrm>
            <a:off x="502920" y="5577840"/>
            <a:ext cx="11183112" cy="694944"/>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60720"/>
            <a:ext cx="548640" cy="365760"/>
          </a:xfrm>
          <a:prstGeom prst="rect">
            <a:avLst/>
          </a:prstGeom>
          <a:noFill/>
        </p:spPr>
        <p:txBody>
          <a:bodyPr wrap="square" lIns="0" rIns="0" tIns="0" bIns="0" anchor="t">
            <a:spAutoFit/>
          </a:bodyPr>
          <a:lstStyle/>
          <a:p>
            <a:pPr>
              <a:spcAft>
                <a:spcPts val="0"/>
              </a:spcAft>
            </a:pPr>
            <a:r>
              <a:rPr sz="1200" b="1" i="0">
                <a:solidFill>
                  <a:srgbClr val="028090"/>
                </a:solidFill>
                <a:latin typeface="Cambria"/>
              </a:rPr>
              <a:t>F6</a:t>
            </a:r>
          </a:p>
        </p:txBody>
      </p:sp>
      <p:sp>
        <p:nvSpPr>
          <p:cNvPr id="26" name="TextBox 25"/>
          <p:cNvSpPr txBox="1"/>
          <p:nvPr/>
        </p:nvSpPr>
        <p:spPr>
          <a:xfrm>
            <a:off x="1417320" y="5760720"/>
            <a:ext cx="2743200" cy="365760"/>
          </a:xfrm>
          <a:prstGeom prst="rect">
            <a:avLst/>
          </a:prstGeom>
          <a:noFill/>
        </p:spPr>
        <p:txBody>
          <a:bodyPr wrap="square" lIns="0" rIns="0" tIns="0" bIns="0" anchor="t">
            <a:spAutoFit/>
          </a:bodyPr>
          <a:lstStyle/>
          <a:p>
            <a:pPr>
              <a:spcAft>
                <a:spcPts val="0"/>
              </a:spcAft>
            </a:pPr>
            <a:r>
              <a:rPr sz="1150" b="1" i="0">
                <a:solidFill>
                  <a:srgbClr val="1A242A"/>
                </a:solidFill>
                <a:latin typeface="Calibri"/>
              </a:rPr>
              <a:t>Demonstration</a:t>
            </a:r>
          </a:p>
        </p:txBody>
      </p:sp>
      <p:sp>
        <p:nvSpPr>
          <p:cNvPr id="27" name="TextBox 26"/>
          <p:cNvSpPr txBox="1"/>
          <p:nvPr/>
        </p:nvSpPr>
        <p:spPr>
          <a:xfrm>
            <a:off x="4480560" y="5760720"/>
            <a:ext cx="7132320" cy="457200"/>
          </a:xfrm>
          <a:prstGeom prst="rect">
            <a:avLst/>
          </a:prstGeom>
          <a:noFill/>
        </p:spPr>
        <p:txBody>
          <a:bodyPr wrap="square" lIns="0" rIns="0" tIns="0" bIns="0" anchor="t">
            <a:spAutoFit/>
          </a:bodyPr>
          <a:lstStyle/>
          <a:p>
            <a:pPr>
              <a:spcAft>
                <a:spcPts val="0"/>
              </a:spcAft>
            </a:pPr>
            <a:r>
              <a:rPr sz="1050" b="0" i="0">
                <a:solidFill>
                  <a:srgbClr val="3D4C54"/>
                </a:solidFill>
                <a:latin typeface="Calibri"/>
              </a:rPr>
              <a:t>5 D folds × 2 targets. Every median and win count matches expected in f6_summary.csv.</a:t>
            </a:r>
          </a:p>
        </p:txBody>
      </p:sp>
      <p:sp>
        <p:nvSpPr>
          <p:cNvPr id="28" name="Rounded Rectangle 27"/>
          <p:cNvSpPr/>
          <p:nvPr/>
        </p:nvSpPr>
        <p:spPr>
          <a:xfrm>
            <a:off x="502920" y="6172200"/>
            <a:ext cx="11183112" cy="548640"/>
          </a:xfrm>
          <a:prstGeom prst="roundRect">
            <a:avLst>
              <a:gd name="adj" fmla="val 5000"/>
            </a:avLst>
          </a:prstGeom>
          <a:solidFill>
            <a:srgbClr val="E8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6291072"/>
            <a:ext cx="10561320" cy="365760"/>
          </a:xfrm>
          <a:prstGeom prst="rect">
            <a:avLst/>
          </a:prstGeom>
          <a:noFill/>
        </p:spPr>
        <p:txBody>
          <a:bodyPr wrap="square" lIns="0" rIns="0" tIns="0" bIns="0" anchor="t">
            <a:spAutoFit/>
          </a:bodyPr>
          <a:lstStyle/>
          <a:p>
            <a:pPr>
              <a:spcAft>
                <a:spcPts val="0"/>
              </a:spcAft>
            </a:pPr>
            <a:r>
              <a:rPr sz="1050" b="0" i="1">
                <a:solidFill>
                  <a:srgbClr val="3D4C54"/>
                </a:solidFill>
                <a:latin typeface="Calibri"/>
              </a:rPr>
              <a:t>Standing protocol: 3 seeds (42/43/44) averaged at the prediction level, best-checkpoint predictions, paired per-fold sign tests, S and D folds never pooled.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