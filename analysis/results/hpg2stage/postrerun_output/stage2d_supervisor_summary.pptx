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222222"/>
                </a:solidFill>
              </a:defRPr>
            </a:pPr>
            <a:r>
              <a:t>Stage 2D: Architecture-Aware Copolymer Modeling</a:t>
            </a:r>
          </a:p>
          <a:p>
            <a:pPr algn="l">
              <a:defRPr sz="1800">
                <a:solidFill>
                  <a:srgbClr val="666666"/>
                </a:solidFill>
              </a:defRPr>
            </a:pPr>
            <a:r>
              <a:t>Does copolymer architecture affect property predictions?</a:t>
            </a:r>
            <a:br/>
            <a:r>
              <a:t>If so, does chemistry-conditioned architecture modeling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Stage 2A (Frac): h_poly = f_A·h_A + f_B·h_B  — architecture-blind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Stage 2D0: h_poly = h_mix + α·e_arch  — global architecture offset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Stage 2D1: h_poly = h_mix + α·r_arch(h_A, h_B, ...)  — chemistry-conditioned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7 model variants tested across 5-fold a_held_out cross-validation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Model Progression: Frac → 2D0 → 2D1</a:t>
            </a:r>
          </a:p>
          <a:p>
            <a:pPr algn="l">
              <a:defRPr sz="1400">
                <a:solidFill>
                  <a:srgbClr val="666666"/>
                </a:solidFill>
              </a:defRPr>
            </a:pPr>
            <a:r>
              <a:t>Increasing architecture awareness</a:t>
            </a:r>
          </a:p>
        </p:txBody>
      </p:sp>
      <p:pic>
        <p:nvPicPr>
          <p:cNvPr id="3" name="Picture 2" descr="fig1_model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Overall Prediction Performance</a:t>
            </a:r>
          </a:p>
          <a:p>
            <a:pPr algn="l">
              <a:defRPr sz="1400">
                <a:solidFill>
                  <a:srgbClr val="666666"/>
                </a:solidFill>
              </a:defRPr>
            </a:pPr>
            <a:r>
              <a:t>All architecture-aware variants significantly improve over Frac (p &lt; 0.05)</a:t>
            </a:r>
          </a:p>
        </p:txBody>
      </p:sp>
      <p:pic>
        <p:nvPicPr>
          <p:cNvPr id="3" name="Picture 2" descr="fig2_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Architecture-Deviation Prediction</a:t>
            </a:r>
          </a:p>
          <a:p>
            <a:pPr algn="l">
              <a:defRPr sz="1400">
                <a:solidFill>
                  <a:srgbClr val="666666"/>
                </a:solidFill>
              </a:defRPr>
            </a:pPr>
            <a:r>
              <a:t>2D1 variants better capture architecture-specific property differences</a:t>
            </a:r>
          </a:p>
        </p:txBody>
      </p:sp>
      <p:pic>
        <p:nvPicPr>
          <p:cNvPr id="3" name="Picture 2" descr="fig3_architecture_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Best 2D0 vs Best 2D1</a:t>
            </a:r>
          </a:p>
          <a:p>
            <a:pPr algn="l">
              <a:defRPr sz="1400">
                <a:solidFill>
                  <a:srgbClr val="666666"/>
                </a:solidFill>
              </a:defRPr>
            </a:pPr>
            <a:r>
              <a:t>Overall R² gains are small (n.s.); architecture-deviation gains are significant</a:t>
            </a:r>
          </a:p>
        </p:txBody>
      </p:sp>
      <p:pic>
        <p:nvPicPr>
          <p:cNvPr id="3" name="Picture 2" descr="fig4_head_to_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Summary &amp; Recommendation</a:t>
            </a:r>
          </a:p>
        </p:txBody>
      </p:sp>
      <p:pic>
        <p:nvPicPr>
          <p:cNvPr id="3" name="Picture 2" descr="fig5_stage2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69848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Recommendation: 2D1-arch (best overall R²; significantly better architecture-deviation R²)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